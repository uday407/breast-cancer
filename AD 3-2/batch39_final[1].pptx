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1" r:id="rId2"/>
    <p:sldId id="265" r:id="rId3"/>
    <p:sldId id="270" r:id="rId4"/>
    <p:sldId id="266" r:id="rId5"/>
    <p:sldId id="260" r:id="rId6"/>
    <p:sldId id="267" r:id="rId7"/>
    <p:sldId id="276" r:id="rId8"/>
    <p:sldId id="283" r:id="rId9"/>
    <p:sldId id="284" r:id="rId10"/>
    <p:sldId id="273" r:id="rId11"/>
    <p:sldId id="28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04-04-2025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04-04-2025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04-04-2025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04-04-2025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04-04-2025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04-04-2025</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Department of Computer Science </a:t>
            </a:r>
            <a:r>
              <a:rPr lang="en-US" sz="1800" b="1" dirty="0">
                <a:solidFill>
                  <a:srgbClr val="FF0000"/>
                </a:solidFill>
                <a:latin typeface="Calibri" panose="020F0502020204030204" pitchFamily="34" charset="0"/>
                <a:ea typeface="Times New Roman" panose="02020603050405020304" pitchFamily="18" charset="0"/>
                <a:cs typeface="Calibri" panose="020F0502020204030204" pitchFamily="34" charset="0"/>
              </a:rPr>
              <a:t>&amp;</a:t>
            </a:r>
            <a:r>
              <a:rPr lang="en-US" sz="1800" b="1" cap="none"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Engineering</a:t>
            </a:r>
            <a:br>
              <a:rPr lang="en-US" sz="1800" b="1" cap="none" dirty="0">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br>
            <a:b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US"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Mammary Carcinoma</a:t>
            </a:r>
            <a:br>
              <a:rPr lang="en-US" sz="18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18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Batch no. 39</a:t>
            </a:r>
            <a:b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1. 2211CS010363 (M. Bhargav)</a:t>
            </a:r>
            <a:b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2. 2211CS010459 (P. Charan </a:t>
            </a:r>
            <a:r>
              <a:rPr lang="en-IN" sz="1800" b="1" dirty="0" err="1">
                <a:solidFill>
                  <a:schemeClr val="tx1"/>
                </a:solidFill>
                <a:latin typeface="Calibri" panose="020F0502020204030204" pitchFamily="34" charset="0"/>
                <a:ea typeface="Times New Roman" panose="02020603050405020304" pitchFamily="18" charset="0"/>
                <a:cs typeface="Calibri" panose="020F0502020204030204" pitchFamily="34" charset="0"/>
              </a:rPr>
              <a:t>sai</a:t>
            </a:r>
            <a: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a:t>
            </a:r>
            <a:b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3. 2211CS010404 (N. Uday Kumar)</a:t>
            </a:r>
            <a:b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4. 2211CS010514 (S. Harsha Vardhan)</a:t>
            </a:r>
            <a:br>
              <a:rPr lang="en-IN" sz="18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br>
            <a:br>
              <a:rPr lang="en-IN" sz="1800" b="1" cap="none" dirty="0">
                <a:solidFill>
                  <a:schemeClr val="tx1"/>
                </a:solidFill>
                <a:latin typeface="Calibri" panose="020F0502020204030204" pitchFamily="34" charset="0"/>
                <a:ea typeface="Times New Roman" panose="02020603050405020304" pitchFamily="18" charset="0"/>
                <a:cs typeface="Calibri" panose="020F0502020204030204" pitchFamily="34" charset="0"/>
              </a:rPr>
            </a:br>
            <a:br>
              <a:rPr lang="en-IN" sz="1800" b="1" cap="none" dirty="0">
                <a:solidFill>
                  <a:schemeClr val="tx1"/>
                </a:solidFill>
                <a:latin typeface="Calibri" panose="020F0502020204030204" pitchFamily="34" charset="0"/>
                <a:ea typeface="Times New Roman" panose="02020603050405020304" pitchFamily="18" charset="0"/>
                <a:cs typeface="Calibri" panose="020F0502020204030204" pitchFamily="34" charset="0"/>
              </a:rPr>
            </a:br>
            <a:r>
              <a:rPr lang="en-IN" sz="1600" b="1" cap="none"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IN" sz="16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Guide </a:t>
            </a:r>
            <a:br>
              <a:rPr lang="en-IN" sz="16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16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Mr. G. Raju</a:t>
            </a:r>
            <a:endParaRPr lang="en-IN" sz="1600" dirty="0">
              <a:solidFill>
                <a:schemeClr val="tx1"/>
              </a:solidFill>
              <a:latin typeface="Calibri" panose="020F0502020204030204" pitchFamily="34" charset="0"/>
              <a:cs typeface="Calibri" panose="020F0502020204030204" pitchFamily="34" charset="0"/>
            </a:endParaRPr>
          </a:p>
        </p:txBody>
      </p:sp>
      <p:pic>
        <p:nvPicPr>
          <p:cNvPr id="4" name="image1.png"/>
          <p:cNvPicPr/>
          <p:nvPr/>
        </p:nvPicPr>
        <p:blipFill>
          <a:blip r:embed="rId2" cstate="print"/>
          <a:stretch>
            <a:fillRect/>
          </a:stretch>
        </p:blipFill>
        <p:spPr>
          <a:xfrm>
            <a:off x="2707005" y="570229"/>
            <a:ext cx="6777990"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5" name="TextBox 4"/>
          <p:cNvSpPr txBox="1"/>
          <p:nvPr/>
        </p:nvSpPr>
        <p:spPr>
          <a:xfrm>
            <a:off x="784167" y="1803862"/>
            <a:ext cx="5500545" cy="393954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Abstract</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Introduction</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Limitations of Existing Systems</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Methodology (Architectural/Workflow Diagram)</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Screenshots of Working model</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Conclusion</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References </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6544A-0B97-905C-D680-6652CCD2CA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24F4B4-4CE3-9754-9383-CFE57E7A2956}"/>
              </a:ext>
            </a:extLst>
          </p:cNvPr>
          <p:cNvSpPr txBox="1"/>
          <p:nvPr/>
        </p:nvSpPr>
        <p:spPr>
          <a:xfrm>
            <a:off x="381719" y="826468"/>
            <a:ext cx="6094562" cy="707886"/>
          </a:xfrm>
          <a:prstGeom prst="rect">
            <a:avLst/>
          </a:prstGeom>
          <a:noFill/>
        </p:spPr>
        <p:txBody>
          <a:bodyPr wrap="square">
            <a:spAutoFit/>
          </a:bodyPr>
          <a:lstStyle/>
          <a:p>
            <a:r>
              <a:rPr lang="en-IN" sz="4000" b="1" dirty="0">
                <a:solidFill>
                  <a:schemeClr val="tx2"/>
                </a:solidFill>
              </a:rPr>
              <a:t>Abstract</a:t>
            </a:r>
          </a:p>
        </p:txBody>
      </p:sp>
      <p:sp>
        <p:nvSpPr>
          <p:cNvPr id="7" name="TextBox 6">
            <a:extLst>
              <a:ext uri="{FF2B5EF4-FFF2-40B4-BE49-F238E27FC236}">
                <a16:creationId xmlns:a16="http://schemas.microsoft.com/office/drawing/2014/main" id="{8D26DFC3-52B3-CFC1-D3EB-B6E7A7121996}"/>
              </a:ext>
            </a:extLst>
          </p:cNvPr>
          <p:cNvSpPr txBox="1"/>
          <p:nvPr/>
        </p:nvSpPr>
        <p:spPr>
          <a:xfrm>
            <a:off x="381719" y="1534354"/>
            <a:ext cx="11428562" cy="3729995"/>
          </a:xfrm>
          <a:prstGeom prst="rect">
            <a:avLst/>
          </a:prstGeom>
          <a:noFill/>
        </p:spPr>
        <p:txBody>
          <a:bodyPr wrap="square">
            <a:spAutoFit/>
          </a:bodyPr>
          <a:lstStyle/>
          <a:p>
            <a:pPr algn="just">
              <a:lnSpc>
                <a:spcPct val="150000"/>
              </a:lnSpc>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Breast cancer is one of the most common forms of cancer among women, and early detection plays a critical role in improving survival rates. This project focuses on leveraging data analytics to enhance understanding, diagnosis, and treatment of breast cancer. Utilizing a dataset comprising patient blood cell attribute’s such as mean radius, perimeter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etc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we apply machine learning techniques and statistical analyses to identify patterns and key indicators associated with breast cancer.</a:t>
            </a:r>
            <a:r>
              <a:rPr lang="en-US" sz="2000" dirty="0">
                <a:latin typeface="Calibri" panose="020F0502020204030204" pitchFamily="34" charset="0"/>
                <a:ea typeface="Calibri" panose="020F0502020204030204" pitchFamily="34" charset="0"/>
                <a:cs typeface="Times New Roman" panose="02020603050405020304" pitchFamily="18" charset="0"/>
              </a:rPr>
              <a:t> </a:t>
            </a:r>
            <a:r>
              <a:rPr lang="en-US" sz="2000">
                <a:effectLst/>
                <a:latin typeface="Times New Roman" panose="02020603050405020304" pitchFamily="18" charset="0"/>
                <a:ea typeface="Calibri" panose="020F0502020204030204" pitchFamily="34" charset="0"/>
              </a:rPr>
              <a:t>The </a:t>
            </a:r>
            <a:r>
              <a:rPr lang="en-US" sz="2000" dirty="0">
                <a:effectLst/>
                <a:latin typeface="Times New Roman" panose="02020603050405020304" pitchFamily="18" charset="0"/>
                <a:ea typeface="Calibri" panose="020F0502020204030204" pitchFamily="34" charset="0"/>
              </a:rPr>
              <a:t>project involves preprocessing and cleaning the dataset, feature selection to identify significant variables, and building predictive models to classify malignant and benign cases with high accuracy. Advanced visualization techniques are used to explore the relationships between clinical features such as tumor size, texture, and shape.</a:t>
            </a:r>
            <a:endParaRPr lang="en-US" sz="2000" dirty="0">
              <a:latin typeface="Arial MT"/>
              <a:cs typeface="Arial MT"/>
            </a:endParaRPr>
          </a:p>
        </p:txBody>
      </p:sp>
    </p:spTree>
    <p:extLst>
      <p:ext uri="{BB962C8B-B14F-4D97-AF65-F5344CB8AC3E}">
        <p14:creationId xmlns:p14="http://schemas.microsoft.com/office/powerpoint/2010/main" val="1024633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1C31-EC9C-E128-BDC3-7794A19C2F2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70E839-5D83-B55E-59B7-E64F2C97A220}"/>
              </a:ext>
            </a:extLst>
          </p:cNvPr>
          <p:cNvSpPr txBox="1"/>
          <p:nvPr/>
        </p:nvSpPr>
        <p:spPr>
          <a:xfrm>
            <a:off x="520101" y="1712969"/>
            <a:ext cx="11091054" cy="4524315"/>
          </a:xfrm>
          <a:prstGeom prst="rect">
            <a:avLst/>
          </a:prstGeom>
          <a:noFill/>
        </p:spPr>
        <p:txBody>
          <a:bodyPr wrap="square">
            <a:spAutoFit/>
          </a:bodyPr>
          <a:lstStyle/>
          <a:p>
            <a:pPr algn="just">
              <a:lnSpc>
                <a:spcPct val="150000"/>
              </a:lnSpc>
            </a:pPr>
            <a:r>
              <a:rPr lang="en-US" sz="2000" dirty="0">
                <a:solidFill>
                  <a:srgbClr val="292934"/>
                </a:solidFill>
                <a:latin typeface="+mj-lt"/>
                <a:cs typeface="Arial MT"/>
              </a:rPr>
              <a:t>This project</a:t>
            </a:r>
            <a:r>
              <a:rPr lang="en-US" sz="2000" spc="-15" dirty="0">
                <a:solidFill>
                  <a:srgbClr val="292934"/>
                </a:solidFill>
                <a:latin typeface="+mj-lt"/>
                <a:cs typeface="Arial MT"/>
              </a:rPr>
              <a:t> </a:t>
            </a:r>
            <a:r>
              <a:rPr lang="en-US" sz="2000" dirty="0">
                <a:solidFill>
                  <a:srgbClr val="292934"/>
                </a:solidFill>
                <a:latin typeface="+mj-lt"/>
                <a:cs typeface="Arial MT"/>
              </a:rPr>
              <a:t>focuses</a:t>
            </a:r>
            <a:r>
              <a:rPr lang="en-US" sz="2000" spc="-5" dirty="0">
                <a:solidFill>
                  <a:srgbClr val="292934"/>
                </a:solidFill>
                <a:latin typeface="+mj-lt"/>
                <a:cs typeface="Arial MT"/>
              </a:rPr>
              <a:t> </a:t>
            </a:r>
            <a:r>
              <a:rPr lang="en-US" sz="2000" dirty="0">
                <a:solidFill>
                  <a:srgbClr val="292934"/>
                </a:solidFill>
                <a:latin typeface="+mj-lt"/>
                <a:cs typeface="Arial MT"/>
              </a:rPr>
              <a:t>on analyzing</a:t>
            </a:r>
            <a:r>
              <a:rPr lang="en-US" sz="2000" spc="-15" dirty="0">
                <a:solidFill>
                  <a:srgbClr val="292934"/>
                </a:solidFill>
                <a:latin typeface="+mj-lt"/>
                <a:cs typeface="Arial MT"/>
              </a:rPr>
              <a:t> </a:t>
            </a:r>
            <a:r>
              <a:rPr lang="en-US" sz="2000" dirty="0">
                <a:solidFill>
                  <a:srgbClr val="292934"/>
                </a:solidFill>
                <a:latin typeface="+mj-lt"/>
                <a:cs typeface="Arial MT"/>
              </a:rPr>
              <a:t>breast</a:t>
            </a:r>
            <a:r>
              <a:rPr lang="en-US" sz="2000" spc="-20" dirty="0">
                <a:solidFill>
                  <a:srgbClr val="292934"/>
                </a:solidFill>
                <a:latin typeface="+mj-lt"/>
                <a:cs typeface="Arial MT"/>
              </a:rPr>
              <a:t> </a:t>
            </a:r>
            <a:r>
              <a:rPr lang="en-US" sz="2000" dirty="0">
                <a:solidFill>
                  <a:srgbClr val="292934"/>
                </a:solidFill>
                <a:latin typeface="+mj-lt"/>
                <a:cs typeface="Arial MT"/>
              </a:rPr>
              <a:t>cancer</a:t>
            </a:r>
            <a:r>
              <a:rPr lang="en-US" sz="2000" spc="-5" dirty="0">
                <a:solidFill>
                  <a:srgbClr val="292934"/>
                </a:solidFill>
                <a:latin typeface="+mj-lt"/>
                <a:cs typeface="Arial MT"/>
              </a:rPr>
              <a:t> </a:t>
            </a:r>
            <a:r>
              <a:rPr lang="en-US" sz="2000" dirty="0">
                <a:solidFill>
                  <a:srgbClr val="292934"/>
                </a:solidFill>
                <a:latin typeface="+mj-lt"/>
                <a:cs typeface="Arial MT"/>
              </a:rPr>
              <a:t>datasets to</a:t>
            </a:r>
            <a:r>
              <a:rPr lang="en-US" sz="2000" spc="-15" dirty="0">
                <a:solidFill>
                  <a:srgbClr val="292934"/>
                </a:solidFill>
                <a:latin typeface="+mj-lt"/>
                <a:cs typeface="Arial MT"/>
              </a:rPr>
              <a:t> </a:t>
            </a:r>
            <a:r>
              <a:rPr lang="en-US" sz="2000" dirty="0">
                <a:solidFill>
                  <a:srgbClr val="292934"/>
                </a:solidFill>
                <a:latin typeface="+mj-lt"/>
                <a:cs typeface="Arial MT"/>
              </a:rPr>
              <a:t>identify</a:t>
            </a:r>
            <a:r>
              <a:rPr lang="en-US" sz="2000" spc="-15" dirty="0">
                <a:solidFill>
                  <a:srgbClr val="292934"/>
                </a:solidFill>
                <a:latin typeface="+mj-lt"/>
                <a:cs typeface="Arial MT"/>
              </a:rPr>
              <a:t> </a:t>
            </a:r>
            <a:r>
              <a:rPr lang="en-US" sz="2000" dirty="0">
                <a:solidFill>
                  <a:srgbClr val="292934"/>
                </a:solidFill>
                <a:latin typeface="+mj-lt"/>
                <a:cs typeface="Arial MT"/>
              </a:rPr>
              <a:t>key</a:t>
            </a:r>
            <a:r>
              <a:rPr lang="en-US" sz="2000" spc="-5" dirty="0">
                <a:solidFill>
                  <a:srgbClr val="292934"/>
                </a:solidFill>
                <a:latin typeface="+mj-lt"/>
                <a:cs typeface="Arial MT"/>
              </a:rPr>
              <a:t> </a:t>
            </a:r>
            <a:r>
              <a:rPr lang="en-US" sz="2000" dirty="0">
                <a:solidFill>
                  <a:srgbClr val="292934"/>
                </a:solidFill>
                <a:latin typeface="+mj-lt"/>
                <a:cs typeface="Arial MT"/>
              </a:rPr>
              <a:t>patterns,</a:t>
            </a:r>
            <a:r>
              <a:rPr lang="en-US" sz="2000" spc="-25" dirty="0">
                <a:solidFill>
                  <a:srgbClr val="292934"/>
                </a:solidFill>
                <a:latin typeface="+mj-lt"/>
                <a:cs typeface="Arial MT"/>
              </a:rPr>
              <a:t> </a:t>
            </a:r>
            <a:r>
              <a:rPr lang="en-US" sz="2000" spc="-10" dirty="0">
                <a:solidFill>
                  <a:srgbClr val="292934"/>
                </a:solidFill>
                <a:latin typeface="+mj-lt"/>
                <a:cs typeface="Arial MT"/>
              </a:rPr>
              <a:t>correlations, </a:t>
            </a:r>
            <a:r>
              <a:rPr lang="en-US" sz="2000" dirty="0">
                <a:solidFill>
                  <a:srgbClr val="292934"/>
                </a:solidFill>
                <a:latin typeface="+mj-lt"/>
                <a:cs typeface="Arial MT"/>
              </a:rPr>
              <a:t>and</a:t>
            </a:r>
            <a:r>
              <a:rPr lang="en-US" sz="2000" spc="45" dirty="0">
                <a:solidFill>
                  <a:srgbClr val="292934"/>
                </a:solidFill>
                <a:latin typeface="+mj-lt"/>
                <a:cs typeface="Arial MT"/>
              </a:rPr>
              <a:t> </a:t>
            </a:r>
            <a:r>
              <a:rPr lang="en-US" sz="2000" dirty="0">
                <a:solidFill>
                  <a:srgbClr val="292934"/>
                </a:solidFill>
                <a:latin typeface="+mj-lt"/>
                <a:cs typeface="Arial MT"/>
              </a:rPr>
              <a:t>trends.</a:t>
            </a:r>
            <a:r>
              <a:rPr lang="en-US" sz="2000" spc="50" dirty="0">
                <a:solidFill>
                  <a:srgbClr val="292934"/>
                </a:solidFill>
                <a:latin typeface="+mj-lt"/>
                <a:cs typeface="Arial MT"/>
              </a:rPr>
              <a:t> </a:t>
            </a:r>
            <a:r>
              <a:rPr lang="en-US" sz="2000" dirty="0">
                <a:solidFill>
                  <a:srgbClr val="292934"/>
                </a:solidFill>
                <a:latin typeface="+mj-lt"/>
                <a:cs typeface="Arial MT"/>
              </a:rPr>
              <a:t>By</a:t>
            </a:r>
            <a:r>
              <a:rPr lang="en-US" sz="2000" spc="45" dirty="0">
                <a:solidFill>
                  <a:srgbClr val="292934"/>
                </a:solidFill>
                <a:latin typeface="+mj-lt"/>
                <a:cs typeface="Arial MT"/>
              </a:rPr>
              <a:t> </a:t>
            </a:r>
            <a:r>
              <a:rPr lang="en-US" sz="2000" dirty="0">
                <a:solidFill>
                  <a:srgbClr val="292934"/>
                </a:solidFill>
                <a:latin typeface="+mj-lt"/>
                <a:cs typeface="Arial MT"/>
              </a:rPr>
              <a:t>leveraging</a:t>
            </a:r>
            <a:r>
              <a:rPr lang="en-US" sz="2000" spc="40" dirty="0">
                <a:solidFill>
                  <a:srgbClr val="292934"/>
                </a:solidFill>
                <a:latin typeface="+mj-lt"/>
                <a:cs typeface="Arial MT"/>
              </a:rPr>
              <a:t> </a:t>
            </a:r>
            <a:r>
              <a:rPr lang="en-US" sz="2000" dirty="0">
                <a:solidFill>
                  <a:srgbClr val="292934"/>
                </a:solidFill>
                <a:latin typeface="+mj-lt"/>
                <a:cs typeface="Arial MT"/>
              </a:rPr>
              <a:t>data</a:t>
            </a:r>
            <a:r>
              <a:rPr lang="en-US" sz="2000" spc="45" dirty="0">
                <a:solidFill>
                  <a:srgbClr val="292934"/>
                </a:solidFill>
                <a:latin typeface="+mj-lt"/>
                <a:cs typeface="Arial MT"/>
              </a:rPr>
              <a:t> </a:t>
            </a:r>
            <a:r>
              <a:rPr lang="en-US" sz="2000" dirty="0">
                <a:solidFill>
                  <a:srgbClr val="292934"/>
                </a:solidFill>
                <a:latin typeface="+mj-lt"/>
                <a:cs typeface="Arial MT"/>
              </a:rPr>
              <a:t>analytics</a:t>
            </a:r>
            <a:r>
              <a:rPr lang="en-US" sz="2000" spc="55" dirty="0">
                <a:solidFill>
                  <a:srgbClr val="292934"/>
                </a:solidFill>
                <a:latin typeface="+mj-lt"/>
                <a:cs typeface="Arial MT"/>
              </a:rPr>
              <a:t> </a:t>
            </a:r>
            <a:r>
              <a:rPr lang="en-US" sz="2000" dirty="0">
                <a:solidFill>
                  <a:srgbClr val="292934"/>
                </a:solidFill>
                <a:latin typeface="+mj-lt"/>
                <a:cs typeface="Arial MT"/>
              </a:rPr>
              <a:t>techniques</a:t>
            </a:r>
            <a:r>
              <a:rPr lang="en-US" sz="2000" spc="50" dirty="0">
                <a:solidFill>
                  <a:srgbClr val="292934"/>
                </a:solidFill>
                <a:latin typeface="+mj-lt"/>
                <a:cs typeface="Arial MT"/>
              </a:rPr>
              <a:t> </a:t>
            </a:r>
            <a:r>
              <a:rPr lang="en-US" sz="2000" dirty="0">
                <a:solidFill>
                  <a:srgbClr val="292934"/>
                </a:solidFill>
                <a:latin typeface="+mj-lt"/>
                <a:cs typeface="Arial MT"/>
              </a:rPr>
              <a:t>such</a:t>
            </a:r>
            <a:r>
              <a:rPr lang="en-US" sz="2000" spc="45" dirty="0">
                <a:solidFill>
                  <a:srgbClr val="292934"/>
                </a:solidFill>
                <a:latin typeface="+mj-lt"/>
                <a:cs typeface="Arial MT"/>
              </a:rPr>
              <a:t> </a:t>
            </a:r>
            <a:r>
              <a:rPr lang="en-US" sz="2000" dirty="0">
                <a:solidFill>
                  <a:srgbClr val="292934"/>
                </a:solidFill>
                <a:latin typeface="+mj-lt"/>
                <a:cs typeface="Arial MT"/>
              </a:rPr>
              <a:t>as</a:t>
            </a:r>
            <a:r>
              <a:rPr lang="en-US" sz="2000" spc="45" dirty="0">
                <a:solidFill>
                  <a:srgbClr val="292934"/>
                </a:solidFill>
                <a:latin typeface="+mj-lt"/>
                <a:cs typeface="Arial MT"/>
              </a:rPr>
              <a:t> </a:t>
            </a:r>
            <a:r>
              <a:rPr lang="en-US" sz="2000" dirty="0">
                <a:solidFill>
                  <a:srgbClr val="292934"/>
                </a:solidFill>
                <a:latin typeface="+mj-lt"/>
                <a:cs typeface="Arial MT"/>
              </a:rPr>
              <a:t>statistical</a:t>
            </a:r>
            <a:r>
              <a:rPr lang="en-US" sz="2000" spc="60" dirty="0">
                <a:solidFill>
                  <a:srgbClr val="292934"/>
                </a:solidFill>
                <a:latin typeface="+mj-lt"/>
                <a:cs typeface="Arial MT"/>
              </a:rPr>
              <a:t> </a:t>
            </a:r>
            <a:r>
              <a:rPr lang="en-US" sz="2000" dirty="0">
                <a:solidFill>
                  <a:srgbClr val="292934"/>
                </a:solidFill>
                <a:latin typeface="+mj-lt"/>
                <a:cs typeface="Arial MT"/>
              </a:rPr>
              <a:t>analysis,</a:t>
            </a:r>
            <a:r>
              <a:rPr lang="en-US" sz="2000" spc="35" dirty="0">
                <a:solidFill>
                  <a:srgbClr val="292934"/>
                </a:solidFill>
                <a:latin typeface="+mj-lt"/>
                <a:cs typeface="Arial MT"/>
              </a:rPr>
              <a:t> </a:t>
            </a:r>
            <a:r>
              <a:rPr lang="en-US" sz="2000" spc="-10" dirty="0">
                <a:solidFill>
                  <a:srgbClr val="292934"/>
                </a:solidFill>
                <a:latin typeface="+mj-lt"/>
                <a:cs typeface="Arial MT"/>
              </a:rPr>
              <a:t>visualization, </a:t>
            </a:r>
            <a:r>
              <a:rPr lang="en-US" sz="2000" dirty="0">
                <a:solidFill>
                  <a:srgbClr val="292934"/>
                </a:solidFill>
                <a:latin typeface="+mj-lt"/>
                <a:cs typeface="Arial MT"/>
              </a:rPr>
              <a:t>and</a:t>
            </a:r>
            <a:r>
              <a:rPr lang="en-US" sz="2000" spc="220" dirty="0">
                <a:solidFill>
                  <a:srgbClr val="292934"/>
                </a:solidFill>
                <a:latin typeface="+mj-lt"/>
                <a:cs typeface="Arial MT"/>
              </a:rPr>
              <a:t> </a:t>
            </a:r>
            <a:r>
              <a:rPr lang="en-US" sz="2000" dirty="0">
                <a:solidFill>
                  <a:srgbClr val="292934"/>
                </a:solidFill>
                <a:latin typeface="+mj-lt"/>
                <a:cs typeface="Arial MT"/>
              </a:rPr>
              <a:t>predictive</a:t>
            </a:r>
            <a:r>
              <a:rPr lang="en-US" sz="2000" spc="215" dirty="0">
                <a:solidFill>
                  <a:srgbClr val="292934"/>
                </a:solidFill>
                <a:latin typeface="+mj-lt"/>
                <a:cs typeface="Arial MT"/>
              </a:rPr>
              <a:t> </a:t>
            </a:r>
            <a:r>
              <a:rPr lang="en-US" sz="2000" dirty="0">
                <a:solidFill>
                  <a:srgbClr val="292934"/>
                </a:solidFill>
                <a:latin typeface="+mj-lt"/>
                <a:cs typeface="Arial MT"/>
              </a:rPr>
              <a:t>modeling,</a:t>
            </a:r>
            <a:r>
              <a:rPr lang="en-US" sz="2000" spc="204" dirty="0">
                <a:solidFill>
                  <a:srgbClr val="292934"/>
                </a:solidFill>
                <a:latin typeface="+mj-lt"/>
                <a:cs typeface="Arial MT"/>
              </a:rPr>
              <a:t> </a:t>
            </a:r>
            <a:r>
              <a:rPr lang="en-US" sz="2000" dirty="0">
                <a:solidFill>
                  <a:srgbClr val="292934"/>
                </a:solidFill>
                <a:latin typeface="+mj-lt"/>
                <a:cs typeface="Arial MT"/>
              </a:rPr>
              <a:t>we</a:t>
            </a:r>
            <a:r>
              <a:rPr lang="en-US" sz="2000" spc="220" dirty="0">
                <a:solidFill>
                  <a:srgbClr val="292934"/>
                </a:solidFill>
                <a:latin typeface="+mj-lt"/>
                <a:cs typeface="Arial MT"/>
              </a:rPr>
              <a:t> </a:t>
            </a:r>
            <a:r>
              <a:rPr lang="en-US" sz="2000" dirty="0">
                <a:solidFill>
                  <a:srgbClr val="292934"/>
                </a:solidFill>
                <a:latin typeface="+mj-lt"/>
                <a:cs typeface="Arial MT"/>
              </a:rPr>
              <a:t>aim</a:t>
            </a:r>
            <a:r>
              <a:rPr lang="en-US" sz="2000" spc="215" dirty="0">
                <a:solidFill>
                  <a:srgbClr val="292934"/>
                </a:solidFill>
                <a:latin typeface="+mj-lt"/>
                <a:cs typeface="Arial MT"/>
              </a:rPr>
              <a:t> </a:t>
            </a:r>
            <a:r>
              <a:rPr lang="en-US" sz="2000" dirty="0">
                <a:solidFill>
                  <a:srgbClr val="292934"/>
                </a:solidFill>
                <a:latin typeface="+mj-lt"/>
                <a:cs typeface="Arial MT"/>
              </a:rPr>
              <a:t>to</a:t>
            </a:r>
            <a:r>
              <a:rPr lang="en-US" sz="2000" spc="215" dirty="0">
                <a:solidFill>
                  <a:srgbClr val="292934"/>
                </a:solidFill>
                <a:latin typeface="+mj-lt"/>
                <a:cs typeface="Arial MT"/>
              </a:rPr>
              <a:t> </a:t>
            </a:r>
            <a:r>
              <a:rPr lang="en-US" sz="2000" dirty="0">
                <a:solidFill>
                  <a:srgbClr val="292934"/>
                </a:solidFill>
                <a:latin typeface="+mj-lt"/>
                <a:cs typeface="Arial MT"/>
              </a:rPr>
              <a:t>extract</a:t>
            </a:r>
            <a:r>
              <a:rPr lang="en-US" sz="2000" spc="215" dirty="0">
                <a:solidFill>
                  <a:srgbClr val="292934"/>
                </a:solidFill>
                <a:latin typeface="+mj-lt"/>
                <a:cs typeface="Arial MT"/>
              </a:rPr>
              <a:t> </a:t>
            </a:r>
            <a:r>
              <a:rPr lang="en-US" sz="2000" dirty="0">
                <a:solidFill>
                  <a:srgbClr val="292934"/>
                </a:solidFill>
                <a:latin typeface="+mj-lt"/>
                <a:cs typeface="Arial MT"/>
              </a:rPr>
              <a:t>meaningful</a:t>
            </a:r>
            <a:r>
              <a:rPr lang="en-US" sz="2000" spc="200" dirty="0">
                <a:solidFill>
                  <a:srgbClr val="292934"/>
                </a:solidFill>
                <a:latin typeface="+mj-lt"/>
                <a:cs typeface="Arial MT"/>
              </a:rPr>
              <a:t> </a:t>
            </a:r>
            <a:r>
              <a:rPr lang="en-US" sz="2000" dirty="0">
                <a:solidFill>
                  <a:srgbClr val="292934"/>
                </a:solidFill>
                <a:latin typeface="+mj-lt"/>
                <a:cs typeface="Arial MT"/>
              </a:rPr>
              <a:t>insights</a:t>
            </a:r>
            <a:r>
              <a:rPr lang="en-US" sz="2000" spc="220" dirty="0">
                <a:solidFill>
                  <a:srgbClr val="292934"/>
                </a:solidFill>
                <a:latin typeface="+mj-lt"/>
                <a:cs typeface="Arial MT"/>
              </a:rPr>
              <a:t> </a:t>
            </a:r>
            <a:r>
              <a:rPr lang="en-US" sz="2000" dirty="0">
                <a:solidFill>
                  <a:srgbClr val="292934"/>
                </a:solidFill>
                <a:latin typeface="+mj-lt"/>
                <a:cs typeface="Arial MT"/>
              </a:rPr>
              <a:t>from</a:t>
            </a:r>
            <a:r>
              <a:rPr lang="en-US" sz="2000" spc="215" dirty="0">
                <a:solidFill>
                  <a:srgbClr val="292934"/>
                </a:solidFill>
                <a:latin typeface="+mj-lt"/>
                <a:cs typeface="Arial MT"/>
              </a:rPr>
              <a:t> </a:t>
            </a:r>
            <a:r>
              <a:rPr lang="en-US" sz="2000" dirty="0">
                <a:solidFill>
                  <a:srgbClr val="292934"/>
                </a:solidFill>
                <a:latin typeface="+mj-lt"/>
                <a:cs typeface="Arial MT"/>
              </a:rPr>
              <a:t>patient</a:t>
            </a:r>
            <a:r>
              <a:rPr lang="en-US" sz="2000" spc="195" dirty="0">
                <a:solidFill>
                  <a:srgbClr val="292934"/>
                </a:solidFill>
                <a:latin typeface="+mj-lt"/>
                <a:cs typeface="Arial MT"/>
              </a:rPr>
              <a:t> </a:t>
            </a:r>
            <a:r>
              <a:rPr lang="en-US" sz="2000" dirty="0">
                <a:solidFill>
                  <a:srgbClr val="292934"/>
                </a:solidFill>
                <a:latin typeface="+mj-lt"/>
                <a:cs typeface="Arial MT"/>
              </a:rPr>
              <a:t>records,</a:t>
            </a:r>
            <a:r>
              <a:rPr lang="en-US" sz="2000" spc="210" dirty="0">
                <a:solidFill>
                  <a:srgbClr val="292934"/>
                </a:solidFill>
                <a:latin typeface="+mj-lt"/>
                <a:cs typeface="Arial MT"/>
              </a:rPr>
              <a:t> </a:t>
            </a:r>
            <a:r>
              <a:rPr lang="en-US" sz="2000" spc="-10" dirty="0">
                <a:solidFill>
                  <a:srgbClr val="292934"/>
                </a:solidFill>
                <a:latin typeface="+mj-lt"/>
                <a:cs typeface="Arial MT"/>
              </a:rPr>
              <a:t>biopsy </a:t>
            </a:r>
            <a:r>
              <a:rPr lang="en-US" sz="2000" dirty="0">
                <a:solidFill>
                  <a:srgbClr val="292934"/>
                </a:solidFill>
                <a:latin typeface="+mj-lt"/>
                <a:cs typeface="Arial MT"/>
              </a:rPr>
              <a:t>results,</a:t>
            </a:r>
            <a:r>
              <a:rPr lang="en-US" sz="2000" spc="-45" dirty="0">
                <a:solidFill>
                  <a:srgbClr val="292934"/>
                </a:solidFill>
                <a:latin typeface="+mj-lt"/>
                <a:cs typeface="Arial MT"/>
              </a:rPr>
              <a:t> </a:t>
            </a:r>
            <a:r>
              <a:rPr lang="en-US" sz="2000" dirty="0">
                <a:solidFill>
                  <a:srgbClr val="292934"/>
                </a:solidFill>
                <a:latin typeface="+mj-lt"/>
                <a:cs typeface="Arial MT"/>
              </a:rPr>
              <a:t>and</a:t>
            </a:r>
            <a:r>
              <a:rPr lang="en-US" sz="2000" spc="-15" dirty="0">
                <a:solidFill>
                  <a:srgbClr val="292934"/>
                </a:solidFill>
                <a:latin typeface="+mj-lt"/>
                <a:cs typeface="Arial MT"/>
              </a:rPr>
              <a:t> </a:t>
            </a:r>
            <a:r>
              <a:rPr lang="en-US" sz="2000" dirty="0">
                <a:solidFill>
                  <a:srgbClr val="292934"/>
                </a:solidFill>
                <a:latin typeface="+mj-lt"/>
                <a:cs typeface="Arial MT"/>
              </a:rPr>
              <a:t>tumor</a:t>
            </a:r>
            <a:r>
              <a:rPr lang="en-US" sz="2000" spc="-30" dirty="0">
                <a:solidFill>
                  <a:srgbClr val="292934"/>
                </a:solidFill>
                <a:latin typeface="+mj-lt"/>
                <a:cs typeface="Arial MT"/>
              </a:rPr>
              <a:t> </a:t>
            </a:r>
            <a:r>
              <a:rPr lang="en-US" sz="2000" spc="-10" dirty="0">
                <a:solidFill>
                  <a:srgbClr val="292934"/>
                </a:solidFill>
                <a:latin typeface="+mj-lt"/>
                <a:cs typeface="Arial MT"/>
              </a:rPr>
              <a:t>characteristics.</a:t>
            </a:r>
          </a:p>
          <a:p>
            <a:pPr algn="just">
              <a:lnSpc>
                <a:spcPct val="150000"/>
              </a:lnSpc>
            </a:pPr>
            <a:r>
              <a:rPr lang="en-IN" sz="2000" dirty="0">
                <a:effectLst/>
                <a:latin typeface="+mj-lt"/>
                <a:ea typeface="Calibri" panose="020F0502020204030204" pitchFamily="34" charset="0"/>
              </a:rPr>
              <a:t>Despite significant advancements in early detection and treatment, breast cancer is still one of the leading causes of cancer-related deaths among women. The challenge in early diagnosis lies in the complexity of the disease itself, as </a:t>
            </a:r>
            <a:r>
              <a:rPr lang="en-IN" sz="2000" dirty="0" err="1">
                <a:effectLst/>
                <a:latin typeface="+mj-lt"/>
                <a:ea typeface="Calibri" panose="020F0502020204030204" pitchFamily="34" charset="0"/>
              </a:rPr>
              <a:t>tumors</a:t>
            </a:r>
            <a:r>
              <a:rPr lang="en-IN" sz="2000" dirty="0">
                <a:effectLst/>
                <a:latin typeface="+mj-lt"/>
                <a:ea typeface="Calibri" panose="020F0502020204030204" pitchFamily="34" charset="0"/>
              </a:rPr>
              <a:t> can vary widely in size, shape, and </a:t>
            </a:r>
            <a:r>
              <a:rPr lang="en-IN" sz="2000" dirty="0" err="1">
                <a:effectLst/>
                <a:latin typeface="+mj-lt"/>
                <a:ea typeface="Calibri" panose="020F0502020204030204" pitchFamily="34" charset="0"/>
              </a:rPr>
              <a:t>behavior</a:t>
            </a:r>
            <a:r>
              <a:rPr lang="en-IN" sz="2000" dirty="0">
                <a:effectLst/>
                <a:latin typeface="+mj-lt"/>
                <a:ea typeface="Calibri" panose="020F0502020204030204" pitchFamily="34" charset="0"/>
              </a:rPr>
              <a:t>. Additionally, breast cancer can manifest in different forms, making it crucial for healthcare professionals to have advanced tools that can provide more accurate, timely diagnoses.</a:t>
            </a:r>
            <a:endParaRPr lang="en-US" sz="2000" dirty="0">
              <a:latin typeface="+mj-lt"/>
              <a:cs typeface="Arial MT"/>
            </a:endParaRPr>
          </a:p>
          <a:p>
            <a:pPr algn="just"/>
            <a:endParaRPr lang="en-US" dirty="0"/>
          </a:p>
        </p:txBody>
      </p:sp>
      <p:sp>
        <p:nvSpPr>
          <p:cNvPr id="9" name="TextBox 8">
            <a:extLst>
              <a:ext uri="{FF2B5EF4-FFF2-40B4-BE49-F238E27FC236}">
                <a16:creationId xmlns:a16="http://schemas.microsoft.com/office/drawing/2014/main" id="{B853148B-5C8F-0298-E691-8DE5DF642DFB}"/>
              </a:ext>
            </a:extLst>
          </p:cNvPr>
          <p:cNvSpPr txBox="1"/>
          <p:nvPr/>
        </p:nvSpPr>
        <p:spPr>
          <a:xfrm>
            <a:off x="520101" y="1005083"/>
            <a:ext cx="6094562" cy="707886"/>
          </a:xfrm>
          <a:prstGeom prst="rect">
            <a:avLst/>
          </a:prstGeom>
          <a:noFill/>
        </p:spPr>
        <p:txBody>
          <a:bodyPr wrap="square">
            <a:spAutoFit/>
          </a:bodyPr>
          <a:lstStyle/>
          <a:p>
            <a:r>
              <a:rPr lang="en-US" sz="4000" b="1" dirty="0">
                <a:solidFill>
                  <a:schemeClr val="tx2"/>
                </a:solidFill>
              </a:rPr>
              <a:t>Introduction</a:t>
            </a:r>
          </a:p>
        </p:txBody>
      </p:sp>
    </p:spTree>
    <p:extLst>
      <p:ext uri="{BB962C8B-B14F-4D97-AF65-F5344CB8AC3E}">
        <p14:creationId xmlns:p14="http://schemas.microsoft.com/office/powerpoint/2010/main" val="2976884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714832"/>
            <a:ext cx="10972800" cy="627736"/>
          </a:xfrm>
          <a:prstGeom prst="rect">
            <a:avLst/>
          </a:prstGeom>
        </p:spPr>
        <p:txBody>
          <a:bodyPr vert="horz" wrap="square" lIns="0" tIns="12065" rIns="0" bIns="0" rtlCol="0">
            <a:spAutoFit/>
          </a:bodyPr>
          <a:lstStyle/>
          <a:p>
            <a:pPr marL="12700">
              <a:lnSpc>
                <a:spcPct val="100000"/>
              </a:lnSpc>
              <a:spcBef>
                <a:spcPts val="95"/>
              </a:spcBef>
            </a:pPr>
            <a:r>
              <a:rPr b="1" spc="-160" dirty="0"/>
              <a:t>LIMITATIONS</a:t>
            </a:r>
            <a:r>
              <a:rPr b="1" spc="-200" dirty="0"/>
              <a:t> </a:t>
            </a:r>
            <a:r>
              <a:rPr b="1" spc="-50" dirty="0"/>
              <a:t>OF</a:t>
            </a:r>
            <a:r>
              <a:rPr b="1" spc="-170" dirty="0"/>
              <a:t> </a:t>
            </a:r>
            <a:r>
              <a:rPr b="1" spc="-105" dirty="0"/>
              <a:t>EXISTING</a:t>
            </a:r>
            <a:r>
              <a:rPr b="1" spc="-370" dirty="0"/>
              <a:t> </a:t>
            </a:r>
            <a:r>
              <a:rPr b="1" spc="-60" dirty="0"/>
              <a:t>ALGORITHMS</a:t>
            </a:r>
          </a:p>
        </p:txBody>
      </p:sp>
      <p:sp>
        <p:nvSpPr>
          <p:cNvPr id="3" name="object 3"/>
          <p:cNvSpPr txBox="1"/>
          <p:nvPr/>
        </p:nvSpPr>
        <p:spPr>
          <a:xfrm>
            <a:off x="688340" y="1493494"/>
            <a:ext cx="10584815" cy="3684270"/>
          </a:xfrm>
          <a:prstGeom prst="rect">
            <a:avLst/>
          </a:prstGeom>
        </p:spPr>
        <p:txBody>
          <a:bodyPr vert="horz" wrap="square" lIns="0" tIns="12700" rIns="0" bIns="0" rtlCol="0">
            <a:spAutoFit/>
          </a:bodyPr>
          <a:lstStyle/>
          <a:p>
            <a:pPr marL="355600" marR="5080" indent="-342900">
              <a:lnSpc>
                <a:spcPct val="150100"/>
              </a:lnSpc>
              <a:spcBef>
                <a:spcPts val="100"/>
              </a:spcBef>
              <a:buFont typeface="Arial MT"/>
              <a:buChar char="•"/>
              <a:tabLst>
                <a:tab pos="355600" algn="l"/>
                <a:tab pos="1826260" algn="l"/>
                <a:tab pos="2211705" algn="l"/>
                <a:tab pos="3286760" algn="l"/>
                <a:tab pos="4039235" algn="l"/>
                <a:tab pos="4959985" algn="l"/>
                <a:tab pos="5937250" algn="l"/>
                <a:tab pos="6546850" algn="l"/>
                <a:tab pos="7229475" algn="l"/>
                <a:tab pos="8221980" algn="l"/>
                <a:tab pos="9087485" algn="l"/>
                <a:tab pos="9514205" algn="l"/>
              </a:tabLst>
            </a:pPr>
            <a:r>
              <a:rPr sz="2000" b="1" spc="-10" dirty="0">
                <a:solidFill>
                  <a:srgbClr val="292934"/>
                </a:solidFill>
                <a:latin typeface="Arial"/>
                <a:cs typeface="Arial"/>
              </a:rPr>
              <a:t>Incomplete</a:t>
            </a:r>
            <a:r>
              <a:rPr sz="2000" b="1" dirty="0">
                <a:solidFill>
                  <a:srgbClr val="292934"/>
                </a:solidFill>
                <a:latin typeface="Arial"/>
                <a:cs typeface="Arial"/>
              </a:rPr>
              <a:t>	</a:t>
            </a:r>
            <a:r>
              <a:rPr sz="2000" b="1" spc="-25" dirty="0">
                <a:solidFill>
                  <a:srgbClr val="292934"/>
                </a:solidFill>
                <a:latin typeface="Arial"/>
                <a:cs typeface="Arial"/>
              </a:rPr>
              <a:t>or</a:t>
            </a:r>
            <a:r>
              <a:rPr sz="2000" b="1" dirty="0">
                <a:solidFill>
                  <a:srgbClr val="292934"/>
                </a:solidFill>
                <a:latin typeface="Arial"/>
                <a:cs typeface="Arial"/>
              </a:rPr>
              <a:t>	</a:t>
            </a:r>
            <a:r>
              <a:rPr sz="2000" b="1" spc="-10" dirty="0">
                <a:solidFill>
                  <a:srgbClr val="292934"/>
                </a:solidFill>
                <a:latin typeface="Arial"/>
                <a:cs typeface="Arial"/>
              </a:rPr>
              <a:t>Missing</a:t>
            </a:r>
            <a:r>
              <a:rPr sz="2000" b="1" dirty="0">
                <a:solidFill>
                  <a:srgbClr val="292934"/>
                </a:solidFill>
                <a:latin typeface="Arial"/>
                <a:cs typeface="Arial"/>
              </a:rPr>
              <a:t>	</a:t>
            </a:r>
            <a:r>
              <a:rPr sz="2000" b="1" spc="-10" dirty="0">
                <a:solidFill>
                  <a:srgbClr val="292934"/>
                </a:solidFill>
                <a:latin typeface="Arial"/>
                <a:cs typeface="Arial"/>
              </a:rPr>
              <a:t>Data</a:t>
            </a:r>
            <a:r>
              <a:rPr sz="2000" spc="-10" dirty="0">
                <a:solidFill>
                  <a:srgbClr val="292934"/>
                </a:solidFill>
                <a:latin typeface="Arial MT"/>
                <a:cs typeface="Arial MT"/>
              </a:rPr>
              <a:t>:</a:t>
            </a:r>
            <a:r>
              <a:rPr sz="2000" dirty="0">
                <a:solidFill>
                  <a:srgbClr val="292934"/>
                </a:solidFill>
                <a:latin typeface="Arial MT"/>
                <a:cs typeface="Arial MT"/>
              </a:rPr>
              <a:t>	</a:t>
            </a:r>
            <a:r>
              <a:rPr sz="2000" spc="-10" dirty="0">
                <a:solidFill>
                  <a:srgbClr val="292934"/>
                </a:solidFill>
                <a:latin typeface="Arial MT"/>
                <a:cs typeface="Arial MT"/>
              </a:rPr>
              <a:t>Patient</a:t>
            </a:r>
            <a:r>
              <a:rPr sz="2000" dirty="0">
                <a:solidFill>
                  <a:srgbClr val="292934"/>
                </a:solidFill>
                <a:latin typeface="Arial MT"/>
                <a:cs typeface="Arial MT"/>
              </a:rPr>
              <a:t>	</a:t>
            </a:r>
            <a:r>
              <a:rPr sz="2000" spc="-10" dirty="0">
                <a:solidFill>
                  <a:srgbClr val="292934"/>
                </a:solidFill>
                <a:latin typeface="Arial MT"/>
                <a:cs typeface="Arial MT"/>
              </a:rPr>
              <a:t>records</a:t>
            </a:r>
            <a:r>
              <a:rPr sz="2000" dirty="0">
                <a:solidFill>
                  <a:srgbClr val="292934"/>
                </a:solidFill>
                <a:latin typeface="Arial MT"/>
                <a:cs typeface="Arial MT"/>
              </a:rPr>
              <a:t>	</a:t>
            </a:r>
            <a:r>
              <a:rPr sz="2000" spc="-25" dirty="0">
                <a:solidFill>
                  <a:srgbClr val="292934"/>
                </a:solidFill>
                <a:latin typeface="Arial MT"/>
                <a:cs typeface="Arial MT"/>
              </a:rPr>
              <a:t>may</a:t>
            </a:r>
            <a:r>
              <a:rPr sz="2000" dirty="0">
                <a:solidFill>
                  <a:srgbClr val="292934"/>
                </a:solidFill>
                <a:latin typeface="Arial MT"/>
                <a:cs typeface="Arial MT"/>
              </a:rPr>
              <a:t>	</a:t>
            </a:r>
            <a:r>
              <a:rPr sz="2000" spc="-20" dirty="0">
                <a:solidFill>
                  <a:srgbClr val="292934"/>
                </a:solidFill>
                <a:latin typeface="Arial MT"/>
                <a:cs typeface="Arial MT"/>
              </a:rPr>
              <a:t>have</a:t>
            </a:r>
            <a:r>
              <a:rPr sz="2000" dirty="0">
                <a:solidFill>
                  <a:srgbClr val="292934"/>
                </a:solidFill>
                <a:latin typeface="Arial MT"/>
                <a:cs typeface="Arial MT"/>
              </a:rPr>
              <a:t>	</a:t>
            </a:r>
            <a:r>
              <a:rPr sz="2000" spc="-10" dirty="0">
                <a:solidFill>
                  <a:srgbClr val="292934"/>
                </a:solidFill>
                <a:latin typeface="Arial MT"/>
                <a:cs typeface="Arial MT"/>
              </a:rPr>
              <a:t>missing</a:t>
            </a:r>
            <a:r>
              <a:rPr sz="2000" dirty="0">
                <a:solidFill>
                  <a:srgbClr val="292934"/>
                </a:solidFill>
                <a:latin typeface="Arial MT"/>
                <a:cs typeface="Arial MT"/>
              </a:rPr>
              <a:t>	</a:t>
            </a:r>
            <a:r>
              <a:rPr sz="2000" spc="-10" dirty="0">
                <a:solidFill>
                  <a:srgbClr val="292934"/>
                </a:solidFill>
                <a:latin typeface="Arial MT"/>
                <a:cs typeface="Arial MT"/>
              </a:rPr>
              <a:t>values</a:t>
            </a:r>
            <a:r>
              <a:rPr sz="2000" dirty="0">
                <a:solidFill>
                  <a:srgbClr val="292934"/>
                </a:solidFill>
                <a:latin typeface="Arial MT"/>
                <a:cs typeface="Arial MT"/>
              </a:rPr>
              <a:t>	</a:t>
            </a:r>
            <a:r>
              <a:rPr sz="2000" spc="-25" dirty="0">
                <a:solidFill>
                  <a:srgbClr val="292934"/>
                </a:solidFill>
                <a:latin typeface="Arial MT"/>
                <a:cs typeface="Arial MT"/>
              </a:rPr>
              <a:t>for</a:t>
            </a:r>
            <a:r>
              <a:rPr sz="2000" dirty="0">
                <a:solidFill>
                  <a:srgbClr val="292934"/>
                </a:solidFill>
                <a:latin typeface="Arial MT"/>
                <a:cs typeface="Arial MT"/>
              </a:rPr>
              <a:t>	</a:t>
            </a:r>
            <a:r>
              <a:rPr sz="2000" spc="-10" dirty="0">
                <a:solidFill>
                  <a:srgbClr val="292934"/>
                </a:solidFill>
                <a:latin typeface="Arial MT"/>
                <a:cs typeface="Arial MT"/>
              </a:rPr>
              <a:t>important </a:t>
            </a:r>
            <a:r>
              <a:rPr sz="2000" dirty="0">
                <a:solidFill>
                  <a:srgbClr val="292934"/>
                </a:solidFill>
                <a:latin typeface="Arial MT"/>
                <a:cs typeface="Arial MT"/>
              </a:rPr>
              <a:t>attributes</a:t>
            </a:r>
            <a:r>
              <a:rPr sz="2000" spc="-65" dirty="0">
                <a:solidFill>
                  <a:srgbClr val="292934"/>
                </a:solidFill>
                <a:latin typeface="Arial MT"/>
                <a:cs typeface="Arial MT"/>
              </a:rPr>
              <a:t> </a:t>
            </a:r>
            <a:r>
              <a:rPr sz="2000" dirty="0">
                <a:solidFill>
                  <a:srgbClr val="292934"/>
                </a:solidFill>
                <a:latin typeface="Arial MT"/>
                <a:cs typeface="Arial MT"/>
              </a:rPr>
              <a:t>like</a:t>
            </a:r>
            <a:r>
              <a:rPr sz="2000" spc="-15" dirty="0">
                <a:solidFill>
                  <a:srgbClr val="292934"/>
                </a:solidFill>
                <a:latin typeface="Arial MT"/>
                <a:cs typeface="Arial MT"/>
              </a:rPr>
              <a:t> </a:t>
            </a:r>
            <a:r>
              <a:rPr lang="en-IN" sz="2000" spc="-15" dirty="0">
                <a:solidFill>
                  <a:srgbClr val="292934"/>
                </a:solidFill>
                <a:latin typeface="Arial MT"/>
                <a:cs typeface="Arial MT"/>
              </a:rPr>
              <a:t>radius, texture, perimeter</a:t>
            </a:r>
            <a:r>
              <a:rPr sz="2000" spc="-55" dirty="0">
                <a:solidFill>
                  <a:srgbClr val="292934"/>
                </a:solidFill>
                <a:latin typeface="Arial MT"/>
                <a:cs typeface="Arial MT"/>
              </a:rPr>
              <a:t> </a:t>
            </a:r>
            <a:r>
              <a:rPr sz="2000" spc="-20" dirty="0">
                <a:solidFill>
                  <a:srgbClr val="292934"/>
                </a:solidFill>
                <a:latin typeface="Arial MT"/>
                <a:cs typeface="Arial MT"/>
              </a:rPr>
              <a:t>etc.</a:t>
            </a:r>
            <a:endParaRPr sz="2000" dirty="0">
              <a:latin typeface="Arial MT"/>
              <a:cs typeface="Arial MT"/>
            </a:endParaRPr>
          </a:p>
          <a:p>
            <a:pPr marL="355600" marR="6350" indent="-342900">
              <a:lnSpc>
                <a:spcPct val="150000"/>
              </a:lnSpc>
              <a:buFont typeface="Arial MT"/>
              <a:buChar char="•"/>
              <a:tabLst>
                <a:tab pos="355600" algn="l"/>
                <a:tab pos="1062355" algn="l"/>
                <a:tab pos="1757680" algn="l"/>
                <a:tab pos="4015104" algn="l"/>
                <a:tab pos="4566920" algn="l"/>
                <a:tab pos="5880735" algn="l"/>
                <a:tab pos="7505065" algn="l"/>
                <a:tab pos="8649970" algn="l"/>
                <a:tab pos="9640570" algn="l"/>
              </a:tabLst>
            </a:pPr>
            <a:r>
              <a:rPr sz="2000" b="1" spc="-20" dirty="0">
                <a:solidFill>
                  <a:srgbClr val="292934"/>
                </a:solidFill>
                <a:latin typeface="Arial"/>
                <a:cs typeface="Arial"/>
              </a:rPr>
              <a:t>Poor</a:t>
            </a:r>
            <a:r>
              <a:rPr sz="2000" b="1" dirty="0">
                <a:solidFill>
                  <a:srgbClr val="292934"/>
                </a:solidFill>
                <a:latin typeface="Arial"/>
                <a:cs typeface="Arial"/>
              </a:rPr>
              <a:t>	</a:t>
            </a:r>
            <a:r>
              <a:rPr sz="2000" b="1" spc="-20" dirty="0">
                <a:solidFill>
                  <a:srgbClr val="292934"/>
                </a:solidFill>
                <a:latin typeface="Arial"/>
                <a:cs typeface="Arial"/>
              </a:rPr>
              <a:t>User</a:t>
            </a:r>
            <a:r>
              <a:rPr sz="2000" b="1" dirty="0">
                <a:solidFill>
                  <a:srgbClr val="292934"/>
                </a:solidFill>
                <a:latin typeface="Arial"/>
                <a:cs typeface="Arial"/>
              </a:rPr>
              <a:t>	Interface</a:t>
            </a:r>
            <a:r>
              <a:rPr sz="2000" dirty="0">
                <a:solidFill>
                  <a:srgbClr val="292934"/>
                </a:solidFill>
                <a:latin typeface="Arial MT"/>
                <a:cs typeface="Arial MT"/>
              </a:rPr>
              <a:t>:</a:t>
            </a:r>
            <a:r>
              <a:rPr sz="2000" spc="395" dirty="0">
                <a:solidFill>
                  <a:srgbClr val="292934"/>
                </a:solidFill>
                <a:latin typeface="Arial MT"/>
                <a:cs typeface="Arial MT"/>
              </a:rPr>
              <a:t> </a:t>
            </a:r>
            <a:r>
              <a:rPr sz="2000" spc="-10" dirty="0">
                <a:solidFill>
                  <a:srgbClr val="292934"/>
                </a:solidFill>
                <a:latin typeface="Arial MT"/>
                <a:cs typeface="Arial MT"/>
              </a:rPr>
              <a:t>Doctors</a:t>
            </a:r>
            <a:r>
              <a:rPr sz="2000" dirty="0">
                <a:solidFill>
                  <a:srgbClr val="292934"/>
                </a:solidFill>
                <a:latin typeface="Arial MT"/>
                <a:cs typeface="Arial MT"/>
              </a:rPr>
              <a:t>	</a:t>
            </a:r>
            <a:r>
              <a:rPr sz="2000" spc="-25" dirty="0">
                <a:solidFill>
                  <a:srgbClr val="292934"/>
                </a:solidFill>
                <a:latin typeface="Arial MT"/>
                <a:cs typeface="Arial MT"/>
              </a:rPr>
              <a:t>and</a:t>
            </a:r>
            <a:r>
              <a:rPr sz="2000" dirty="0">
                <a:solidFill>
                  <a:srgbClr val="292934"/>
                </a:solidFill>
                <a:latin typeface="Arial MT"/>
                <a:cs typeface="Arial MT"/>
              </a:rPr>
              <a:t>	</a:t>
            </a:r>
            <a:r>
              <a:rPr sz="2000" spc="-10" dirty="0">
                <a:solidFill>
                  <a:srgbClr val="292934"/>
                </a:solidFill>
                <a:latin typeface="Arial MT"/>
                <a:cs typeface="Arial MT"/>
              </a:rPr>
              <a:t>healthcare</a:t>
            </a:r>
            <a:r>
              <a:rPr sz="2000" dirty="0">
                <a:solidFill>
                  <a:srgbClr val="292934"/>
                </a:solidFill>
                <a:latin typeface="Arial MT"/>
                <a:cs typeface="Arial MT"/>
              </a:rPr>
              <a:t>	</a:t>
            </a:r>
            <a:r>
              <a:rPr sz="2000" spc="-10" dirty="0">
                <a:solidFill>
                  <a:srgbClr val="292934"/>
                </a:solidFill>
                <a:latin typeface="Arial MT"/>
                <a:cs typeface="Arial MT"/>
              </a:rPr>
              <a:t>professionals</a:t>
            </a:r>
            <a:r>
              <a:rPr sz="2000" dirty="0">
                <a:solidFill>
                  <a:srgbClr val="292934"/>
                </a:solidFill>
                <a:latin typeface="Arial MT"/>
                <a:cs typeface="Arial MT"/>
              </a:rPr>
              <a:t>	may</a:t>
            </a:r>
            <a:r>
              <a:rPr sz="2000" spc="409" dirty="0">
                <a:solidFill>
                  <a:srgbClr val="292934"/>
                </a:solidFill>
                <a:latin typeface="Arial MT"/>
                <a:cs typeface="Arial MT"/>
              </a:rPr>
              <a:t> </a:t>
            </a:r>
            <a:r>
              <a:rPr sz="2000" spc="-20" dirty="0">
                <a:solidFill>
                  <a:srgbClr val="292934"/>
                </a:solidFill>
                <a:latin typeface="Arial MT"/>
                <a:cs typeface="Arial MT"/>
              </a:rPr>
              <a:t>find</a:t>
            </a:r>
            <a:r>
              <a:rPr sz="2000" dirty="0">
                <a:solidFill>
                  <a:srgbClr val="292934"/>
                </a:solidFill>
                <a:latin typeface="Arial MT"/>
                <a:cs typeface="Arial MT"/>
              </a:rPr>
              <a:t>	</a:t>
            </a:r>
            <a:r>
              <a:rPr sz="2000" spc="-10" dirty="0">
                <a:solidFill>
                  <a:srgbClr val="292934"/>
                </a:solidFill>
                <a:latin typeface="Arial MT"/>
                <a:cs typeface="Arial MT"/>
              </a:rPr>
              <a:t>existing</a:t>
            </a:r>
            <a:r>
              <a:rPr sz="2000" dirty="0">
                <a:solidFill>
                  <a:srgbClr val="292934"/>
                </a:solidFill>
                <a:latin typeface="Arial MT"/>
                <a:cs typeface="Arial MT"/>
              </a:rPr>
              <a:t>	</a:t>
            </a:r>
            <a:r>
              <a:rPr sz="2000" spc="-10" dirty="0">
                <a:solidFill>
                  <a:srgbClr val="292934"/>
                </a:solidFill>
                <a:latin typeface="Arial MT"/>
                <a:cs typeface="Arial MT"/>
              </a:rPr>
              <a:t>systems </a:t>
            </a:r>
            <a:r>
              <a:rPr sz="2000" dirty="0">
                <a:solidFill>
                  <a:srgbClr val="292934"/>
                </a:solidFill>
                <a:latin typeface="Arial MT"/>
                <a:cs typeface="Arial MT"/>
              </a:rPr>
              <a:t>difficult</a:t>
            </a:r>
            <a:r>
              <a:rPr sz="2000" spc="-60" dirty="0">
                <a:solidFill>
                  <a:srgbClr val="292934"/>
                </a:solidFill>
                <a:latin typeface="Arial MT"/>
                <a:cs typeface="Arial MT"/>
              </a:rPr>
              <a:t> </a:t>
            </a:r>
            <a:r>
              <a:rPr sz="2000" dirty="0">
                <a:solidFill>
                  <a:srgbClr val="292934"/>
                </a:solidFill>
                <a:latin typeface="Arial MT"/>
                <a:cs typeface="Arial MT"/>
              </a:rPr>
              <a:t>to</a:t>
            </a:r>
            <a:r>
              <a:rPr sz="2000" spc="-45" dirty="0">
                <a:solidFill>
                  <a:srgbClr val="292934"/>
                </a:solidFill>
                <a:latin typeface="Arial MT"/>
                <a:cs typeface="Arial MT"/>
              </a:rPr>
              <a:t> </a:t>
            </a:r>
            <a:r>
              <a:rPr sz="2000" spc="-20" dirty="0">
                <a:solidFill>
                  <a:srgbClr val="292934"/>
                </a:solidFill>
                <a:latin typeface="Arial MT"/>
                <a:cs typeface="Arial MT"/>
              </a:rPr>
              <a:t>use.</a:t>
            </a:r>
            <a:endParaRPr sz="2000" dirty="0">
              <a:latin typeface="Arial MT"/>
              <a:cs typeface="Arial MT"/>
            </a:endParaRPr>
          </a:p>
          <a:p>
            <a:pPr marL="354965" indent="-342265">
              <a:lnSpc>
                <a:spcPct val="100000"/>
              </a:lnSpc>
              <a:spcBef>
                <a:spcPts val="1200"/>
              </a:spcBef>
              <a:buFont typeface="Arial MT"/>
              <a:buChar char="•"/>
              <a:tabLst>
                <a:tab pos="354965" algn="l"/>
                <a:tab pos="1094740" algn="l"/>
                <a:tab pos="1789430" algn="l"/>
                <a:tab pos="3376295" algn="l"/>
                <a:tab pos="4412615" algn="l"/>
                <a:tab pos="5488940" algn="l"/>
                <a:tab pos="6113780" algn="l"/>
                <a:tab pos="6613525" algn="l"/>
                <a:tab pos="7647305" algn="l"/>
                <a:tab pos="8359140" algn="l"/>
                <a:tab pos="9464040" algn="l"/>
              </a:tabLst>
            </a:pPr>
            <a:r>
              <a:rPr sz="2000" b="1" spc="-20" dirty="0">
                <a:solidFill>
                  <a:srgbClr val="292934"/>
                </a:solidFill>
                <a:latin typeface="Arial"/>
                <a:cs typeface="Arial"/>
              </a:rPr>
              <a:t>Slow</a:t>
            </a:r>
            <a:r>
              <a:rPr sz="2000" b="1" dirty="0">
                <a:solidFill>
                  <a:srgbClr val="292934"/>
                </a:solidFill>
                <a:latin typeface="Arial"/>
                <a:cs typeface="Arial"/>
              </a:rPr>
              <a:t>	</a:t>
            </a:r>
            <a:r>
              <a:rPr sz="2000" b="1" spc="-20" dirty="0">
                <a:solidFill>
                  <a:srgbClr val="292934"/>
                </a:solidFill>
                <a:latin typeface="Arial"/>
                <a:cs typeface="Arial"/>
              </a:rPr>
              <a:t>Data</a:t>
            </a:r>
            <a:r>
              <a:rPr sz="2000" b="1" dirty="0">
                <a:solidFill>
                  <a:srgbClr val="292934"/>
                </a:solidFill>
                <a:latin typeface="Arial"/>
                <a:cs typeface="Arial"/>
              </a:rPr>
              <a:t>	</a:t>
            </a:r>
            <a:r>
              <a:rPr sz="2000" b="1" spc="-10" dirty="0">
                <a:solidFill>
                  <a:srgbClr val="292934"/>
                </a:solidFill>
                <a:latin typeface="Arial"/>
                <a:cs typeface="Arial"/>
              </a:rPr>
              <a:t>Processing</a:t>
            </a:r>
            <a:r>
              <a:rPr sz="2000" spc="-10" dirty="0">
                <a:solidFill>
                  <a:srgbClr val="292934"/>
                </a:solidFill>
                <a:latin typeface="Arial MT"/>
                <a:cs typeface="Arial MT"/>
              </a:rPr>
              <a:t>:</a:t>
            </a:r>
            <a:r>
              <a:rPr sz="2000" dirty="0">
                <a:solidFill>
                  <a:srgbClr val="292934"/>
                </a:solidFill>
                <a:latin typeface="Arial MT"/>
                <a:cs typeface="Arial MT"/>
              </a:rPr>
              <a:t>	</a:t>
            </a:r>
            <a:r>
              <a:rPr sz="2000" spc="-10" dirty="0">
                <a:solidFill>
                  <a:srgbClr val="292934"/>
                </a:solidFill>
                <a:latin typeface="Arial MT"/>
                <a:cs typeface="Arial MT"/>
              </a:rPr>
              <a:t>Existing</a:t>
            </a:r>
            <a:r>
              <a:rPr sz="2000" dirty="0">
                <a:solidFill>
                  <a:srgbClr val="292934"/>
                </a:solidFill>
                <a:latin typeface="Arial MT"/>
                <a:cs typeface="Arial MT"/>
              </a:rPr>
              <a:t>	</a:t>
            </a:r>
            <a:r>
              <a:rPr sz="2000" spc="-10" dirty="0">
                <a:solidFill>
                  <a:srgbClr val="292934"/>
                </a:solidFill>
                <a:latin typeface="Arial MT"/>
                <a:cs typeface="Arial MT"/>
              </a:rPr>
              <a:t>systems</a:t>
            </a:r>
            <a:r>
              <a:rPr sz="2000" dirty="0">
                <a:solidFill>
                  <a:srgbClr val="292934"/>
                </a:solidFill>
                <a:latin typeface="Arial MT"/>
                <a:cs typeface="Arial MT"/>
              </a:rPr>
              <a:t>	</a:t>
            </a:r>
            <a:r>
              <a:rPr sz="2000" spc="-25" dirty="0">
                <a:solidFill>
                  <a:srgbClr val="292934"/>
                </a:solidFill>
                <a:latin typeface="Arial MT"/>
                <a:cs typeface="Arial MT"/>
              </a:rPr>
              <a:t>may</a:t>
            </a:r>
            <a:r>
              <a:rPr sz="2000" dirty="0">
                <a:solidFill>
                  <a:srgbClr val="292934"/>
                </a:solidFill>
                <a:latin typeface="Arial MT"/>
                <a:cs typeface="Arial MT"/>
              </a:rPr>
              <a:t>	</a:t>
            </a:r>
            <a:r>
              <a:rPr sz="2000" spc="-25" dirty="0">
                <a:solidFill>
                  <a:srgbClr val="292934"/>
                </a:solidFill>
                <a:latin typeface="Arial MT"/>
                <a:cs typeface="Arial MT"/>
              </a:rPr>
              <a:t>not</a:t>
            </a:r>
            <a:r>
              <a:rPr sz="2000" dirty="0">
                <a:solidFill>
                  <a:srgbClr val="292934"/>
                </a:solidFill>
                <a:latin typeface="Arial MT"/>
                <a:cs typeface="Arial MT"/>
              </a:rPr>
              <a:t>	</a:t>
            </a:r>
            <a:r>
              <a:rPr sz="2000" spc="-10" dirty="0">
                <a:solidFill>
                  <a:srgbClr val="292934"/>
                </a:solidFill>
                <a:latin typeface="Arial MT"/>
                <a:cs typeface="Arial MT"/>
              </a:rPr>
              <a:t>process</a:t>
            </a:r>
            <a:r>
              <a:rPr sz="2000" dirty="0">
                <a:solidFill>
                  <a:srgbClr val="292934"/>
                </a:solidFill>
                <a:latin typeface="Arial MT"/>
                <a:cs typeface="Arial MT"/>
              </a:rPr>
              <a:t>	</a:t>
            </a:r>
            <a:r>
              <a:rPr sz="2000" spc="-10" dirty="0">
                <a:solidFill>
                  <a:srgbClr val="292934"/>
                </a:solidFill>
                <a:latin typeface="Arial MT"/>
                <a:cs typeface="Arial MT"/>
              </a:rPr>
              <a:t>large</a:t>
            </a:r>
            <a:r>
              <a:rPr sz="2000" dirty="0">
                <a:solidFill>
                  <a:srgbClr val="292934"/>
                </a:solidFill>
                <a:latin typeface="Arial MT"/>
                <a:cs typeface="Arial MT"/>
              </a:rPr>
              <a:t>	</a:t>
            </a:r>
            <a:r>
              <a:rPr sz="2000" spc="-10" dirty="0">
                <a:solidFill>
                  <a:srgbClr val="292934"/>
                </a:solidFill>
                <a:latin typeface="Arial MT"/>
                <a:cs typeface="Arial MT"/>
              </a:rPr>
              <a:t>datasets</a:t>
            </a:r>
            <a:r>
              <a:rPr sz="2000" dirty="0">
                <a:solidFill>
                  <a:srgbClr val="292934"/>
                </a:solidFill>
                <a:latin typeface="Arial MT"/>
                <a:cs typeface="Arial MT"/>
              </a:rPr>
              <a:t>	</a:t>
            </a:r>
            <a:r>
              <a:rPr sz="2000" spc="-10" dirty="0">
                <a:solidFill>
                  <a:srgbClr val="292934"/>
                </a:solidFill>
                <a:latin typeface="Arial MT"/>
                <a:cs typeface="Arial MT"/>
              </a:rPr>
              <a:t>efficiently,</a:t>
            </a:r>
            <a:endParaRPr sz="2000" dirty="0">
              <a:latin typeface="Arial MT"/>
              <a:cs typeface="Arial MT"/>
            </a:endParaRPr>
          </a:p>
          <a:p>
            <a:pPr marL="355600">
              <a:lnSpc>
                <a:spcPct val="100000"/>
              </a:lnSpc>
              <a:spcBef>
                <a:spcPts val="1200"/>
              </a:spcBef>
            </a:pPr>
            <a:r>
              <a:rPr sz="2000" dirty="0">
                <a:solidFill>
                  <a:srgbClr val="292934"/>
                </a:solidFill>
                <a:latin typeface="Arial MT"/>
                <a:cs typeface="Arial MT"/>
              </a:rPr>
              <a:t>causing</a:t>
            </a:r>
            <a:r>
              <a:rPr sz="2000" spc="-50" dirty="0">
                <a:solidFill>
                  <a:srgbClr val="292934"/>
                </a:solidFill>
                <a:latin typeface="Arial MT"/>
                <a:cs typeface="Arial MT"/>
              </a:rPr>
              <a:t> </a:t>
            </a:r>
            <a:r>
              <a:rPr sz="2000" dirty="0">
                <a:solidFill>
                  <a:srgbClr val="292934"/>
                </a:solidFill>
                <a:latin typeface="Arial MT"/>
                <a:cs typeface="Arial MT"/>
              </a:rPr>
              <a:t>delays</a:t>
            </a:r>
            <a:r>
              <a:rPr sz="2000" spc="-30" dirty="0">
                <a:solidFill>
                  <a:srgbClr val="292934"/>
                </a:solidFill>
                <a:latin typeface="Arial MT"/>
                <a:cs typeface="Arial MT"/>
              </a:rPr>
              <a:t> </a:t>
            </a:r>
            <a:r>
              <a:rPr sz="2000" dirty="0">
                <a:solidFill>
                  <a:srgbClr val="292934"/>
                </a:solidFill>
                <a:latin typeface="Arial MT"/>
                <a:cs typeface="Arial MT"/>
              </a:rPr>
              <a:t>in</a:t>
            </a:r>
            <a:r>
              <a:rPr sz="2000" spc="-20" dirty="0">
                <a:solidFill>
                  <a:srgbClr val="292934"/>
                </a:solidFill>
                <a:latin typeface="Arial MT"/>
                <a:cs typeface="Arial MT"/>
              </a:rPr>
              <a:t> </a:t>
            </a:r>
            <a:r>
              <a:rPr sz="2000" spc="-10" dirty="0">
                <a:solidFill>
                  <a:srgbClr val="292934"/>
                </a:solidFill>
                <a:latin typeface="Arial MT"/>
                <a:cs typeface="Arial MT"/>
              </a:rPr>
              <a:t>diagnosis.</a:t>
            </a:r>
            <a:endParaRPr sz="2000" dirty="0">
              <a:latin typeface="Arial MT"/>
              <a:cs typeface="Arial MT"/>
            </a:endParaRPr>
          </a:p>
          <a:p>
            <a:pPr marL="354965" indent="-342265">
              <a:lnSpc>
                <a:spcPct val="100000"/>
              </a:lnSpc>
              <a:spcBef>
                <a:spcPts val="1200"/>
              </a:spcBef>
              <a:buFont typeface="Arial MT"/>
              <a:buChar char="•"/>
              <a:tabLst>
                <a:tab pos="354965" algn="l"/>
              </a:tabLst>
            </a:pPr>
            <a:r>
              <a:rPr sz="2000" b="1" dirty="0">
                <a:solidFill>
                  <a:srgbClr val="292934"/>
                </a:solidFill>
                <a:latin typeface="Arial"/>
                <a:cs typeface="Arial"/>
              </a:rPr>
              <a:t>Overfitting</a:t>
            </a:r>
            <a:r>
              <a:rPr sz="2000" dirty="0">
                <a:solidFill>
                  <a:srgbClr val="292934"/>
                </a:solidFill>
                <a:latin typeface="Arial MT"/>
                <a:cs typeface="Arial MT"/>
              </a:rPr>
              <a:t>:</a:t>
            </a:r>
            <a:r>
              <a:rPr sz="2000" spc="140" dirty="0">
                <a:solidFill>
                  <a:srgbClr val="292934"/>
                </a:solidFill>
                <a:latin typeface="Arial MT"/>
                <a:cs typeface="Arial MT"/>
              </a:rPr>
              <a:t> </a:t>
            </a:r>
            <a:r>
              <a:rPr sz="2000" dirty="0">
                <a:solidFill>
                  <a:srgbClr val="292934"/>
                </a:solidFill>
                <a:latin typeface="Arial MT"/>
                <a:cs typeface="Arial MT"/>
              </a:rPr>
              <a:t>AI/ML</a:t>
            </a:r>
            <a:r>
              <a:rPr sz="2000" spc="85" dirty="0">
                <a:solidFill>
                  <a:srgbClr val="292934"/>
                </a:solidFill>
                <a:latin typeface="Arial MT"/>
                <a:cs typeface="Arial MT"/>
              </a:rPr>
              <a:t> </a:t>
            </a:r>
            <a:r>
              <a:rPr sz="2000" dirty="0">
                <a:solidFill>
                  <a:srgbClr val="292934"/>
                </a:solidFill>
                <a:latin typeface="Arial MT"/>
                <a:cs typeface="Arial MT"/>
              </a:rPr>
              <a:t>models</a:t>
            </a:r>
            <a:r>
              <a:rPr sz="2000" spc="155" dirty="0">
                <a:solidFill>
                  <a:srgbClr val="292934"/>
                </a:solidFill>
                <a:latin typeface="Arial MT"/>
                <a:cs typeface="Arial MT"/>
              </a:rPr>
              <a:t> </a:t>
            </a:r>
            <a:r>
              <a:rPr sz="2000" dirty="0">
                <a:solidFill>
                  <a:srgbClr val="292934"/>
                </a:solidFill>
                <a:latin typeface="Arial MT"/>
                <a:cs typeface="Arial MT"/>
              </a:rPr>
              <a:t>may</a:t>
            </a:r>
            <a:r>
              <a:rPr sz="2000" spc="145" dirty="0">
                <a:solidFill>
                  <a:srgbClr val="292934"/>
                </a:solidFill>
                <a:latin typeface="Arial MT"/>
                <a:cs typeface="Arial MT"/>
              </a:rPr>
              <a:t> </a:t>
            </a:r>
            <a:r>
              <a:rPr sz="2000" dirty="0">
                <a:solidFill>
                  <a:srgbClr val="292934"/>
                </a:solidFill>
                <a:latin typeface="Arial MT"/>
                <a:cs typeface="Arial MT"/>
              </a:rPr>
              <a:t>perform</a:t>
            </a:r>
            <a:r>
              <a:rPr sz="2000" spc="155" dirty="0">
                <a:solidFill>
                  <a:srgbClr val="292934"/>
                </a:solidFill>
                <a:latin typeface="Arial MT"/>
                <a:cs typeface="Arial MT"/>
              </a:rPr>
              <a:t> </a:t>
            </a:r>
            <a:r>
              <a:rPr sz="2000" dirty="0">
                <a:solidFill>
                  <a:srgbClr val="292934"/>
                </a:solidFill>
                <a:latin typeface="Arial MT"/>
                <a:cs typeface="Arial MT"/>
              </a:rPr>
              <a:t>well</a:t>
            </a:r>
            <a:r>
              <a:rPr sz="2000" spc="155" dirty="0">
                <a:solidFill>
                  <a:srgbClr val="292934"/>
                </a:solidFill>
                <a:latin typeface="Arial MT"/>
                <a:cs typeface="Arial MT"/>
              </a:rPr>
              <a:t> </a:t>
            </a:r>
            <a:r>
              <a:rPr sz="2000" dirty="0">
                <a:solidFill>
                  <a:srgbClr val="292934"/>
                </a:solidFill>
                <a:latin typeface="Arial MT"/>
                <a:cs typeface="Arial MT"/>
              </a:rPr>
              <a:t>on</a:t>
            </a:r>
            <a:r>
              <a:rPr sz="2000" spc="145" dirty="0">
                <a:solidFill>
                  <a:srgbClr val="292934"/>
                </a:solidFill>
                <a:latin typeface="Arial MT"/>
                <a:cs typeface="Arial MT"/>
              </a:rPr>
              <a:t> </a:t>
            </a:r>
            <a:r>
              <a:rPr sz="2000" dirty="0">
                <a:solidFill>
                  <a:srgbClr val="292934"/>
                </a:solidFill>
                <a:latin typeface="Arial MT"/>
                <a:cs typeface="Arial MT"/>
              </a:rPr>
              <a:t>training</a:t>
            </a:r>
            <a:r>
              <a:rPr sz="2000" spc="155" dirty="0">
                <a:solidFill>
                  <a:srgbClr val="292934"/>
                </a:solidFill>
                <a:latin typeface="Arial MT"/>
                <a:cs typeface="Arial MT"/>
              </a:rPr>
              <a:t> </a:t>
            </a:r>
            <a:r>
              <a:rPr sz="2000" dirty="0">
                <a:solidFill>
                  <a:srgbClr val="292934"/>
                </a:solidFill>
                <a:latin typeface="Arial MT"/>
                <a:cs typeface="Arial MT"/>
              </a:rPr>
              <a:t>data</a:t>
            </a:r>
            <a:r>
              <a:rPr sz="2000" spc="150" dirty="0">
                <a:solidFill>
                  <a:srgbClr val="292934"/>
                </a:solidFill>
                <a:latin typeface="Arial MT"/>
                <a:cs typeface="Arial MT"/>
              </a:rPr>
              <a:t> </a:t>
            </a:r>
            <a:r>
              <a:rPr sz="2000" dirty="0">
                <a:solidFill>
                  <a:srgbClr val="292934"/>
                </a:solidFill>
                <a:latin typeface="Arial MT"/>
                <a:cs typeface="Arial MT"/>
              </a:rPr>
              <a:t>but</a:t>
            </a:r>
            <a:r>
              <a:rPr sz="2000" spc="140" dirty="0">
                <a:solidFill>
                  <a:srgbClr val="292934"/>
                </a:solidFill>
                <a:latin typeface="Arial MT"/>
                <a:cs typeface="Arial MT"/>
              </a:rPr>
              <a:t> </a:t>
            </a:r>
            <a:r>
              <a:rPr sz="2000" dirty="0">
                <a:solidFill>
                  <a:srgbClr val="292934"/>
                </a:solidFill>
                <a:latin typeface="Arial MT"/>
                <a:cs typeface="Arial MT"/>
              </a:rPr>
              <a:t>fail</a:t>
            </a:r>
            <a:r>
              <a:rPr sz="2000" spc="140" dirty="0">
                <a:solidFill>
                  <a:srgbClr val="292934"/>
                </a:solidFill>
                <a:latin typeface="Arial MT"/>
                <a:cs typeface="Arial MT"/>
              </a:rPr>
              <a:t> </a:t>
            </a:r>
            <a:r>
              <a:rPr sz="2000" dirty="0">
                <a:solidFill>
                  <a:srgbClr val="292934"/>
                </a:solidFill>
                <a:latin typeface="Arial MT"/>
                <a:cs typeface="Arial MT"/>
              </a:rPr>
              <a:t>in</a:t>
            </a:r>
            <a:r>
              <a:rPr sz="2000" spc="150" dirty="0">
                <a:solidFill>
                  <a:srgbClr val="292934"/>
                </a:solidFill>
                <a:latin typeface="Arial MT"/>
                <a:cs typeface="Arial MT"/>
              </a:rPr>
              <a:t> </a:t>
            </a:r>
            <a:r>
              <a:rPr sz="2000" spc="-10" dirty="0">
                <a:solidFill>
                  <a:srgbClr val="292934"/>
                </a:solidFill>
                <a:latin typeface="Arial MT"/>
                <a:cs typeface="Arial MT"/>
              </a:rPr>
              <a:t>real-</a:t>
            </a:r>
            <a:r>
              <a:rPr sz="2000" dirty="0">
                <a:solidFill>
                  <a:srgbClr val="292934"/>
                </a:solidFill>
                <a:latin typeface="Arial MT"/>
                <a:cs typeface="Arial MT"/>
              </a:rPr>
              <a:t>world</a:t>
            </a:r>
            <a:r>
              <a:rPr sz="2000" spc="145" dirty="0">
                <a:solidFill>
                  <a:srgbClr val="292934"/>
                </a:solidFill>
                <a:latin typeface="Arial MT"/>
                <a:cs typeface="Arial MT"/>
              </a:rPr>
              <a:t> </a:t>
            </a:r>
            <a:r>
              <a:rPr sz="2000" spc="-10" dirty="0">
                <a:solidFill>
                  <a:srgbClr val="292934"/>
                </a:solidFill>
                <a:latin typeface="Arial MT"/>
                <a:cs typeface="Arial MT"/>
              </a:rPr>
              <a:t>clinical</a:t>
            </a:r>
            <a:endParaRPr sz="2000" dirty="0">
              <a:latin typeface="Arial MT"/>
              <a:cs typeface="Arial MT"/>
            </a:endParaRPr>
          </a:p>
          <a:p>
            <a:pPr marL="355600">
              <a:lnSpc>
                <a:spcPct val="100000"/>
              </a:lnSpc>
              <a:spcBef>
                <a:spcPts val="1200"/>
              </a:spcBef>
            </a:pPr>
            <a:r>
              <a:rPr sz="2000" spc="-10" dirty="0">
                <a:solidFill>
                  <a:srgbClr val="292934"/>
                </a:solidFill>
                <a:latin typeface="Arial MT"/>
                <a:cs typeface="Arial MT"/>
              </a:rPr>
              <a:t>applications.</a:t>
            </a:r>
            <a:endParaRPr sz="2000" dirty="0">
              <a:latin typeface="Arial MT"/>
              <a:cs typeface="Arial M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F1FB4-D563-DE40-5AE3-4C2B5E89C55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5E5FBF7-EFFC-E6D5-C68E-78E80FE39340}"/>
              </a:ext>
            </a:extLst>
          </p:cNvPr>
          <p:cNvSpPr txBox="1"/>
          <p:nvPr/>
        </p:nvSpPr>
        <p:spPr>
          <a:xfrm>
            <a:off x="476608" y="1906937"/>
            <a:ext cx="11263943" cy="4216539"/>
          </a:xfrm>
          <a:prstGeom prst="rect">
            <a:avLst/>
          </a:prstGeom>
          <a:noFill/>
        </p:spPr>
        <p:txBody>
          <a:bodyPr wrap="square">
            <a:spAutoFit/>
          </a:bodyPr>
          <a:lstStyle/>
          <a:p>
            <a:pPr marL="469900" indent="-457200">
              <a:lnSpc>
                <a:spcPct val="100000"/>
              </a:lnSpc>
              <a:spcBef>
                <a:spcPts val="105"/>
              </a:spcBef>
              <a:buAutoNum type="arabicPeriod"/>
              <a:tabLst>
                <a:tab pos="469900" algn="l"/>
              </a:tabLst>
            </a:pPr>
            <a:r>
              <a:rPr lang="en-US" sz="2000" dirty="0">
                <a:solidFill>
                  <a:srgbClr val="292934"/>
                </a:solidFill>
                <a:latin typeface="Arial MT"/>
                <a:cs typeface="Arial MT"/>
              </a:rPr>
              <a:t>Problem</a:t>
            </a:r>
            <a:r>
              <a:rPr lang="en-US" sz="2000" spc="-15" dirty="0">
                <a:solidFill>
                  <a:srgbClr val="292934"/>
                </a:solidFill>
                <a:latin typeface="Arial MT"/>
                <a:cs typeface="Arial MT"/>
              </a:rPr>
              <a:t> </a:t>
            </a:r>
            <a:r>
              <a:rPr lang="en-US" sz="2000" spc="-10" dirty="0">
                <a:solidFill>
                  <a:srgbClr val="292934"/>
                </a:solidFill>
                <a:latin typeface="Arial MT"/>
                <a:cs typeface="Arial MT"/>
              </a:rPr>
              <a:t>Definition</a:t>
            </a:r>
            <a:endParaRPr lang="en-US" sz="2000" dirty="0">
              <a:latin typeface="Arial MT"/>
              <a:cs typeface="Arial MT"/>
            </a:endParaRPr>
          </a:p>
          <a:p>
            <a:pPr marL="469900" indent="-457200">
              <a:lnSpc>
                <a:spcPct val="100000"/>
              </a:lnSpc>
              <a:spcBef>
                <a:spcPts val="2195"/>
              </a:spcBef>
              <a:buAutoNum type="arabicPeriod"/>
              <a:tabLst>
                <a:tab pos="469900" algn="l"/>
              </a:tabLst>
            </a:pPr>
            <a:r>
              <a:rPr lang="en-US" sz="2000" dirty="0">
                <a:solidFill>
                  <a:srgbClr val="292934"/>
                </a:solidFill>
                <a:latin typeface="Arial MT"/>
                <a:cs typeface="Arial MT"/>
              </a:rPr>
              <a:t>Data</a:t>
            </a:r>
            <a:r>
              <a:rPr lang="en-US" sz="2000" spc="-60" dirty="0">
                <a:solidFill>
                  <a:srgbClr val="292934"/>
                </a:solidFill>
                <a:latin typeface="Arial MT"/>
                <a:cs typeface="Arial MT"/>
              </a:rPr>
              <a:t> </a:t>
            </a:r>
            <a:r>
              <a:rPr lang="en-US" sz="2000" spc="-10" dirty="0">
                <a:solidFill>
                  <a:srgbClr val="292934"/>
                </a:solidFill>
                <a:latin typeface="Arial MT"/>
                <a:cs typeface="Arial MT"/>
              </a:rPr>
              <a:t>Collection</a:t>
            </a:r>
            <a:endParaRPr lang="en-US" sz="2000" dirty="0">
              <a:latin typeface="Arial MT"/>
              <a:cs typeface="Arial MT"/>
            </a:endParaRPr>
          </a:p>
          <a:p>
            <a:pPr marL="469900" indent="-457200">
              <a:lnSpc>
                <a:spcPct val="100000"/>
              </a:lnSpc>
              <a:spcBef>
                <a:spcPts val="2210"/>
              </a:spcBef>
              <a:buAutoNum type="arabicPeriod"/>
              <a:tabLst>
                <a:tab pos="469900" algn="l"/>
              </a:tabLst>
            </a:pPr>
            <a:r>
              <a:rPr lang="en-US" sz="2000" dirty="0">
                <a:solidFill>
                  <a:srgbClr val="292934"/>
                </a:solidFill>
                <a:latin typeface="Arial MT"/>
                <a:cs typeface="Arial MT"/>
              </a:rPr>
              <a:t>Data</a:t>
            </a:r>
            <a:r>
              <a:rPr lang="en-US" sz="2000" spc="-45" dirty="0">
                <a:solidFill>
                  <a:srgbClr val="292934"/>
                </a:solidFill>
                <a:latin typeface="Arial MT"/>
                <a:cs typeface="Arial MT"/>
              </a:rPr>
              <a:t> </a:t>
            </a:r>
            <a:r>
              <a:rPr lang="en-US" sz="2000" dirty="0">
                <a:solidFill>
                  <a:srgbClr val="292934"/>
                </a:solidFill>
                <a:latin typeface="Arial MT"/>
                <a:cs typeface="Arial MT"/>
              </a:rPr>
              <a:t>Preprocessing</a:t>
            </a:r>
            <a:r>
              <a:rPr lang="en-US" sz="2000" spc="-70" dirty="0">
                <a:solidFill>
                  <a:srgbClr val="292934"/>
                </a:solidFill>
                <a:latin typeface="Arial MT"/>
                <a:cs typeface="Arial MT"/>
              </a:rPr>
              <a:t> </a:t>
            </a:r>
            <a:r>
              <a:rPr lang="en-US" sz="2000" dirty="0">
                <a:solidFill>
                  <a:srgbClr val="292934"/>
                </a:solidFill>
                <a:latin typeface="Arial MT"/>
                <a:cs typeface="Arial MT"/>
              </a:rPr>
              <a:t>&amp;</a:t>
            </a:r>
            <a:r>
              <a:rPr lang="en-US" sz="2000" spc="-20" dirty="0">
                <a:solidFill>
                  <a:srgbClr val="292934"/>
                </a:solidFill>
                <a:latin typeface="Arial MT"/>
                <a:cs typeface="Arial MT"/>
              </a:rPr>
              <a:t> </a:t>
            </a:r>
            <a:r>
              <a:rPr lang="en-US" sz="2000" spc="-10" dirty="0">
                <a:solidFill>
                  <a:srgbClr val="292934"/>
                </a:solidFill>
                <a:latin typeface="Arial MT"/>
                <a:cs typeface="Arial MT"/>
              </a:rPr>
              <a:t>Cleaning</a:t>
            </a:r>
            <a:endParaRPr lang="en-US" sz="2000" dirty="0">
              <a:latin typeface="Arial MT"/>
              <a:cs typeface="Arial MT"/>
            </a:endParaRPr>
          </a:p>
          <a:p>
            <a:pPr marL="469900" indent="-457200">
              <a:lnSpc>
                <a:spcPct val="100000"/>
              </a:lnSpc>
              <a:spcBef>
                <a:spcPts val="2195"/>
              </a:spcBef>
              <a:buAutoNum type="arabicPeriod"/>
              <a:tabLst>
                <a:tab pos="469900" algn="l"/>
              </a:tabLst>
            </a:pPr>
            <a:r>
              <a:rPr lang="en-US" sz="2000" dirty="0">
                <a:solidFill>
                  <a:srgbClr val="292934"/>
                </a:solidFill>
                <a:latin typeface="Arial MT"/>
                <a:cs typeface="Arial MT"/>
              </a:rPr>
              <a:t>Exploratory</a:t>
            </a:r>
            <a:r>
              <a:rPr lang="en-US" sz="2000" spc="-30" dirty="0">
                <a:solidFill>
                  <a:srgbClr val="292934"/>
                </a:solidFill>
                <a:latin typeface="Arial MT"/>
                <a:cs typeface="Arial MT"/>
              </a:rPr>
              <a:t> </a:t>
            </a:r>
            <a:r>
              <a:rPr lang="en-US" sz="2000" spc="-10" dirty="0">
                <a:solidFill>
                  <a:srgbClr val="292934"/>
                </a:solidFill>
                <a:latin typeface="Arial MT"/>
                <a:cs typeface="Arial MT"/>
              </a:rPr>
              <a:t>Data</a:t>
            </a:r>
            <a:r>
              <a:rPr lang="en-US" sz="2000" spc="-140" dirty="0">
                <a:solidFill>
                  <a:srgbClr val="292934"/>
                </a:solidFill>
                <a:latin typeface="Arial MT"/>
                <a:cs typeface="Arial MT"/>
              </a:rPr>
              <a:t> </a:t>
            </a:r>
            <a:r>
              <a:rPr lang="en-US" sz="2000" dirty="0">
                <a:solidFill>
                  <a:srgbClr val="292934"/>
                </a:solidFill>
                <a:latin typeface="Arial MT"/>
                <a:cs typeface="Arial MT"/>
              </a:rPr>
              <a:t>Analysis </a:t>
            </a:r>
            <a:r>
              <a:rPr lang="en-US" sz="2000" spc="-20" dirty="0">
                <a:solidFill>
                  <a:srgbClr val="292934"/>
                </a:solidFill>
                <a:latin typeface="Arial MT"/>
                <a:cs typeface="Arial MT"/>
              </a:rPr>
              <a:t>(EDA)</a:t>
            </a:r>
            <a:endParaRPr lang="en-US" sz="2000" dirty="0">
              <a:latin typeface="Arial MT"/>
              <a:cs typeface="Arial MT"/>
            </a:endParaRPr>
          </a:p>
          <a:p>
            <a:pPr marL="469900" indent="-457200">
              <a:lnSpc>
                <a:spcPct val="100000"/>
              </a:lnSpc>
              <a:spcBef>
                <a:spcPts val="2200"/>
              </a:spcBef>
              <a:buAutoNum type="arabicPeriod"/>
              <a:tabLst>
                <a:tab pos="469900" algn="l"/>
              </a:tabLst>
            </a:pPr>
            <a:r>
              <a:rPr lang="en-US" sz="2000" dirty="0">
                <a:solidFill>
                  <a:srgbClr val="292934"/>
                </a:solidFill>
                <a:latin typeface="Arial MT"/>
                <a:cs typeface="Arial MT"/>
              </a:rPr>
              <a:t>Model</a:t>
            </a:r>
            <a:r>
              <a:rPr lang="en-US" sz="2000" spc="-35" dirty="0">
                <a:solidFill>
                  <a:srgbClr val="292934"/>
                </a:solidFill>
                <a:latin typeface="Arial MT"/>
                <a:cs typeface="Arial MT"/>
              </a:rPr>
              <a:t> </a:t>
            </a:r>
            <a:r>
              <a:rPr lang="en-US" sz="2000" spc="-10" dirty="0">
                <a:solidFill>
                  <a:srgbClr val="292934"/>
                </a:solidFill>
                <a:latin typeface="Arial MT"/>
                <a:cs typeface="Arial MT"/>
              </a:rPr>
              <a:t>Development</a:t>
            </a:r>
            <a:endParaRPr lang="en-US" sz="2000" dirty="0">
              <a:latin typeface="Arial MT"/>
              <a:cs typeface="Arial MT"/>
            </a:endParaRPr>
          </a:p>
          <a:p>
            <a:pPr marL="469900" indent="-457200">
              <a:lnSpc>
                <a:spcPct val="100000"/>
              </a:lnSpc>
              <a:spcBef>
                <a:spcPts val="2205"/>
              </a:spcBef>
              <a:buAutoNum type="arabicPeriod"/>
              <a:tabLst>
                <a:tab pos="469900" algn="l"/>
              </a:tabLst>
            </a:pPr>
            <a:r>
              <a:rPr lang="en-US" sz="2000" dirty="0">
                <a:solidFill>
                  <a:srgbClr val="292934"/>
                </a:solidFill>
                <a:latin typeface="Arial MT"/>
                <a:cs typeface="Arial MT"/>
              </a:rPr>
              <a:t>Deployment</a:t>
            </a:r>
            <a:r>
              <a:rPr lang="en-US" sz="2000" spc="-60" dirty="0">
                <a:solidFill>
                  <a:srgbClr val="292934"/>
                </a:solidFill>
                <a:latin typeface="Arial MT"/>
                <a:cs typeface="Arial MT"/>
              </a:rPr>
              <a:t> </a:t>
            </a:r>
            <a:r>
              <a:rPr lang="en-US" sz="2000" dirty="0">
                <a:solidFill>
                  <a:srgbClr val="292934"/>
                </a:solidFill>
                <a:latin typeface="Arial MT"/>
                <a:cs typeface="Arial MT"/>
              </a:rPr>
              <a:t>&amp;</a:t>
            </a:r>
            <a:r>
              <a:rPr lang="en-US" sz="2000" spc="-20" dirty="0">
                <a:solidFill>
                  <a:srgbClr val="292934"/>
                </a:solidFill>
                <a:latin typeface="Arial MT"/>
                <a:cs typeface="Arial MT"/>
              </a:rPr>
              <a:t> </a:t>
            </a:r>
            <a:r>
              <a:rPr lang="en-US" sz="2000" spc="-10" dirty="0">
                <a:solidFill>
                  <a:srgbClr val="292934"/>
                </a:solidFill>
                <a:latin typeface="Arial MT"/>
                <a:cs typeface="Arial MT"/>
              </a:rPr>
              <a:t>Interpretation</a:t>
            </a:r>
            <a:endParaRPr lang="en-US" sz="2000" dirty="0">
              <a:latin typeface="Arial MT"/>
              <a:cs typeface="Arial MT"/>
            </a:endParaRPr>
          </a:p>
          <a:p>
            <a:pPr marL="469900" indent="-457200">
              <a:lnSpc>
                <a:spcPct val="100000"/>
              </a:lnSpc>
              <a:spcBef>
                <a:spcPts val="2200"/>
              </a:spcBef>
              <a:buAutoNum type="arabicPeriod"/>
              <a:tabLst>
                <a:tab pos="469900" algn="l"/>
              </a:tabLst>
            </a:pPr>
            <a:r>
              <a:rPr lang="en-US" sz="2000" dirty="0">
                <a:solidFill>
                  <a:srgbClr val="292934"/>
                </a:solidFill>
                <a:latin typeface="Arial MT"/>
                <a:cs typeface="Arial MT"/>
              </a:rPr>
              <a:t>Conclusion</a:t>
            </a:r>
            <a:r>
              <a:rPr lang="en-US" sz="2000" spc="-70" dirty="0">
                <a:solidFill>
                  <a:srgbClr val="292934"/>
                </a:solidFill>
                <a:latin typeface="Arial MT"/>
                <a:cs typeface="Arial MT"/>
              </a:rPr>
              <a:t> </a:t>
            </a:r>
            <a:r>
              <a:rPr lang="en-US" sz="2000" dirty="0">
                <a:solidFill>
                  <a:srgbClr val="292934"/>
                </a:solidFill>
                <a:latin typeface="Arial MT"/>
                <a:cs typeface="Arial MT"/>
              </a:rPr>
              <a:t>&amp;</a:t>
            </a:r>
            <a:r>
              <a:rPr lang="en-US" sz="2000" spc="-50" dirty="0">
                <a:solidFill>
                  <a:srgbClr val="292934"/>
                </a:solidFill>
                <a:latin typeface="Arial MT"/>
                <a:cs typeface="Arial MT"/>
              </a:rPr>
              <a:t> </a:t>
            </a:r>
            <a:r>
              <a:rPr lang="en-US" sz="2000" dirty="0">
                <a:solidFill>
                  <a:srgbClr val="292934"/>
                </a:solidFill>
                <a:latin typeface="Arial MT"/>
                <a:cs typeface="Arial MT"/>
              </a:rPr>
              <a:t>Future</a:t>
            </a:r>
            <a:r>
              <a:rPr lang="en-US" sz="2000" spc="-70" dirty="0">
                <a:solidFill>
                  <a:srgbClr val="292934"/>
                </a:solidFill>
                <a:latin typeface="Arial MT"/>
                <a:cs typeface="Arial MT"/>
              </a:rPr>
              <a:t> </a:t>
            </a:r>
            <a:r>
              <a:rPr lang="en-US" sz="2000" spc="-20" dirty="0">
                <a:solidFill>
                  <a:srgbClr val="292934"/>
                </a:solidFill>
                <a:latin typeface="Arial MT"/>
                <a:cs typeface="Arial MT"/>
              </a:rPr>
              <a:t>Work</a:t>
            </a:r>
            <a:endParaRPr lang="en-US" sz="2000" dirty="0">
              <a:latin typeface="Arial MT"/>
              <a:cs typeface="Arial MT"/>
            </a:endParaRPr>
          </a:p>
          <a:p>
            <a:endParaRPr lang="en-US" dirty="0"/>
          </a:p>
        </p:txBody>
      </p:sp>
      <p:sp>
        <p:nvSpPr>
          <p:cNvPr id="11" name="TextBox 10">
            <a:extLst>
              <a:ext uri="{FF2B5EF4-FFF2-40B4-BE49-F238E27FC236}">
                <a16:creationId xmlns:a16="http://schemas.microsoft.com/office/drawing/2014/main" id="{14B9FDE3-FD6E-7057-EC21-C0F9F395A271}"/>
              </a:ext>
            </a:extLst>
          </p:cNvPr>
          <p:cNvSpPr txBox="1"/>
          <p:nvPr/>
        </p:nvSpPr>
        <p:spPr>
          <a:xfrm>
            <a:off x="476608" y="958044"/>
            <a:ext cx="6259472" cy="707886"/>
          </a:xfrm>
          <a:prstGeom prst="rect">
            <a:avLst/>
          </a:prstGeom>
          <a:noFill/>
        </p:spPr>
        <p:txBody>
          <a:bodyPr wrap="square">
            <a:spAutoFit/>
          </a:bodyPr>
          <a:lstStyle/>
          <a:p>
            <a:r>
              <a:rPr lang="en-US" sz="4000" b="1" dirty="0">
                <a:solidFill>
                  <a:schemeClr val="tx2"/>
                </a:solidFill>
              </a:rPr>
              <a:t>Proposed Methodology</a:t>
            </a:r>
          </a:p>
        </p:txBody>
      </p:sp>
    </p:spTree>
    <p:extLst>
      <p:ext uri="{BB962C8B-B14F-4D97-AF65-F5344CB8AC3E}">
        <p14:creationId xmlns:p14="http://schemas.microsoft.com/office/powerpoint/2010/main" val="1493905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01888-95A0-32B9-8335-0549E3B738C0}"/>
              </a:ext>
            </a:extLst>
          </p:cNvPr>
          <p:cNvSpPr>
            <a:spLocks noGrp="1"/>
          </p:cNvSpPr>
          <p:nvPr>
            <p:ph type="title"/>
          </p:nvPr>
        </p:nvSpPr>
        <p:spPr/>
        <p:txBody>
          <a:bodyPr/>
          <a:lstStyle/>
          <a:p>
            <a:r>
              <a:rPr lang="en-IN" b="1" dirty="0"/>
              <a:t>Screenshots</a:t>
            </a:r>
          </a:p>
        </p:txBody>
      </p:sp>
      <p:pic>
        <p:nvPicPr>
          <p:cNvPr id="5" name="Picture 4">
            <a:extLst>
              <a:ext uri="{FF2B5EF4-FFF2-40B4-BE49-F238E27FC236}">
                <a16:creationId xmlns:a16="http://schemas.microsoft.com/office/drawing/2014/main" id="{BE9991E4-FA80-99DE-7C2E-DBDAC3139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653911"/>
            <a:ext cx="7467600" cy="3823586"/>
          </a:xfrm>
          <a:prstGeom prst="rect">
            <a:avLst/>
          </a:prstGeom>
        </p:spPr>
      </p:pic>
      <p:sp>
        <p:nvSpPr>
          <p:cNvPr id="6" name="TextBox 5">
            <a:extLst>
              <a:ext uri="{FF2B5EF4-FFF2-40B4-BE49-F238E27FC236}">
                <a16:creationId xmlns:a16="http://schemas.microsoft.com/office/drawing/2014/main" id="{8AE493DF-1BF0-F2EF-1EEA-08F631B0A72F}"/>
              </a:ext>
            </a:extLst>
          </p:cNvPr>
          <p:cNvSpPr txBox="1"/>
          <p:nvPr/>
        </p:nvSpPr>
        <p:spPr>
          <a:xfrm>
            <a:off x="4856480" y="5590660"/>
            <a:ext cx="3637280" cy="369332"/>
          </a:xfrm>
          <a:prstGeom prst="rect">
            <a:avLst/>
          </a:prstGeom>
          <a:noFill/>
        </p:spPr>
        <p:txBody>
          <a:bodyPr wrap="square" rtlCol="0">
            <a:spAutoFit/>
          </a:bodyPr>
          <a:lstStyle/>
          <a:p>
            <a:r>
              <a:rPr lang="en-IN" dirty="0"/>
              <a:t>Fig1: Prediction Page</a:t>
            </a:r>
          </a:p>
        </p:txBody>
      </p:sp>
    </p:spTree>
    <p:extLst>
      <p:ext uri="{BB962C8B-B14F-4D97-AF65-F5344CB8AC3E}">
        <p14:creationId xmlns:p14="http://schemas.microsoft.com/office/powerpoint/2010/main" val="2738706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384F-125E-933C-6EC7-2090D00E82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A3812A-D514-2EB5-6603-09AA68CB1D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653911"/>
            <a:ext cx="7467600" cy="3823586"/>
          </a:xfrm>
          <a:prstGeom prst="rect">
            <a:avLst/>
          </a:prstGeom>
        </p:spPr>
      </p:pic>
      <p:sp>
        <p:nvSpPr>
          <p:cNvPr id="6" name="TextBox 5">
            <a:extLst>
              <a:ext uri="{FF2B5EF4-FFF2-40B4-BE49-F238E27FC236}">
                <a16:creationId xmlns:a16="http://schemas.microsoft.com/office/drawing/2014/main" id="{8E4B5943-A578-C1AE-A7F5-115554780E5C}"/>
              </a:ext>
            </a:extLst>
          </p:cNvPr>
          <p:cNvSpPr txBox="1"/>
          <p:nvPr/>
        </p:nvSpPr>
        <p:spPr>
          <a:xfrm>
            <a:off x="4856480" y="5590660"/>
            <a:ext cx="3637280" cy="369332"/>
          </a:xfrm>
          <a:prstGeom prst="rect">
            <a:avLst/>
          </a:prstGeom>
          <a:noFill/>
        </p:spPr>
        <p:txBody>
          <a:bodyPr wrap="square" rtlCol="0">
            <a:spAutoFit/>
          </a:bodyPr>
          <a:lstStyle/>
          <a:p>
            <a:r>
              <a:rPr lang="en-IN" dirty="0"/>
              <a:t>Fig2 : Overall Prediction</a:t>
            </a:r>
          </a:p>
        </p:txBody>
      </p:sp>
      <p:pic>
        <p:nvPicPr>
          <p:cNvPr id="4" name="Picture 3">
            <a:extLst>
              <a:ext uri="{FF2B5EF4-FFF2-40B4-BE49-F238E27FC236}">
                <a16:creationId xmlns:a16="http://schemas.microsoft.com/office/drawing/2014/main" id="{F9425376-CC8B-38D9-76FD-97D25FCB12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1653911"/>
            <a:ext cx="7467600" cy="3823586"/>
          </a:xfrm>
          <a:prstGeom prst="rect">
            <a:avLst/>
          </a:prstGeom>
        </p:spPr>
      </p:pic>
    </p:spTree>
    <p:extLst>
      <p:ext uri="{BB962C8B-B14F-4D97-AF65-F5344CB8AC3E}">
        <p14:creationId xmlns:p14="http://schemas.microsoft.com/office/powerpoint/2010/main" val="3037220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A428D-882D-6B7B-31D1-770D073D535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F486E2B-B818-EB81-9D15-467FB4E1B8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1653911"/>
            <a:ext cx="7467600" cy="3823586"/>
          </a:xfrm>
          <a:prstGeom prst="rect">
            <a:avLst/>
          </a:prstGeom>
        </p:spPr>
      </p:pic>
      <p:sp>
        <p:nvSpPr>
          <p:cNvPr id="6" name="TextBox 5">
            <a:extLst>
              <a:ext uri="{FF2B5EF4-FFF2-40B4-BE49-F238E27FC236}">
                <a16:creationId xmlns:a16="http://schemas.microsoft.com/office/drawing/2014/main" id="{8E823EB4-F15D-9F93-F1BC-9DC7F93C77D3}"/>
              </a:ext>
            </a:extLst>
          </p:cNvPr>
          <p:cNvSpPr txBox="1"/>
          <p:nvPr/>
        </p:nvSpPr>
        <p:spPr>
          <a:xfrm>
            <a:off x="4856480" y="5590660"/>
            <a:ext cx="3637280" cy="369332"/>
          </a:xfrm>
          <a:prstGeom prst="rect">
            <a:avLst/>
          </a:prstGeom>
          <a:noFill/>
        </p:spPr>
        <p:txBody>
          <a:bodyPr wrap="square" rtlCol="0">
            <a:spAutoFit/>
          </a:bodyPr>
          <a:lstStyle/>
          <a:p>
            <a:r>
              <a:rPr lang="en-IN" dirty="0"/>
              <a:t>Fig 3: Insights Page</a:t>
            </a:r>
          </a:p>
        </p:txBody>
      </p:sp>
      <p:pic>
        <p:nvPicPr>
          <p:cNvPr id="8" name="Picture 7">
            <a:extLst>
              <a:ext uri="{FF2B5EF4-FFF2-40B4-BE49-F238E27FC236}">
                <a16:creationId xmlns:a16="http://schemas.microsoft.com/office/drawing/2014/main" id="{6479395A-94BE-900D-892A-DB875FE1D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2200" y="1637163"/>
            <a:ext cx="7467600" cy="3840334"/>
          </a:xfrm>
          <a:prstGeom prst="rect">
            <a:avLst/>
          </a:prstGeom>
        </p:spPr>
      </p:pic>
    </p:spTree>
    <p:extLst>
      <p:ext uri="{BB962C8B-B14F-4D97-AF65-F5344CB8AC3E}">
        <p14:creationId xmlns:p14="http://schemas.microsoft.com/office/powerpoint/2010/main" val="3705614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81A8D-6493-2EC1-DE26-41FE9A73C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BFF752-7EA5-D463-8D52-C2F3463C5A40}"/>
              </a:ext>
            </a:extLst>
          </p:cNvPr>
          <p:cNvSpPr txBox="1"/>
          <p:nvPr/>
        </p:nvSpPr>
        <p:spPr>
          <a:xfrm>
            <a:off x="258792" y="1915521"/>
            <a:ext cx="11516648" cy="3266985"/>
          </a:xfrm>
          <a:prstGeom prst="rect">
            <a:avLst/>
          </a:prstGeom>
          <a:noFill/>
        </p:spPr>
        <p:txBody>
          <a:bodyPr wrap="square">
            <a:spAutoFit/>
          </a:bodyPr>
          <a:lstStyle/>
          <a:p>
            <a:pPr algn="just">
              <a:lnSpc>
                <a:spcPct val="150000"/>
              </a:lnSpc>
            </a:pPr>
            <a:r>
              <a:rPr lang="en-US" sz="2000" dirty="0"/>
              <a:t>In conclusion, this project has explored the potential of using machine learning and data analytics to predict breast cancer outcomes, focusing on the prediction of whether a tumor is benign or malignant. By utilizing various machine learning techniques such as logistic regression, decision trees, and support vector machines (SVM) and Random Forest. This project has demonstrated that AI models can offer valuable insights for early detection, significantly enhancing the ability to diagnose breast cancer at earlier stages, thereby improving the chances of successful treatment and survival.</a:t>
            </a:r>
          </a:p>
        </p:txBody>
      </p:sp>
      <p:sp>
        <p:nvSpPr>
          <p:cNvPr id="5" name="TextBox 4">
            <a:extLst>
              <a:ext uri="{FF2B5EF4-FFF2-40B4-BE49-F238E27FC236}">
                <a16:creationId xmlns:a16="http://schemas.microsoft.com/office/drawing/2014/main" id="{D0B41EE9-BE20-B823-02D1-81473E84EBB7}"/>
              </a:ext>
            </a:extLst>
          </p:cNvPr>
          <p:cNvSpPr txBox="1"/>
          <p:nvPr/>
        </p:nvSpPr>
        <p:spPr>
          <a:xfrm>
            <a:off x="258792" y="1330746"/>
            <a:ext cx="6094562" cy="584775"/>
          </a:xfrm>
          <a:prstGeom prst="rect">
            <a:avLst/>
          </a:prstGeom>
          <a:noFill/>
        </p:spPr>
        <p:txBody>
          <a:bodyPr wrap="square">
            <a:spAutoFit/>
          </a:bodyPr>
          <a:lstStyle/>
          <a:p>
            <a:r>
              <a:rPr lang="en-US" sz="3200" b="1" dirty="0">
                <a:solidFill>
                  <a:schemeClr val="tx2"/>
                </a:solidFill>
              </a:rPr>
              <a:t>Conclusion</a:t>
            </a:r>
          </a:p>
        </p:txBody>
      </p:sp>
    </p:spTree>
    <p:extLst>
      <p:ext uri="{BB962C8B-B14F-4D97-AF65-F5344CB8AC3E}">
        <p14:creationId xmlns:p14="http://schemas.microsoft.com/office/powerpoint/2010/main" val="374369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EE487-4D10-DC35-E2C3-B01CD9BD93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0F4C51-AC4B-92FD-04EB-39AFC70C8127}"/>
              </a:ext>
            </a:extLst>
          </p:cNvPr>
          <p:cNvSpPr txBox="1"/>
          <p:nvPr/>
        </p:nvSpPr>
        <p:spPr>
          <a:xfrm>
            <a:off x="347836" y="1529441"/>
            <a:ext cx="11496328" cy="5170646"/>
          </a:xfrm>
          <a:prstGeom prst="rect">
            <a:avLst/>
          </a:prstGeom>
          <a:noFill/>
        </p:spPr>
        <p:txBody>
          <a:bodyPr wrap="square">
            <a:spAutoFit/>
          </a:bodyPr>
          <a:lstStyle/>
          <a:p>
            <a:pPr marL="457200" indent="-457200">
              <a:lnSpc>
                <a:spcPct val="150000"/>
              </a:lnSpc>
              <a:buAutoNum type="arabicPeriod"/>
            </a:pPr>
            <a:r>
              <a:rPr lang="en-US" sz="2000" b="1" dirty="0"/>
              <a:t>Ahmad, M., &amp; Yaseen, M. (2020). </a:t>
            </a:r>
            <a:r>
              <a:rPr lang="en-US" sz="2000" dirty="0"/>
              <a:t>Predicting Breast Cancer using Machine Learning Algorithms: A Survey of Techniques. </a:t>
            </a:r>
            <a:r>
              <a:rPr lang="en-US" sz="2000" i="1" dirty="0"/>
              <a:t>Journal of Computational Science</a:t>
            </a:r>
            <a:r>
              <a:rPr lang="en-US" sz="2000" dirty="0"/>
              <a:t>, 38, 101047.</a:t>
            </a:r>
          </a:p>
          <a:p>
            <a:pPr marL="457200" indent="-457200">
              <a:lnSpc>
                <a:spcPct val="150000"/>
              </a:lnSpc>
              <a:buFont typeface="+mj-lt"/>
              <a:buAutoNum type="arabicPeriod"/>
            </a:pPr>
            <a:r>
              <a:rPr lang="en-US" sz="2000" b="1" dirty="0"/>
              <a:t>Delen, D., &amp; Crossland, M. D. (2013).</a:t>
            </a:r>
            <a:r>
              <a:rPr lang="en-US" sz="2000" dirty="0"/>
              <a:t> Predicting Breast Cancer Survivability: A Comparison of          Machine Learning Techniques. </a:t>
            </a:r>
            <a:r>
              <a:rPr lang="en-US" sz="2000" i="1" dirty="0"/>
              <a:t>Expert Systems with Applications</a:t>
            </a:r>
            <a:r>
              <a:rPr lang="en-US" sz="2000" dirty="0"/>
              <a:t>, 40(10), 4342-4350.</a:t>
            </a:r>
          </a:p>
          <a:p>
            <a:pPr marL="457200" indent="-457200">
              <a:lnSpc>
                <a:spcPct val="150000"/>
              </a:lnSpc>
              <a:buFont typeface="+mj-lt"/>
              <a:buAutoNum type="arabicPeriod"/>
            </a:pPr>
            <a:r>
              <a:rPr lang="en-US" sz="2000" b="1" dirty="0"/>
              <a:t>Sun, J., &amp; Wang, J. (2019).</a:t>
            </a:r>
            <a:r>
              <a:rPr lang="en-US" sz="2000" dirty="0"/>
              <a:t> Predicting Breast Cancer Recurrence Using Machine Learning Algorithms. </a:t>
            </a:r>
            <a:r>
              <a:rPr lang="en-US" sz="2000" i="1" dirty="0"/>
              <a:t>Computers in Biology and Medicine</a:t>
            </a:r>
            <a:r>
              <a:rPr lang="en-US" sz="2000" dirty="0"/>
              <a:t>, 118, 103613.</a:t>
            </a:r>
          </a:p>
          <a:p>
            <a:pPr marL="457200" indent="-457200">
              <a:lnSpc>
                <a:spcPct val="150000"/>
              </a:lnSpc>
              <a:buFont typeface="+mj-lt"/>
              <a:buAutoNum type="arabicPeriod"/>
            </a:pPr>
            <a:r>
              <a:rPr lang="en-US" sz="2000" b="1" dirty="0"/>
              <a:t>Rahman, S., &amp; Ahsan, M. (2017). </a:t>
            </a:r>
            <a:r>
              <a:rPr lang="en-US" sz="2000" dirty="0"/>
              <a:t>Predicting Breast Cancer Using Machine Learning Techniques: A Comparative Study. </a:t>
            </a:r>
            <a:r>
              <a:rPr lang="en-US" sz="2000" i="1" dirty="0"/>
              <a:t>International Journal of Machine Learning and Computing</a:t>
            </a:r>
            <a:r>
              <a:rPr lang="en-US" sz="2000" dirty="0"/>
              <a:t>, 7(5), 132-136.</a:t>
            </a:r>
          </a:p>
          <a:p>
            <a:pPr marL="457200" indent="-457200">
              <a:buFont typeface="+mj-lt"/>
              <a:buAutoNum type="arabicPeriod"/>
            </a:pPr>
            <a:endParaRPr lang="en-US" sz="2000" dirty="0"/>
          </a:p>
          <a:p>
            <a:endParaRPr lang="en-US" sz="2000" dirty="0"/>
          </a:p>
          <a:p>
            <a:pPr marL="457200" indent="-457200">
              <a:buAutoNum type="arabicPeriod"/>
            </a:pPr>
            <a:endParaRPr lang="en-US" sz="2000" dirty="0"/>
          </a:p>
        </p:txBody>
      </p:sp>
      <p:sp>
        <p:nvSpPr>
          <p:cNvPr id="5" name="TextBox 4">
            <a:extLst>
              <a:ext uri="{FF2B5EF4-FFF2-40B4-BE49-F238E27FC236}">
                <a16:creationId xmlns:a16="http://schemas.microsoft.com/office/drawing/2014/main" id="{4B2D1EF0-A427-6485-F7BD-DE6DFE9D8B27}"/>
              </a:ext>
            </a:extLst>
          </p:cNvPr>
          <p:cNvSpPr txBox="1"/>
          <p:nvPr/>
        </p:nvSpPr>
        <p:spPr>
          <a:xfrm>
            <a:off x="360392" y="680506"/>
            <a:ext cx="6094562" cy="584775"/>
          </a:xfrm>
          <a:prstGeom prst="rect">
            <a:avLst/>
          </a:prstGeom>
          <a:noFill/>
        </p:spPr>
        <p:txBody>
          <a:bodyPr wrap="square">
            <a:spAutoFit/>
          </a:bodyPr>
          <a:lstStyle/>
          <a:p>
            <a:r>
              <a:rPr lang="en-US" sz="3200" b="1" dirty="0">
                <a:solidFill>
                  <a:schemeClr val="tx2"/>
                </a:solidFill>
              </a:rPr>
              <a:t>References</a:t>
            </a:r>
          </a:p>
        </p:txBody>
      </p:sp>
    </p:spTree>
    <p:extLst>
      <p:ext uri="{BB962C8B-B14F-4D97-AF65-F5344CB8AC3E}">
        <p14:creationId xmlns:p14="http://schemas.microsoft.com/office/powerpoint/2010/main" val="22407327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344</TotalTime>
  <Words>841</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MT</vt:lpstr>
      <vt:lpstr>Calibri</vt:lpstr>
      <vt:lpstr>Times New Roman</vt:lpstr>
      <vt:lpstr>Clarity</vt:lpstr>
      <vt:lpstr>                                                                                                  Department of Computer Science &amp; Engineering                                                                                   Mammary Carcinoma                                                                                                                                                      Batch no. 39                                                                                                                                     1. 2211CS010363 (M. Bhargav)                                                                                                                                      2. 2211CS010459 (P. Charan sai)                                                                                                                                  3. 2211CS010404 (N. Uday Kumar)           4. 2211CS010514 (S. Harsha Vardhan)                           Guide          Mr. G. Raju</vt:lpstr>
      <vt:lpstr>Table of Contents</vt:lpstr>
      <vt:lpstr>PowerPoint Presentation</vt:lpstr>
      <vt:lpstr>PowerPoint Presentation</vt:lpstr>
      <vt:lpstr>LIMITATIONS OF EXISTING ALGORITHMS</vt:lpstr>
      <vt:lpstr>PowerPoint Presentation</vt:lpstr>
      <vt:lpstr>Screenshots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Penakalapati Charan Sai</cp:lastModifiedBy>
  <cp:revision>36</cp:revision>
  <dcterms:created xsi:type="dcterms:W3CDTF">2021-11-21T08:56:41Z</dcterms:created>
  <dcterms:modified xsi:type="dcterms:W3CDTF">2025-04-04T06:37:16Z</dcterms:modified>
</cp:coreProperties>
</file>