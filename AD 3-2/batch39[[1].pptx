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p:cViewPr varScale="1">
        <p:scale>
          <a:sx n="63" d="100"/>
          <a:sy n="63" d="100"/>
        </p:scale>
        <p:origin x="78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rgbClr val="D2523B"/>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1" i="0">
                <a:solidFill>
                  <a:srgbClr val="29293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D2523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1" i="0">
                <a:solidFill>
                  <a:srgbClr val="29293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D2523B"/>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D2523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365760"/>
          </a:xfrm>
          <a:custGeom>
            <a:avLst/>
            <a:gdLst/>
            <a:ahLst/>
            <a:cxnLst/>
            <a:rect l="l" t="t" r="r" b="b"/>
            <a:pathLst>
              <a:path w="12192000" h="365760">
                <a:moveTo>
                  <a:pt x="12192000" y="0"/>
                </a:moveTo>
                <a:lnTo>
                  <a:pt x="0" y="0"/>
                </a:lnTo>
                <a:lnTo>
                  <a:pt x="0" y="365760"/>
                </a:lnTo>
                <a:lnTo>
                  <a:pt x="12192000" y="365760"/>
                </a:lnTo>
                <a:lnTo>
                  <a:pt x="12192000" y="0"/>
                </a:lnTo>
                <a:close/>
              </a:path>
            </a:pathLst>
          </a:custGeom>
          <a:solidFill>
            <a:srgbClr val="92A199"/>
          </a:solidFill>
        </p:spPr>
        <p:txBody>
          <a:bodyPr wrap="square" lIns="0" tIns="0" rIns="0" bIns="0" rtlCol="0"/>
          <a:lstStyle/>
          <a:p>
            <a:endParaRPr/>
          </a:p>
        </p:txBody>
      </p:sp>
      <p:sp>
        <p:nvSpPr>
          <p:cNvPr id="2" name="Holder 2"/>
          <p:cNvSpPr>
            <a:spLocks noGrp="1"/>
          </p:cNvSpPr>
          <p:nvPr>
            <p:ph type="title"/>
          </p:nvPr>
        </p:nvSpPr>
        <p:spPr>
          <a:xfrm>
            <a:off x="688340" y="697737"/>
            <a:ext cx="9667875" cy="635000"/>
          </a:xfrm>
          <a:prstGeom prst="rect">
            <a:avLst/>
          </a:prstGeom>
        </p:spPr>
        <p:txBody>
          <a:bodyPr wrap="square" lIns="0" tIns="0" rIns="0" bIns="0">
            <a:spAutoFit/>
          </a:bodyPr>
          <a:lstStyle>
            <a:lvl1pPr>
              <a:defRPr sz="4000" b="1" i="0">
                <a:solidFill>
                  <a:srgbClr val="D2523B"/>
                </a:solidFill>
                <a:latin typeface="Arial"/>
                <a:cs typeface="Arial"/>
              </a:defRPr>
            </a:lvl1pPr>
          </a:lstStyle>
          <a:p>
            <a:endParaRPr/>
          </a:p>
        </p:txBody>
      </p:sp>
      <p:sp>
        <p:nvSpPr>
          <p:cNvPr id="3" name="Holder 3"/>
          <p:cNvSpPr>
            <a:spLocks noGrp="1"/>
          </p:cNvSpPr>
          <p:nvPr>
            <p:ph type="body" idx="1"/>
          </p:nvPr>
        </p:nvSpPr>
        <p:spPr>
          <a:xfrm>
            <a:off x="688340" y="1343380"/>
            <a:ext cx="10908665" cy="4690110"/>
          </a:xfrm>
          <a:prstGeom prst="rect">
            <a:avLst/>
          </a:prstGeom>
        </p:spPr>
        <p:txBody>
          <a:bodyPr wrap="square" lIns="0" tIns="0" rIns="0" bIns="0">
            <a:spAutoFit/>
          </a:bodyPr>
          <a:lstStyle>
            <a:lvl1pPr>
              <a:defRPr sz="2000" b="1" i="0">
                <a:solidFill>
                  <a:srgbClr val="292934"/>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datasets/paultimothymooney/breast-histopathology-images" TargetMode="External"/><Relationship Id="rId2" Type="http://schemas.openxmlformats.org/officeDocument/2006/relationships/hyperlink" Target="https://archive.ics.uci.edu/dataset/17/breast+cancer+wisconsin+diagnostic" TargetMode="External"/><Relationship Id="rId1" Type="http://schemas.openxmlformats.org/officeDocument/2006/relationships/slideLayout" Target="../slideLayouts/slideLayout2.xml"/><Relationship Id="rId5" Type="http://schemas.openxmlformats.org/officeDocument/2006/relationships/hyperlink" Target="https://pmc.ncbi.nlm.nih.gov/articles/PMC10840064/#:~:text=Recently%2C%20explainable%20artificial%20intelligence%20(XAI,and%20ultrasound" TargetMode="External"/><Relationship Id="rId4" Type="http://schemas.openxmlformats.org/officeDocument/2006/relationships/hyperlink" Target="https://pmc.ncbi.nlm.nih.gov/articles/PMC991334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29303" y="1810003"/>
            <a:ext cx="7745095" cy="3057525"/>
          </a:xfrm>
          <a:prstGeom prst="rect">
            <a:avLst/>
          </a:prstGeom>
        </p:spPr>
        <p:txBody>
          <a:bodyPr vert="horz" wrap="square" lIns="0" tIns="12700" rIns="0" bIns="0" rtlCol="0">
            <a:spAutoFit/>
          </a:bodyPr>
          <a:lstStyle/>
          <a:p>
            <a:pPr marL="12700">
              <a:lnSpc>
                <a:spcPct val="100000"/>
              </a:lnSpc>
              <a:spcBef>
                <a:spcPts val="100"/>
              </a:spcBef>
            </a:pPr>
            <a:r>
              <a:rPr sz="1800" b="1" spc="-100" dirty="0">
                <a:solidFill>
                  <a:srgbClr val="FF0000"/>
                </a:solidFill>
                <a:latin typeface="Times New Roman"/>
                <a:cs typeface="Times New Roman"/>
              </a:rPr>
              <a:t>Department</a:t>
            </a:r>
            <a:r>
              <a:rPr sz="1800" b="1" spc="-195" dirty="0">
                <a:solidFill>
                  <a:srgbClr val="FF0000"/>
                </a:solidFill>
                <a:latin typeface="Times New Roman"/>
                <a:cs typeface="Times New Roman"/>
              </a:rPr>
              <a:t> </a:t>
            </a:r>
            <a:r>
              <a:rPr sz="1800" b="1" spc="-60" dirty="0">
                <a:solidFill>
                  <a:srgbClr val="FF0000"/>
                </a:solidFill>
                <a:latin typeface="Times New Roman"/>
                <a:cs typeface="Times New Roman"/>
              </a:rPr>
              <a:t>of</a:t>
            </a:r>
            <a:r>
              <a:rPr sz="1800" b="1" spc="-165" dirty="0">
                <a:solidFill>
                  <a:srgbClr val="FF0000"/>
                </a:solidFill>
                <a:latin typeface="Times New Roman"/>
                <a:cs typeface="Times New Roman"/>
              </a:rPr>
              <a:t> </a:t>
            </a:r>
            <a:r>
              <a:rPr sz="1800" b="1" spc="-95" dirty="0">
                <a:solidFill>
                  <a:srgbClr val="FF0000"/>
                </a:solidFill>
                <a:latin typeface="Times New Roman"/>
                <a:cs typeface="Times New Roman"/>
              </a:rPr>
              <a:t>Computer</a:t>
            </a:r>
            <a:r>
              <a:rPr sz="1800" b="1" spc="-220" dirty="0">
                <a:solidFill>
                  <a:srgbClr val="FF0000"/>
                </a:solidFill>
                <a:latin typeface="Times New Roman"/>
                <a:cs typeface="Times New Roman"/>
              </a:rPr>
              <a:t> </a:t>
            </a:r>
            <a:r>
              <a:rPr sz="1800" b="1" spc="-95" dirty="0">
                <a:solidFill>
                  <a:srgbClr val="FF0000"/>
                </a:solidFill>
                <a:latin typeface="Times New Roman"/>
                <a:cs typeface="Times New Roman"/>
              </a:rPr>
              <a:t>Science</a:t>
            </a:r>
            <a:r>
              <a:rPr sz="1800" b="1" spc="-240" dirty="0">
                <a:solidFill>
                  <a:srgbClr val="FF0000"/>
                </a:solidFill>
                <a:latin typeface="Times New Roman"/>
                <a:cs typeface="Times New Roman"/>
              </a:rPr>
              <a:t> </a:t>
            </a:r>
            <a:r>
              <a:rPr sz="1800" b="1" spc="-15" dirty="0">
                <a:solidFill>
                  <a:srgbClr val="FF0000"/>
                </a:solidFill>
                <a:latin typeface="Times New Roman"/>
                <a:cs typeface="Times New Roman"/>
              </a:rPr>
              <a:t>&amp;</a:t>
            </a:r>
            <a:r>
              <a:rPr sz="1800" b="1" spc="-150" dirty="0">
                <a:solidFill>
                  <a:srgbClr val="FF0000"/>
                </a:solidFill>
                <a:latin typeface="Times New Roman"/>
                <a:cs typeface="Times New Roman"/>
              </a:rPr>
              <a:t> </a:t>
            </a:r>
            <a:r>
              <a:rPr sz="1800" b="1" spc="-10" dirty="0">
                <a:solidFill>
                  <a:srgbClr val="FF0000"/>
                </a:solidFill>
                <a:latin typeface="Times New Roman"/>
                <a:cs typeface="Times New Roman"/>
              </a:rPr>
              <a:t>Engineering</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290"/>
              </a:spcBef>
            </a:pPr>
            <a:endParaRPr sz="1800">
              <a:latin typeface="Times New Roman"/>
              <a:cs typeface="Times New Roman"/>
            </a:endParaRPr>
          </a:p>
          <a:p>
            <a:pPr marL="927100">
              <a:lnSpc>
                <a:spcPct val="100000"/>
              </a:lnSpc>
            </a:pPr>
            <a:r>
              <a:rPr sz="1800" b="1" spc="-100" dirty="0">
                <a:solidFill>
                  <a:srgbClr val="292934"/>
                </a:solidFill>
                <a:latin typeface="Times New Roman"/>
                <a:cs typeface="Times New Roman"/>
              </a:rPr>
              <a:t>Mammary</a:t>
            </a:r>
            <a:r>
              <a:rPr sz="1800" b="1" spc="-180" dirty="0">
                <a:solidFill>
                  <a:srgbClr val="292934"/>
                </a:solidFill>
                <a:latin typeface="Times New Roman"/>
                <a:cs typeface="Times New Roman"/>
              </a:rPr>
              <a:t> </a:t>
            </a:r>
            <a:r>
              <a:rPr sz="1800" b="1" spc="-10" dirty="0">
                <a:solidFill>
                  <a:srgbClr val="292934"/>
                </a:solidFill>
                <a:latin typeface="Times New Roman"/>
                <a:cs typeface="Times New Roman"/>
              </a:rPr>
              <a:t>Carcinoma</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80"/>
              </a:spcBef>
            </a:pPr>
            <a:endParaRPr sz="1800">
              <a:latin typeface="Times New Roman"/>
              <a:cs typeface="Times New Roman"/>
            </a:endParaRPr>
          </a:p>
          <a:p>
            <a:pPr marL="3670935">
              <a:lnSpc>
                <a:spcPct val="100000"/>
              </a:lnSpc>
            </a:pPr>
            <a:r>
              <a:rPr sz="1800" b="1" spc="-90" dirty="0">
                <a:solidFill>
                  <a:srgbClr val="292934"/>
                </a:solidFill>
                <a:latin typeface="Times New Roman"/>
                <a:cs typeface="Times New Roman"/>
              </a:rPr>
              <a:t>Batch</a:t>
            </a:r>
            <a:r>
              <a:rPr sz="1800" b="1" spc="-204" dirty="0">
                <a:solidFill>
                  <a:srgbClr val="292934"/>
                </a:solidFill>
                <a:latin typeface="Times New Roman"/>
                <a:cs typeface="Times New Roman"/>
              </a:rPr>
              <a:t> </a:t>
            </a:r>
            <a:r>
              <a:rPr sz="1800" b="1" spc="-75" dirty="0">
                <a:solidFill>
                  <a:srgbClr val="292934"/>
                </a:solidFill>
                <a:latin typeface="Times New Roman"/>
                <a:cs typeface="Times New Roman"/>
              </a:rPr>
              <a:t>no.</a:t>
            </a:r>
            <a:r>
              <a:rPr sz="1800" b="1" spc="-170" dirty="0">
                <a:solidFill>
                  <a:srgbClr val="292934"/>
                </a:solidFill>
                <a:latin typeface="Times New Roman"/>
                <a:cs typeface="Times New Roman"/>
              </a:rPr>
              <a:t> </a:t>
            </a:r>
            <a:r>
              <a:rPr sz="1800" b="1" spc="-25" dirty="0">
                <a:solidFill>
                  <a:srgbClr val="292934"/>
                </a:solidFill>
                <a:latin typeface="Times New Roman"/>
                <a:cs typeface="Times New Roman"/>
              </a:rPr>
              <a:t>39</a:t>
            </a:r>
            <a:endParaRPr sz="1800">
              <a:latin typeface="Times New Roman"/>
              <a:cs typeface="Times New Roman"/>
            </a:endParaRPr>
          </a:p>
          <a:p>
            <a:pPr marL="4572000" indent="-189865">
              <a:lnSpc>
                <a:spcPct val="100000"/>
              </a:lnSpc>
              <a:buAutoNum type="arabicPeriod"/>
              <a:tabLst>
                <a:tab pos="4572000" algn="l"/>
              </a:tabLst>
            </a:pPr>
            <a:r>
              <a:rPr sz="1800" b="1" spc="-110" dirty="0">
                <a:solidFill>
                  <a:srgbClr val="292934"/>
                </a:solidFill>
                <a:latin typeface="Times New Roman"/>
                <a:cs typeface="Times New Roman"/>
              </a:rPr>
              <a:t>2211CS010363</a:t>
            </a:r>
            <a:r>
              <a:rPr sz="1800" b="1" spc="-204" dirty="0">
                <a:solidFill>
                  <a:srgbClr val="292934"/>
                </a:solidFill>
                <a:latin typeface="Times New Roman"/>
                <a:cs typeface="Times New Roman"/>
              </a:rPr>
              <a:t> </a:t>
            </a:r>
            <a:r>
              <a:rPr sz="1800" b="1" spc="-65" dirty="0">
                <a:solidFill>
                  <a:srgbClr val="292934"/>
                </a:solidFill>
                <a:latin typeface="Times New Roman"/>
                <a:cs typeface="Times New Roman"/>
              </a:rPr>
              <a:t>(M.</a:t>
            </a:r>
            <a:r>
              <a:rPr sz="1800" b="1" spc="-145" dirty="0">
                <a:solidFill>
                  <a:srgbClr val="292934"/>
                </a:solidFill>
                <a:latin typeface="Times New Roman"/>
                <a:cs typeface="Times New Roman"/>
              </a:rPr>
              <a:t> </a:t>
            </a:r>
            <a:r>
              <a:rPr sz="1800" b="1" spc="-10" dirty="0">
                <a:solidFill>
                  <a:srgbClr val="292934"/>
                </a:solidFill>
                <a:latin typeface="Times New Roman"/>
                <a:cs typeface="Times New Roman"/>
              </a:rPr>
              <a:t>Bhargav)</a:t>
            </a:r>
            <a:endParaRPr sz="1800">
              <a:latin typeface="Times New Roman"/>
              <a:cs typeface="Times New Roman"/>
            </a:endParaRPr>
          </a:p>
          <a:p>
            <a:pPr marL="4617720" indent="-235585">
              <a:lnSpc>
                <a:spcPct val="100000"/>
              </a:lnSpc>
              <a:buAutoNum type="arabicPeriod"/>
              <a:tabLst>
                <a:tab pos="4617720" algn="l"/>
              </a:tabLst>
            </a:pPr>
            <a:r>
              <a:rPr sz="1800" b="1" spc="-110" dirty="0">
                <a:solidFill>
                  <a:srgbClr val="292934"/>
                </a:solidFill>
                <a:latin typeface="Times New Roman"/>
                <a:cs typeface="Times New Roman"/>
              </a:rPr>
              <a:t>2211CS010459</a:t>
            </a:r>
            <a:r>
              <a:rPr sz="1800" b="1" spc="-200" dirty="0">
                <a:solidFill>
                  <a:srgbClr val="292934"/>
                </a:solidFill>
                <a:latin typeface="Times New Roman"/>
                <a:cs typeface="Times New Roman"/>
              </a:rPr>
              <a:t> </a:t>
            </a:r>
            <a:r>
              <a:rPr sz="1800" b="1" spc="-135" dirty="0">
                <a:solidFill>
                  <a:srgbClr val="292934"/>
                </a:solidFill>
                <a:latin typeface="Times New Roman"/>
                <a:cs typeface="Times New Roman"/>
              </a:rPr>
              <a:t>(P.</a:t>
            </a:r>
            <a:r>
              <a:rPr sz="1800" b="1" spc="-145" dirty="0">
                <a:solidFill>
                  <a:srgbClr val="292934"/>
                </a:solidFill>
                <a:latin typeface="Times New Roman"/>
                <a:cs typeface="Times New Roman"/>
              </a:rPr>
              <a:t> </a:t>
            </a:r>
            <a:r>
              <a:rPr sz="1800" b="1" spc="-90" dirty="0">
                <a:solidFill>
                  <a:srgbClr val="292934"/>
                </a:solidFill>
                <a:latin typeface="Times New Roman"/>
                <a:cs typeface="Times New Roman"/>
              </a:rPr>
              <a:t>Charan</a:t>
            </a:r>
            <a:r>
              <a:rPr sz="1800" b="1" spc="-155" dirty="0">
                <a:solidFill>
                  <a:srgbClr val="292934"/>
                </a:solidFill>
                <a:latin typeface="Times New Roman"/>
                <a:cs typeface="Times New Roman"/>
              </a:rPr>
              <a:t> </a:t>
            </a:r>
            <a:r>
              <a:rPr sz="1800" b="1" spc="-20" dirty="0">
                <a:solidFill>
                  <a:srgbClr val="292934"/>
                </a:solidFill>
                <a:latin typeface="Times New Roman"/>
                <a:cs typeface="Times New Roman"/>
              </a:rPr>
              <a:t>Sai)</a:t>
            </a:r>
            <a:endParaRPr sz="1800">
              <a:latin typeface="Times New Roman"/>
              <a:cs typeface="Times New Roman"/>
            </a:endParaRPr>
          </a:p>
          <a:p>
            <a:pPr marL="4636135" indent="-235585">
              <a:lnSpc>
                <a:spcPct val="100000"/>
              </a:lnSpc>
              <a:buAutoNum type="arabicPeriod"/>
              <a:tabLst>
                <a:tab pos="4636135" algn="l"/>
              </a:tabLst>
            </a:pPr>
            <a:r>
              <a:rPr sz="1800" b="1" spc="-110" dirty="0">
                <a:solidFill>
                  <a:srgbClr val="292934"/>
                </a:solidFill>
                <a:latin typeface="Times New Roman"/>
                <a:cs typeface="Times New Roman"/>
              </a:rPr>
              <a:t>2211CS010407</a:t>
            </a:r>
            <a:r>
              <a:rPr sz="1800" b="1" spc="-190" dirty="0">
                <a:solidFill>
                  <a:srgbClr val="292934"/>
                </a:solidFill>
                <a:latin typeface="Times New Roman"/>
                <a:cs typeface="Times New Roman"/>
              </a:rPr>
              <a:t> </a:t>
            </a:r>
            <a:r>
              <a:rPr sz="1800" b="1" spc="-80" dirty="0">
                <a:solidFill>
                  <a:srgbClr val="292934"/>
                </a:solidFill>
                <a:latin typeface="Times New Roman"/>
                <a:cs typeface="Times New Roman"/>
              </a:rPr>
              <a:t>(N.</a:t>
            </a:r>
            <a:r>
              <a:rPr sz="1800" b="1" spc="-160" dirty="0">
                <a:solidFill>
                  <a:srgbClr val="292934"/>
                </a:solidFill>
                <a:latin typeface="Times New Roman"/>
                <a:cs typeface="Times New Roman"/>
              </a:rPr>
              <a:t> </a:t>
            </a:r>
            <a:r>
              <a:rPr sz="1800" b="1" spc="-85" dirty="0">
                <a:solidFill>
                  <a:srgbClr val="292934"/>
                </a:solidFill>
                <a:latin typeface="Times New Roman"/>
                <a:cs typeface="Times New Roman"/>
              </a:rPr>
              <a:t>Uday</a:t>
            </a:r>
            <a:r>
              <a:rPr sz="1800" b="1" spc="-165" dirty="0">
                <a:solidFill>
                  <a:srgbClr val="292934"/>
                </a:solidFill>
                <a:latin typeface="Times New Roman"/>
                <a:cs typeface="Times New Roman"/>
              </a:rPr>
              <a:t> </a:t>
            </a:r>
            <a:r>
              <a:rPr sz="1800" b="1" spc="-10" dirty="0">
                <a:solidFill>
                  <a:srgbClr val="292934"/>
                </a:solidFill>
                <a:latin typeface="Times New Roman"/>
                <a:cs typeface="Times New Roman"/>
              </a:rPr>
              <a:t>Kumar)</a:t>
            </a:r>
            <a:endParaRPr sz="1800">
              <a:latin typeface="Times New Roman"/>
              <a:cs typeface="Times New Roman"/>
            </a:endParaRPr>
          </a:p>
          <a:p>
            <a:pPr marL="4617720" indent="-235585">
              <a:lnSpc>
                <a:spcPct val="100000"/>
              </a:lnSpc>
              <a:buAutoNum type="arabicPeriod"/>
              <a:tabLst>
                <a:tab pos="4617720" algn="l"/>
              </a:tabLst>
            </a:pPr>
            <a:r>
              <a:rPr sz="1800" b="1" spc="-110" dirty="0">
                <a:solidFill>
                  <a:srgbClr val="292934"/>
                </a:solidFill>
                <a:latin typeface="Times New Roman"/>
                <a:cs typeface="Times New Roman"/>
              </a:rPr>
              <a:t>2211CS010514</a:t>
            </a:r>
            <a:r>
              <a:rPr sz="1800" b="1" spc="-200" dirty="0">
                <a:solidFill>
                  <a:srgbClr val="292934"/>
                </a:solidFill>
                <a:latin typeface="Times New Roman"/>
                <a:cs typeface="Times New Roman"/>
              </a:rPr>
              <a:t> </a:t>
            </a:r>
            <a:r>
              <a:rPr sz="1800" b="1" spc="-80" dirty="0">
                <a:solidFill>
                  <a:srgbClr val="292934"/>
                </a:solidFill>
                <a:latin typeface="Times New Roman"/>
                <a:cs typeface="Times New Roman"/>
              </a:rPr>
              <a:t>(S.</a:t>
            </a:r>
            <a:r>
              <a:rPr sz="1800" b="1" spc="-140" dirty="0">
                <a:solidFill>
                  <a:srgbClr val="292934"/>
                </a:solidFill>
                <a:latin typeface="Times New Roman"/>
                <a:cs typeface="Times New Roman"/>
              </a:rPr>
              <a:t> </a:t>
            </a:r>
            <a:r>
              <a:rPr sz="1800" b="1" spc="-90" dirty="0">
                <a:solidFill>
                  <a:srgbClr val="292934"/>
                </a:solidFill>
                <a:latin typeface="Times New Roman"/>
                <a:cs typeface="Times New Roman"/>
              </a:rPr>
              <a:t>Harsha</a:t>
            </a:r>
            <a:r>
              <a:rPr sz="1800" b="1" spc="-190" dirty="0">
                <a:solidFill>
                  <a:srgbClr val="292934"/>
                </a:solidFill>
                <a:latin typeface="Times New Roman"/>
                <a:cs typeface="Times New Roman"/>
              </a:rPr>
              <a:t> </a:t>
            </a:r>
            <a:r>
              <a:rPr sz="1800" b="1" spc="-95" dirty="0">
                <a:solidFill>
                  <a:srgbClr val="292934"/>
                </a:solidFill>
                <a:latin typeface="Times New Roman"/>
                <a:cs typeface="Times New Roman"/>
              </a:rPr>
              <a:t>Vardhan)</a:t>
            </a:r>
            <a:endParaRPr sz="1800">
              <a:latin typeface="Times New Roman"/>
              <a:cs typeface="Times New Roman"/>
            </a:endParaRPr>
          </a:p>
        </p:txBody>
      </p:sp>
      <p:sp>
        <p:nvSpPr>
          <p:cNvPr id="3" name="object 3"/>
          <p:cNvSpPr txBox="1"/>
          <p:nvPr/>
        </p:nvSpPr>
        <p:spPr>
          <a:xfrm>
            <a:off x="1352550" y="5391708"/>
            <a:ext cx="953769" cy="513080"/>
          </a:xfrm>
          <a:prstGeom prst="rect">
            <a:avLst/>
          </a:prstGeom>
        </p:spPr>
        <p:txBody>
          <a:bodyPr vert="horz" wrap="square" lIns="0" tIns="12065" rIns="0" bIns="0" rtlCol="0">
            <a:spAutoFit/>
          </a:bodyPr>
          <a:lstStyle/>
          <a:p>
            <a:pPr marL="10160" algn="ctr">
              <a:lnSpc>
                <a:spcPct val="100000"/>
              </a:lnSpc>
              <a:spcBef>
                <a:spcPts val="95"/>
              </a:spcBef>
            </a:pPr>
            <a:r>
              <a:rPr sz="1600" b="1" spc="-10" dirty="0">
                <a:solidFill>
                  <a:srgbClr val="292934"/>
                </a:solidFill>
                <a:latin typeface="Times New Roman"/>
                <a:cs typeface="Times New Roman"/>
              </a:rPr>
              <a:t>Guide</a:t>
            </a:r>
            <a:endParaRPr sz="1600">
              <a:latin typeface="Times New Roman"/>
              <a:cs typeface="Times New Roman"/>
            </a:endParaRPr>
          </a:p>
          <a:p>
            <a:pPr algn="ctr">
              <a:lnSpc>
                <a:spcPct val="100000"/>
              </a:lnSpc>
              <a:spcBef>
                <a:spcPts val="5"/>
              </a:spcBef>
            </a:pPr>
            <a:r>
              <a:rPr sz="1600" b="1" spc="-130" dirty="0">
                <a:solidFill>
                  <a:srgbClr val="292934"/>
                </a:solidFill>
                <a:latin typeface="Times New Roman"/>
                <a:cs typeface="Times New Roman"/>
              </a:rPr>
              <a:t>Mr.</a:t>
            </a:r>
            <a:r>
              <a:rPr sz="1600" b="1" spc="-200" dirty="0">
                <a:solidFill>
                  <a:srgbClr val="292934"/>
                </a:solidFill>
                <a:latin typeface="Times New Roman"/>
                <a:cs typeface="Times New Roman"/>
              </a:rPr>
              <a:t> </a:t>
            </a:r>
            <a:r>
              <a:rPr sz="1600" b="1" spc="-70" dirty="0">
                <a:solidFill>
                  <a:srgbClr val="292934"/>
                </a:solidFill>
                <a:latin typeface="Times New Roman"/>
                <a:cs typeface="Times New Roman"/>
              </a:rPr>
              <a:t>G.</a:t>
            </a:r>
            <a:r>
              <a:rPr sz="1600" b="1" spc="-165" dirty="0">
                <a:solidFill>
                  <a:srgbClr val="292934"/>
                </a:solidFill>
                <a:latin typeface="Times New Roman"/>
                <a:cs typeface="Times New Roman"/>
              </a:rPr>
              <a:t> </a:t>
            </a:r>
            <a:r>
              <a:rPr sz="1600" b="1" spc="-30" dirty="0">
                <a:solidFill>
                  <a:srgbClr val="292934"/>
                </a:solidFill>
                <a:latin typeface="Times New Roman"/>
                <a:cs typeface="Times New Roman"/>
              </a:rPr>
              <a:t>Raju</a:t>
            </a:r>
            <a:endParaRPr sz="1600">
              <a:latin typeface="Times New Roman"/>
              <a:cs typeface="Times New Roman"/>
            </a:endParaRPr>
          </a:p>
        </p:txBody>
      </p:sp>
      <p:pic>
        <p:nvPicPr>
          <p:cNvPr id="4" name="object 4"/>
          <p:cNvPicPr/>
          <p:nvPr/>
        </p:nvPicPr>
        <p:blipFill>
          <a:blip r:embed="rId2" cstate="print"/>
          <a:stretch>
            <a:fillRect/>
          </a:stretch>
        </p:blipFill>
        <p:spPr>
          <a:xfrm>
            <a:off x="2707004" y="570230"/>
            <a:ext cx="6777990" cy="1145539"/>
          </a:xfrm>
          <a:prstGeom prst="rect">
            <a:avLst/>
          </a:prstGeom>
        </p:spPr>
      </p:pic>
      <p:sp>
        <p:nvSpPr>
          <p:cNvPr id="5" name="object 5"/>
          <p:cNvSpPr txBox="1"/>
          <p:nvPr/>
        </p:nvSpPr>
        <p:spPr>
          <a:xfrm>
            <a:off x="4570857" y="1399742"/>
            <a:ext cx="2741930" cy="358140"/>
          </a:xfrm>
          <a:prstGeom prst="rect">
            <a:avLst/>
          </a:prstGeom>
        </p:spPr>
        <p:txBody>
          <a:bodyPr vert="horz" wrap="square" lIns="0" tIns="12700" rIns="0" bIns="0" rtlCol="0">
            <a:spAutoFit/>
          </a:bodyPr>
          <a:lstStyle/>
          <a:p>
            <a:pPr marL="155575" marR="5080" indent="-143510">
              <a:lnSpc>
                <a:spcPct val="114700"/>
              </a:lnSpc>
              <a:spcBef>
                <a:spcPts val="100"/>
              </a:spcBef>
            </a:pPr>
            <a:r>
              <a:rPr sz="950" spc="-10" dirty="0">
                <a:solidFill>
                  <a:srgbClr val="292934"/>
                </a:solidFill>
                <a:latin typeface="Calibri"/>
                <a:cs typeface="Calibri"/>
              </a:rPr>
              <a:t>(</a:t>
            </a:r>
            <a:r>
              <a:rPr sz="900" b="1" spc="-10" dirty="0">
                <a:solidFill>
                  <a:srgbClr val="292934"/>
                </a:solidFill>
                <a:latin typeface="Calibri"/>
                <a:cs typeface="Calibri"/>
              </a:rPr>
              <a:t>Telangana</a:t>
            </a:r>
            <a:r>
              <a:rPr sz="900" b="1" spc="-40" dirty="0">
                <a:solidFill>
                  <a:srgbClr val="292934"/>
                </a:solidFill>
                <a:latin typeface="Calibri"/>
                <a:cs typeface="Calibri"/>
              </a:rPr>
              <a:t> </a:t>
            </a:r>
            <a:r>
              <a:rPr sz="900" b="1" spc="-10" dirty="0">
                <a:solidFill>
                  <a:srgbClr val="292934"/>
                </a:solidFill>
                <a:latin typeface="Calibri"/>
                <a:cs typeface="Calibri"/>
              </a:rPr>
              <a:t>State</a:t>
            </a:r>
            <a:r>
              <a:rPr sz="900" b="1" spc="-40" dirty="0">
                <a:solidFill>
                  <a:srgbClr val="292934"/>
                </a:solidFill>
                <a:latin typeface="Calibri"/>
                <a:cs typeface="Calibri"/>
              </a:rPr>
              <a:t> </a:t>
            </a:r>
            <a:r>
              <a:rPr sz="900" b="1" spc="-10" dirty="0">
                <a:solidFill>
                  <a:srgbClr val="292934"/>
                </a:solidFill>
                <a:latin typeface="Calibri"/>
                <a:cs typeface="Calibri"/>
              </a:rPr>
              <a:t>Private</a:t>
            </a:r>
            <a:r>
              <a:rPr sz="900" b="1" spc="-40" dirty="0">
                <a:solidFill>
                  <a:srgbClr val="292934"/>
                </a:solidFill>
                <a:latin typeface="Calibri"/>
                <a:cs typeface="Calibri"/>
              </a:rPr>
              <a:t> </a:t>
            </a:r>
            <a:r>
              <a:rPr sz="900" b="1" dirty="0">
                <a:solidFill>
                  <a:srgbClr val="292934"/>
                </a:solidFill>
                <a:latin typeface="Calibri"/>
                <a:cs typeface="Calibri"/>
              </a:rPr>
              <a:t>Universities</a:t>
            </a:r>
            <a:r>
              <a:rPr sz="900" b="1" spc="15" dirty="0">
                <a:solidFill>
                  <a:srgbClr val="292934"/>
                </a:solidFill>
                <a:latin typeface="Calibri"/>
                <a:cs typeface="Calibri"/>
              </a:rPr>
              <a:t> </a:t>
            </a:r>
            <a:r>
              <a:rPr sz="900" b="1" spc="-10" dirty="0">
                <a:solidFill>
                  <a:srgbClr val="292934"/>
                </a:solidFill>
                <a:latin typeface="Calibri"/>
                <a:cs typeface="Calibri"/>
              </a:rPr>
              <a:t>Act</a:t>
            </a:r>
            <a:r>
              <a:rPr sz="900" b="1" spc="-40" dirty="0">
                <a:solidFill>
                  <a:srgbClr val="292934"/>
                </a:solidFill>
                <a:latin typeface="Calibri"/>
                <a:cs typeface="Calibri"/>
              </a:rPr>
              <a:t> </a:t>
            </a:r>
            <a:r>
              <a:rPr sz="900" b="1" dirty="0">
                <a:solidFill>
                  <a:srgbClr val="292934"/>
                </a:solidFill>
                <a:latin typeface="Calibri"/>
                <a:cs typeface="Calibri"/>
              </a:rPr>
              <a:t>No.</a:t>
            </a:r>
            <a:r>
              <a:rPr sz="900" b="1" spc="-20" dirty="0">
                <a:solidFill>
                  <a:srgbClr val="292934"/>
                </a:solidFill>
                <a:latin typeface="Calibri"/>
                <a:cs typeface="Calibri"/>
              </a:rPr>
              <a:t> </a:t>
            </a:r>
            <a:r>
              <a:rPr sz="900" b="1" dirty="0">
                <a:solidFill>
                  <a:srgbClr val="292934"/>
                </a:solidFill>
                <a:latin typeface="Calibri"/>
                <a:cs typeface="Calibri"/>
              </a:rPr>
              <a:t>13</a:t>
            </a:r>
            <a:r>
              <a:rPr sz="900" b="1" spc="-50" dirty="0">
                <a:solidFill>
                  <a:srgbClr val="292934"/>
                </a:solidFill>
                <a:latin typeface="Calibri"/>
                <a:cs typeface="Calibri"/>
              </a:rPr>
              <a:t> </a:t>
            </a:r>
            <a:r>
              <a:rPr sz="900" b="1" dirty="0">
                <a:solidFill>
                  <a:srgbClr val="292934"/>
                </a:solidFill>
                <a:latin typeface="Calibri"/>
                <a:cs typeface="Calibri"/>
              </a:rPr>
              <a:t>of</a:t>
            </a:r>
            <a:r>
              <a:rPr sz="900" b="1" spc="-40" dirty="0">
                <a:solidFill>
                  <a:srgbClr val="292934"/>
                </a:solidFill>
                <a:latin typeface="Calibri"/>
                <a:cs typeface="Calibri"/>
              </a:rPr>
              <a:t> </a:t>
            </a:r>
            <a:r>
              <a:rPr sz="900" b="1" dirty="0">
                <a:solidFill>
                  <a:srgbClr val="292934"/>
                </a:solidFill>
                <a:latin typeface="Calibri"/>
                <a:cs typeface="Calibri"/>
              </a:rPr>
              <a:t>2020</a:t>
            </a:r>
            <a:r>
              <a:rPr sz="900" b="1" spc="-50" dirty="0">
                <a:solidFill>
                  <a:srgbClr val="292934"/>
                </a:solidFill>
                <a:latin typeface="Calibri"/>
                <a:cs typeface="Calibri"/>
              </a:rPr>
              <a:t> &amp;</a:t>
            </a:r>
            <a:r>
              <a:rPr sz="900" b="1" spc="500" dirty="0">
                <a:solidFill>
                  <a:srgbClr val="292934"/>
                </a:solidFill>
                <a:latin typeface="Calibri"/>
                <a:cs typeface="Calibri"/>
              </a:rPr>
              <a:t> </a:t>
            </a:r>
            <a:r>
              <a:rPr sz="900" b="1" spc="-10" dirty="0">
                <a:solidFill>
                  <a:srgbClr val="292934"/>
                </a:solidFill>
                <a:latin typeface="Calibri"/>
                <a:cs typeface="Calibri"/>
              </a:rPr>
              <a:t>G.O.Ms.</a:t>
            </a:r>
            <a:r>
              <a:rPr sz="900" b="1" spc="-60" dirty="0">
                <a:solidFill>
                  <a:srgbClr val="292934"/>
                </a:solidFill>
                <a:latin typeface="Calibri"/>
                <a:cs typeface="Calibri"/>
              </a:rPr>
              <a:t> </a:t>
            </a:r>
            <a:r>
              <a:rPr sz="900" b="1" dirty="0">
                <a:solidFill>
                  <a:srgbClr val="292934"/>
                </a:solidFill>
                <a:latin typeface="Calibri"/>
                <a:cs typeface="Calibri"/>
              </a:rPr>
              <a:t>No.</a:t>
            </a:r>
            <a:r>
              <a:rPr sz="900" b="1" spc="-25" dirty="0">
                <a:solidFill>
                  <a:srgbClr val="292934"/>
                </a:solidFill>
                <a:latin typeface="Calibri"/>
                <a:cs typeface="Calibri"/>
              </a:rPr>
              <a:t> </a:t>
            </a:r>
            <a:r>
              <a:rPr sz="900" b="1" spc="-10" dirty="0">
                <a:solidFill>
                  <a:srgbClr val="292934"/>
                </a:solidFill>
                <a:latin typeface="Calibri"/>
                <a:cs typeface="Calibri"/>
              </a:rPr>
              <a:t>14,</a:t>
            </a:r>
            <a:r>
              <a:rPr sz="900" b="1" spc="-65" dirty="0">
                <a:solidFill>
                  <a:srgbClr val="292934"/>
                </a:solidFill>
                <a:latin typeface="Calibri"/>
                <a:cs typeface="Calibri"/>
              </a:rPr>
              <a:t> </a:t>
            </a:r>
            <a:r>
              <a:rPr sz="900" b="1" spc="-10" dirty="0">
                <a:solidFill>
                  <a:srgbClr val="292934"/>
                </a:solidFill>
                <a:latin typeface="Calibri"/>
                <a:cs typeface="Calibri"/>
              </a:rPr>
              <a:t>Higher</a:t>
            </a:r>
            <a:r>
              <a:rPr sz="900" b="1" spc="-30" dirty="0">
                <a:solidFill>
                  <a:srgbClr val="292934"/>
                </a:solidFill>
                <a:latin typeface="Calibri"/>
                <a:cs typeface="Calibri"/>
              </a:rPr>
              <a:t> </a:t>
            </a:r>
            <a:r>
              <a:rPr sz="900" b="1" dirty="0">
                <a:solidFill>
                  <a:srgbClr val="292934"/>
                </a:solidFill>
                <a:latin typeface="Calibri"/>
                <a:cs typeface="Calibri"/>
              </a:rPr>
              <a:t>Education</a:t>
            </a:r>
            <a:r>
              <a:rPr sz="900" b="1" spc="25" dirty="0">
                <a:solidFill>
                  <a:srgbClr val="292934"/>
                </a:solidFill>
                <a:latin typeface="Calibri"/>
                <a:cs typeface="Calibri"/>
              </a:rPr>
              <a:t> </a:t>
            </a:r>
            <a:r>
              <a:rPr sz="900" b="1" dirty="0">
                <a:solidFill>
                  <a:srgbClr val="292934"/>
                </a:solidFill>
                <a:latin typeface="Calibri"/>
                <a:cs typeface="Calibri"/>
              </a:rPr>
              <a:t>(UE)</a:t>
            </a:r>
            <a:r>
              <a:rPr sz="900" b="1" spc="-65" dirty="0">
                <a:solidFill>
                  <a:srgbClr val="292934"/>
                </a:solidFill>
                <a:latin typeface="Calibri"/>
                <a:cs typeface="Calibri"/>
              </a:rPr>
              <a:t> </a:t>
            </a:r>
            <a:r>
              <a:rPr sz="900" b="1" spc="-10" dirty="0">
                <a:solidFill>
                  <a:srgbClr val="292934"/>
                </a:solidFill>
                <a:latin typeface="Calibri"/>
                <a:cs typeface="Calibri"/>
              </a:rPr>
              <a:t>Department</a:t>
            </a:r>
            <a:r>
              <a:rPr sz="950" spc="-10" dirty="0">
                <a:solidFill>
                  <a:srgbClr val="292934"/>
                </a:solidFill>
                <a:latin typeface="Calibri"/>
                <a:cs typeface="Calibri"/>
              </a:rPr>
              <a:t>)</a:t>
            </a:r>
            <a:endParaRPr sz="950">
              <a:latin typeface="Calibri"/>
              <a:cs typeface="Calibri"/>
            </a:endParaRPr>
          </a:p>
        </p:txBody>
      </p:sp>
      <p:sp>
        <p:nvSpPr>
          <p:cNvPr id="6" name="object 6"/>
          <p:cNvSpPr/>
          <p:nvPr/>
        </p:nvSpPr>
        <p:spPr>
          <a:xfrm>
            <a:off x="8503539" y="1421764"/>
            <a:ext cx="32384" cy="7620"/>
          </a:xfrm>
          <a:custGeom>
            <a:avLst/>
            <a:gdLst/>
            <a:ahLst/>
            <a:cxnLst/>
            <a:rect l="l" t="t" r="r" b="b"/>
            <a:pathLst>
              <a:path w="32384" h="7619">
                <a:moveTo>
                  <a:pt x="32003" y="0"/>
                </a:moveTo>
                <a:lnTo>
                  <a:pt x="0" y="0"/>
                </a:lnTo>
                <a:lnTo>
                  <a:pt x="0" y="7620"/>
                </a:lnTo>
                <a:lnTo>
                  <a:pt x="32003" y="7620"/>
                </a:lnTo>
                <a:lnTo>
                  <a:pt x="32003" y="0"/>
                </a:lnTo>
                <a:close/>
              </a:path>
            </a:pathLst>
          </a:custGeom>
          <a:solidFill>
            <a:srgbClr val="0000FF"/>
          </a:solidFill>
        </p:spPr>
        <p:txBody>
          <a:bodyPr wrap="square" lIns="0" tIns="0" rIns="0" bIns="0" rtlCol="0"/>
          <a:lstStyle/>
          <a:p>
            <a:endParaRPr/>
          </a:p>
        </p:txBody>
      </p:sp>
      <p:sp>
        <p:nvSpPr>
          <p:cNvPr id="7" name="object 7"/>
          <p:cNvSpPr txBox="1"/>
          <p:nvPr/>
        </p:nvSpPr>
        <p:spPr>
          <a:xfrm>
            <a:off x="7685658" y="875791"/>
            <a:ext cx="1435100" cy="702310"/>
          </a:xfrm>
          <a:prstGeom prst="rect">
            <a:avLst/>
          </a:prstGeom>
        </p:spPr>
        <p:txBody>
          <a:bodyPr vert="horz" wrap="square" lIns="0" tIns="24130" rIns="0" bIns="0" rtlCol="0">
            <a:spAutoFit/>
          </a:bodyPr>
          <a:lstStyle/>
          <a:p>
            <a:pPr marL="12700" marR="5080">
              <a:lnSpc>
                <a:spcPct val="91900"/>
              </a:lnSpc>
              <a:spcBef>
                <a:spcPts val="190"/>
              </a:spcBef>
            </a:pPr>
            <a:r>
              <a:rPr sz="950" b="1" spc="-10" dirty="0">
                <a:solidFill>
                  <a:srgbClr val="292934"/>
                </a:solidFill>
                <a:latin typeface="Calibri"/>
                <a:cs typeface="Calibri"/>
              </a:rPr>
              <a:t>Maisammaguda,</a:t>
            </a:r>
            <a:r>
              <a:rPr sz="950" b="1" spc="75" dirty="0">
                <a:solidFill>
                  <a:srgbClr val="292934"/>
                </a:solidFill>
                <a:latin typeface="Calibri"/>
                <a:cs typeface="Calibri"/>
              </a:rPr>
              <a:t> </a:t>
            </a:r>
            <a:r>
              <a:rPr sz="950" b="1" spc="-10" dirty="0">
                <a:solidFill>
                  <a:srgbClr val="292934"/>
                </a:solidFill>
                <a:latin typeface="Calibri"/>
                <a:cs typeface="Calibri"/>
              </a:rPr>
              <a:t>Kompally, Medchal</a:t>
            </a:r>
            <a:r>
              <a:rPr sz="950" b="1" spc="5" dirty="0">
                <a:solidFill>
                  <a:srgbClr val="292934"/>
                </a:solidFill>
                <a:latin typeface="Calibri"/>
                <a:cs typeface="Calibri"/>
              </a:rPr>
              <a:t> </a:t>
            </a:r>
            <a:r>
              <a:rPr sz="950" b="1" dirty="0">
                <a:solidFill>
                  <a:srgbClr val="292934"/>
                </a:solidFill>
                <a:latin typeface="Calibri"/>
                <a:cs typeface="Calibri"/>
              </a:rPr>
              <a:t>-</a:t>
            </a:r>
            <a:r>
              <a:rPr sz="950" b="1" spc="15" dirty="0">
                <a:solidFill>
                  <a:srgbClr val="292934"/>
                </a:solidFill>
                <a:latin typeface="Calibri"/>
                <a:cs typeface="Calibri"/>
              </a:rPr>
              <a:t> </a:t>
            </a:r>
            <a:r>
              <a:rPr sz="950" b="1" spc="-10" dirty="0">
                <a:solidFill>
                  <a:srgbClr val="292934"/>
                </a:solidFill>
                <a:latin typeface="Calibri"/>
                <a:cs typeface="Calibri"/>
              </a:rPr>
              <a:t>Malkajgiri</a:t>
            </a:r>
            <a:r>
              <a:rPr sz="950" b="1" spc="5" dirty="0">
                <a:solidFill>
                  <a:srgbClr val="292934"/>
                </a:solidFill>
                <a:latin typeface="Calibri"/>
                <a:cs typeface="Calibri"/>
              </a:rPr>
              <a:t> </a:t>
            </a:r>
            <a:r>
              <a:rPr sz="950" b="1" spc="-10" dirty="0">
                <a:solidFill>
                  <a:srgbClr val="292934"/>
                </a:solidFill>
                <a:latin typeface="Calibri"/>
                <a:cs typeface="Calibri"/>
              </a:rPr>
              <a:t>District </a:t>
            </a:r>
            <a:r>
              <a:rPr sz="950" b="1" dirty="0">
                <a:solidFill>
                  <a:srgbClr val="292934"/>
                </a:solidFill>
                <a:latin typeface="Calibri"/>
                <a:cs typeface="Calibri"/>
              </a:rPr>
              <a:t>Hyderabad</a:t>
            </a:r>
            <a:r>
              <a:rPr sz="950" b="1" spc="-10" dirty="0">
                <a:solidFill>
                  <a:srgbClr val="292934"/>
                </a:solidFill>
                <a:latin typeface="Calibri"/>
                <a:cs typeface="Calibri"/>
              </a:rPr>
              <a:t> </a:t>
            </a:r>
            <a:r>
              <a:rPr sz="950" b="1" dirty="0">
                <a:solidFill>
                  <a:srgbClr val="292934"/>
                </a:solidFill>
                <a:latin typeface="Calibri"/>
                <a:cs typeface="Calibri"/>
              </a:rPr>
              <a:t>-</a:t>
            </a:r>
            <a:r>
              <a:rPr sz="950" b="1" spc="-35" dirty="0">
                <a:solidFill>
                  <a:srgbClr val="292934"/>
                </a:solidFill>
                <a:latin typeface="Calibri"/>
                <a:cs typeface="Calibri"/>
              </a:rPr>
              <a:t> </a:t>
            </a:r>
            <a:r>
              <a:rPr sz="950" b="1" spc="-10" dirty="0">
                <a:solidFill>
                  <a:srgbClr val="292934"/>
                </a:solidFill>
                <a:latin typeface="Calibri"/>
                <a:cs typeface="Calibri"/>
              </a:rPr>
              <a:t>500100, Telangana</a:t>
            </a:r>
            <a:r>
              <a:rPr sz="950" b="1" spc="45" dirty="0">
                <a:solidFill>
                  <a:srgbClr val="292934"/>
                </a:solidFill>
                <a:latin typeface="Calibri"/>
                <a:cs typeface="Calibri"/>
              </a:rPr>
              <a:t> </a:t>
            </a:r>
            <a:r>
              <a:rPr sz="950" b="1" spc="-10" dirty="0">
                <a:solidFill>
                  <a:srgbClr val="292934"/>
                </a:solidFill>
                <a:latin typeface="Calibri"/>
                <a:cs typeface="Calibri"/>
              </a:rPr>
              <a:t>State</a:t>
            </a:r>
            <a:r>
              <a:rPr sz="950" b="1" spc="-10" dirty="0">
                <a:solidFill>
                  <a:srgbClr val="0000FF"/>
                </a:solidFill>
                <a:latin typeface="Calibri"/>
                <a:cs typeface="Calibri"/>
                <a:hlinkClick r:id="rId3"/>
              </a:rPr>
              <a:t>.</a:t>
            </a:r>
            <a:r>
              <a:rPr sz="950" b="1" spc="-10" dirty="0">
                <a:solidFill>
                  <a:srgbClr val="0000FF"/>
                </a:solidFill>
                <a:latin typeface="Calibri"/>
                <a:cs typeface="Calibri"/>
              </a:rPr>
              <a:t> </a:t>
            </a:r>
            <a:r>
              <a:rPr sz="950" b="1" u="sng" spc="-10" dirty="0">
                <a:solidFill>
                  <a:srgbClr val="0000FF"/>
                </a:solidFill>
                <a:uFill>
                  <a:solidFill>
                    <a:srgbClr val="0000FF"/>
                  </a:solidFill>
                </a:uFill>
                <a:latin typeface="Calibri"/>
                <a:cs typeface="Calibri"/>
                <a:hlinkClick r:id="rId3"/>
              </a:rPr>
              <a:t>www.mallareddyuniversity.</a:t>
            </a:r>
            <a:endParaRPr sz="9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697737"/>
            <a:ext cx="3778250" cy="635000"/>
          </a:xfrm>
          <a:prstGeom prst="rect">
            <a:avLst/>
          </a:prstGeom>
        </p:spPr>
        <p:txBody>
          <a:bodyPr vert="horz" wrap="square" lIns="0" tIns="12065" rIns="0" bIns="0" rtlCol="0">
            <a:spAutoFit/>
          </a:bodyPr>
          <a:lstStyle/>
          <a:p>
            <a:pPr marL="12700">
              <a:lnSpc>
                <a:spcPct val="100000"/>
              </a:lnSpc>
              <a:spcBef>
                <a:spcPts val="95"/>
              </a:spcBef>
            </a:pPr>
            <a:r>
              <a:rPr b="0" spc="-570" dirty="0">
                <a:latin typeface="Arial MT"/>
                <a:cs typeface="Arial MT"/>
              </a:rPr>
              <a:t>T</a:t>
            </a:r>
            <a:r>
              <a:rPr b="0" spc="-125" dirty="0">
                <a:latin typeface="Arial MT"/>
                <a:cs typeface="Arial MT"/>
              </a:rPr>
              <a:t>ab</a:t>
            </a:r>
            <a:r>
              <a:rPr b="0" spc="-120" dirty="0">
                <a:latin typeface="Arial MT"/>
                <a:cs typeface="Arial MT"/>
              </a:rPr>
              <a:t>l</a:t>
            </a:r>
            <a:r>
              <a:rPr b="0" spc="-20" dirty="0">
                <a:latin typeface="Arial MT"/>
                <a:cs typeface="Arial MT"/>
              </a:rPr>
              <a:t>e</a:t>
            </a:r>
            <a:r>
              <a:rPr b="0" spc="-195" dirty="0">
                <a:latin typeface="Arial MT"/>
                <a:cs typeface="Arial MT"/>
              </a:rPr>
              <a:t> </a:t>
            </a:r>
            <a:r>
              <a:rPr b="0" spc="-60" dirty="0">
                <a:latin typeface="Arial MT"/>
                <a:cs typeface="Arial MT"/>
              </a:rPr>
              <a:t>of</a:t>
            </a:r>
            <a:r>
              <a:rPr b="0" spc="-185" dirty="0">
                <a:latin typeface="Arial MT"/>
                <a:cs typeface="Arial MT"/>
              </a:rPr>
              <a:t> </a:t>
            </a:r>
            <a:r>
              <a:rPr b="0" spc="-65" dirty="0">
                <a:latin typeface="Arial MT"/>
                <a:cs typeface="Arial MT"/>
              </a:rPr>
              <a:t>Contents</a:t>
            </a:r>
          </a:p>
        </p:txBody>
      </p:sp>
      <p:sp>
        <p:nvSpPr>
          <p:cNvPr id="3" name="object 3"/>
          <p:cNvSpPr txBox="1"/>
          <p:nvPr/>
        </p:nvSpPr>
        <p:spPr>
          <a:xfrm>
            <a:off x="2256789" y="1740153"/>
            <a:ext cx="5194935" cy="4141470"/>
          </a:xfrm>
          <a:prstGeom prst="rect">
            <a:avLst/>
          </a:prstGeom>
        </p:spPr>
        <p:txBody>
          <a:bodyPr vert="horz" wrap="square" lIns="0" tIns="12700" rIns="0" bIns="0" rtlCol="0">
            <a:spAutoFit/>
          </a:bodyPr>
          <a:lstStyle/>
          <a:p>
            <a:pPr marL="299085" indent="-286385">
              <a:lnSpc>
                <a:spcPct val="100000"/>
              </a:lnSpc>
              <a:spcBef>
                <a:spcPts val="100"/>
              </a:spcBef>
              <a:buClr>
                <a:srgbClr val="D2523B"/>
              </a:buClr>
              <a:buFont typeface="Wingdings"/>
              <a:buChar char=""/>
              <a:tabLst>
                <a:tab pos="299085" algn="l"/>
              </a:tabLst>
            </a:pPr>
            <a:r>
              <a:rPr sz="1800" spc="-10" dirty="0">
                <a:solidFill>
                  <a:srgbClr val="292934"/>
                </a:solidFill>
                <a:latin typeface="Arial MT"/>
                <a:cs typeface="Arial MT"/>
              </a:rPr>
              <a:t>Introduction</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dirty="0">
                <a:solidFill>
                  <a:srgbClr val="292934"/>
                </a:solidFill>
                <a:latin typeface="Arial MT"/>
                <a:cs typeface="Arial MT"/>
              </a:rPr>
              <a:t>Literature</a:t>
            </a:r>
            <a:r>
              <a:rPr sz="1800" spc="-60" dirty="0">
                <a:solidFill>
                  <a:srgbClr val="292934"/>
                </a:solidFill>
                <a:latin typeface="Arial MT"/>
                <a:cs typeface="Arial MT"/>
              </a:rPr>
              <a:t> </a:t>
            </a:r>
            <a:r>
              <a:rPr sz="1800" spc="-10" dirty="0">
                <a:solidFill>
                  <a:srgbClr val="292934"/>
                </a:solidFill>
                <a:latin typeface="Arial MT"/>
                <a:cs typeface="Arial MT"/>
              </a:rPr>
              <a:t>Survey</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dirty="0">
                <a:solidFill>
                  <a:srgbClr val="292934"/>
                </a:solidFill>
                <a:latin typeface="Arial MT"/>
                <a:cs typeface="Arial MT"/>
              </a:rPr>
              <a:t>Limitations</a:t>
            </a:r>
            <a:r>
              <a:rPr sz="1800" spc="-15" dirty="0">
                <a:solidFill>
                  <a:srgbClr val="292934"/>
                </a:solidFill>
                <a:latin typeface="Arial MT"/>
                <a:cs typeface="Arial MT"/>
              </a:rPr>
              <a:t> </a:t>
            </a:r>
            <a:r>
              <a:rPr sz="1800" dirty="0">
                <a:solidFill>
                  <a:srgbClr val="292934"/>
                </a:solidFill>
                <a:latin typeface="Arial MT"/>
                <a:cs typeface="Arial MT"/>
              </a:rPr>
              <a:t>of</a:t>
            </a:r>
            <a:r>
              <a:rPr sz="1800" spc="-5" dirty="0">
                <a:solidFill>
                  <a:srgbClr val="292934"/>
                </a:solidFill>
                <a:latin typeface="Arial MT"/>
                <a:cs typeface="Arial MT"/>
              </a:rPr>
              <a:t> </a:t>
            </a:r>
            <a:r>
              <a:rPr sz="1800" spc="-10" dirty="0">
                <a:solidFill>
                  <a:srgbClr val="292934"/>
                </a:solidFill>
                <a:latin typeface="Arial MT"/>
                <a:cs typeface="Arial MT"/>
              </a:rPr>
              <a:t>Existing</a:t>
            </a:r>
            <a:r>
              <a:rPr sz="1800" spc="-90" dirty="0">
                <a:solidFill>
                  <a:srgbClr val="292934"/>
                </a:solidFill>
                <a:latin typeface="Arial MT"/>
                <a:cs typeface="Arial MT"/>
              </a:rPr>
              <a:t> </a:t>
            </a:r>
            <a:r>
              <a:rPr sz="1800" spc="-10" dirty="0">
                <a:solidFill>
                  <a:srgbClr val="292934"/>
                </a:solidFill>
                <a:latin typeface="Arial MT"/>
                <a:cs typeface="Arial MT"/>
              </a:rPr>
              <a:t>Algorithms/Methodologies</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spc="-10" dirty="0">
                <a:solidFill>
                  <a:srgbClr val="292934"/>
                </a:solidFill>
                <a:latin typeface="Arial MT"/>
                <a:cs typeface="Arial MT"/>
              </a:rPr>
              <a:t>Abstract</a:t>
            </a:r>
            <a:endParaRPr sz="1800">
              <a:latin typeface="Arial MT"/>
              <a:cs typeface="Arial MT"/>
            </a:endParaRPr>
          </a:p>
          <a:p>
            <a:pPr>
              <a:lnSpc>
                <a:spcPct val="100000"/>
              </a:lnSpc>
              <a:spcBef>
                <a:spcPts val="95"/>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dirty="0">
                <a:solidFill>
                  <a:srgbClr val="292934"/>
                </a:solidFill>
                <a:latin typeface="Arial MT"/>
                <a:cs typeface="Arial MT"/>
              </a:rPr>
              <a:t>Proposed</a:t>
            </a:r>
            <a:r>
              <a:rPr sz="1800" spc="-40" dirty="0">
                <a:solidFill>
                  <a:srgbClr val="292934"/>
                </a:solidFill>
                <a:latin typeface="Arial MT"/>
                <a:cs typeface="Arial MT"/>
              </a:rPr>
              <a:t> </a:t>
            </a:r>
            <a:r>
              <a:rPr sz="1800" spc="-10" dirty="0">
                <a:solidFill>
                  <a:srgbClr val="292934"/>
                </a:solidFill>
                <a:latin typeface="Arial MT"/>
                <a:cs typeface="Arial MT"/>
              </a:rPr>
              <a:t>Methodology</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dirty="0">
                <a:solidFill>
                  <a:srgbClr val="292934"/>
                </a:solidFill>
                <a:latin typeface="Arial MT"/>
                <a:cs typeface="Arial MT"/>
              </a:rPr>
              <a:t>Hardware/Software</a:t>
            </a:r>
            <a:r>
              <a:rPr sz="1800" spc="-70" dirty="0">
                <a:solidFill>
                  <a:srgbClr val="292934"/>
                </a:solidFill>
                <a:latin typeface="Arial MT"/>
                <a:cs typeface="Arial MT"/>
              </a:rPr>
              <a:t> </a:t>
            </a:r>
            <a:r>
              <a:rPr sz="1800" spc="-10" dirty="0">
                <a:solidFill>
                  <a:srgbClr val="292934"/>
                </a:solidFill>
                <a:latin typeface="Arial MT"/>
                <a:cs typeface="Arial MT"/>
              </a:rPr>
              <a:t>Requirements</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spc="-10" dirty="0">
                <a:solidFill>
                  <a:srgbClr val="292934"/>
                </a:solidFill>
                <a:latin typeface="Arial MT"/>
                <a:cs typeface="Arial MT"/>
              </a:rPr>
              <a:t>Conclusion</a:t>
            </a:r>
            <a:endParaRPr sz="1800">
              <a:latin typeface="Arial MT"/>
              <a:cs typeface="Arial MT"/>
            </a:endParaRPr>
          </a:p>
          <a:p>
            <a:pPr>
              <a:lnSpc>
                <a:spcPct val="100000"/>
              </a:lnSpc>
              <a:spcBef>
                <a:spcPts val="90"/>
              </a:spcBef>
              <a:buClr>
                <a:srgbClr val="D2523B"/>
              </a:buClr>
              <a:buFont typeface="Wingdings"/>
              <a:buChar char=""/>
            </a:pPr>
            <a:endParaRPr sz="1800">
              <a:latin typeface="Arial MT"/>
              <a:cs typeface="Arial MT"/>
            </a:endParaRPr>
          </a:p>
          <a:p>
            <a:pPr marL="299085" indent="-286385">
              <a:lnSpc>
                <a:spcPct val="100000"/>
              </a:lnSpc>
              <a:buClr>
                <a:srgbClr val="D2523B"/>
              </a:buClr>
              <a:buFont typeface="Wingdings"/>
              <a:buChar char=""/>
              <a:tabLst>
                <a:tab pos="299085" algn="l"/>
              </a:tabLst>
            </a:pPr>
            <a:r>
              <a:rPr sz="1800" spc="-10" dirty="0">
                <a:solidFill>
                  <a:srgbClr val="292934"/>
                </a:solidFill>
                <a:latin typeface="Arial MT"/>
                <a:cs typeface="Arial MT"/>
              </a:rPr>
              <a:t>References</a:t>
            </a:r>
            <a:endParaRPr sz="1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5" dirty="0"/>
              <a:t>INTRODUCTION</a:t>
            </a:r>
          </a:p>
        </p:txBody>
      </p:sp>
      <p:sp>
        <p:nvSpPr>
          <p:cNvPr id="3" name="object 3"/>
          <p:cNvSpPr txBox="1"/>
          <p:nvPr/>
        </p:nvSpPr>
        <p:spPr>
          <a:xfrm>
            <a:off x="688340" y="1493494"/>
            <a:ext cx="10584180" cy="1855470"/>
          </a:xfrm>
          <a:prstGeom prst="rect">
            <a:avLst/>
          </a:prstGeom>
        </p:spPr>
        <p:txBody>
          <a:bodyPr vert="horz" wrap="square" lIns="0" tIns="12700" rIns="0" bIns="0" rtlCol="0">
            <a:spAutoFit/>
          </a:bodyPr>
          <a:lstStyle/>
          <a:p>
            <a:pPr marL="12700" marR="5080" algn="just">
              <a:lnSpc>
                <a:spcPct val="150000"/>
              </a:lnSpc>
              <a:spcBef>
                <a:spcPts val="100"/>
              </a:spcBef>
            </a:pPr>
            <a:r>
              <a:rPr sz="2000" dirty="0">
                <a:solidFill>
                  <a:srgbClr val="292934"/>
                </a:solidFill>
                <a:latin typeface="Arial MT"/>
                <a:cs typeface="Arial MT"/>
              </a:rPr>
              <a:t>This project</a:t>
            </a:r>
            <a:r>
              <a:rPr sz="2000" spc="-15" dirty="0">
                <a:solidFill>
                  <a:srgbClr val="292934"/>
                </a:solidFill>
                <a:latin typeface="Arial MT"/>
                <a:cs typeface="Arial MT"/>
              </a:rPr>
              <a:t> </a:t>
            </a:r>
            <a:r>
              <a:rPr sz="2000" dirty="0">
                <a:solidFill>
                  <a:srgbClr val="292934"/>
                </a:solidFill>
                <a:latin typeface="Arial MT"/>
                <a:cs typeface="Arial MT"/>
              </a:rPr>
              <a:t>focuses</a:t>
            </a:r>
            <a:r>
              <a:rPr sz="2000" spc="-5" dirty="0">
                <a:solidFill>
                  <a:srgbClr val="292934"/>
                </a:solidFill>
                <a:latin typeface="Arial MT"/>
                <a:cs typeface="Arial MT"/>
              </a:rPr>
              <a:t> </a:t>
            </a:r>
            <a:r>
              <a:rPr sz="2000" dirty="0">
                <a:solidFill>
                  <a:srgbClr val="292934"/>
                </a:solidFill>
                <a:latin typeface="Arial MT"/>
                <a:cs typeface="Arial MT"/>
              </a:rPr>
              <a:t>on analyzing</a:t>
            </a:r>
            <a:r>
              <a:rPr sz="2000" spc="-15" dirty="0">
                <a:solidFill>
                  <a:srgbClr val="292934"/>
                </a:solidFill>
                <a:latin typeface="Arial MT"/>
                <a:cs typeface="Arial MT"/>
              </a:rPr>
              <a:t> </a:t>
            </a:r>
            <a:r>
              <a:rPr sz="2000" dirty="0">
                <a:solidFill>
                  <a:srgbClr val="292934"/>
                </a:solidFill>
                <a:latin typeface="Arial MT"/>
                <a:cs typeface="Arial MT"/>
              </a:rPr>
              <a:t>breast</a:t>
            </a:r>
            <a:r>
              <a:rPr sz="2000" spc="-20" dirty="0">
                <a:solidFill>
                  <a:srgbClr val="292934"/>
                </a:solidFill>
                <a:latin typeface="Arial MT"/>
                <a:cs typeface="Arial MT"/>
              </a:rPr>
              <a:t> </a:t>
            </a:r>
            <a:r>
              <a:rPr sz="2000" dirty="0">
                <a:solidFill>
                  <a:srgbClr val="292934"/>
                </a:solidFill>
                <a:latin typeface="Arial MT"/>
                <a:cs typeface="Arial MT"/>
              </a:rPr>
              <a:t>cancer</a:t>
            </a:r>
            <a:r>
              <a:rPr sz="2000" spc="-5" dirty="0">
                <a:solidFill>
                  <a:srgbClr val="292934"/>
                </a:solidFill>
                <a:latin typeface="Arial MT"/>
                <a:cs typeface="Arial MT"/>
              </a:rPr>
              <a:t> </a:t>
            </a:r>
            <a:r>
              <a:rPr sz="2000" dirty="0">
                <a:solidFill>
                  <a:srgbClr val="292934"/>
                </a:solidFill>
                <a:latin typeface="Arial MT"/>
                <a:cs typeface="Arial MT"/>
              </a:rPr>
              <a:t>datasets to</a:t>
            </a:r>
            <a:r>
              <a:rPr sz="2000" spc="-15" dirty="0">
                <a:solidFill>
                  <a:srgbClr val="292934"/>
                </a:solidFill>
                <a:latin typeface="Arial MT"/>
                <a:cs typeface="Arial MT"/>
              </a:rPr>
              <a:t> </a:t>
            </a:r>
            <a:r>
              <a:rPr sz="2000" dirty="0">
                <a:solidFill>
                  <a:srgbClr val="292934"/>
                </a:solidFill>
                <a:latin typeface="Arial MT"/>
                <a:cs typeface="Arial MT"/>
              </a:rPr>
              <a:t>identify</a:t>
            </a:r>
            <a:r>
              <a:rPr sz="2000" spc="-15" dirty="0">
                <a:solidFill>
                  <a:srgbClr val="292934"/>
                </a:solidFill>
                <a:latin typeface="Arial MT"/>
                <a:cs typeface="Arial MT"/>
              </a:rPr>
              <a:t> </a:t>
            </a:r>
            <a:r>
              <a:rPr sz="2000" dirty="0">
                <a:solidFill>
                  <a:srgbClr val="292934"/>
                </a:solidFill>
                <a:latin typeface="Arial MT"/>
                <a:cs typeface="Arial MT"/>
              </a:rPr>
              <a:t>key</a:t>
            </a:r>
            <a:r>
              <a:rPr sz="2000" spc="-5" dirty="0">
                <a:solidFill>
                  <a:srgbClr val="292934"/>
                </a:solidFill>
                <a:latin typeface="Arial MT"/>
                <a:cs typeface="Arial MT"/>
              </a:rPr>
              <a:t> </a:t>
            </a:r>
            <a:r>
              <a:rPr sz="2000" dirty="0">
                <a:solidFill>
                  <a:srgbClr val="292934"/>
                </a:solidFill>
                <a:latin typeface="Arial MT"/>
                <a:cs typeface="Arial MT"/>
              </a:rPr>
              <a:t>patterns,</a:t>
            </a:r>
            <a:r>
              <a:rPr sz="2000" spc="-25" dirty="0">
                <a:solidFill>
                  <a:srgbClr val="292934"/>
                </a:solidFill>
                <a:latin typeface="Arial MT"/>
                <a:cs typeface="Arial MT"/>
              </a:rPr>
              <a:t> </a:t>
            </a:r>
            <a:r>
              <a:rPr sz="2000" spc="-10" dirty="0">
                <a:solidFill>
                  <a:srgbClr val="292934"/>
                </a:solidFill>
                <a:latin typeface="Arial MT"/>
                <a:cs typeface="Arial MT"/>
              </a:rPr>
              <a:t>correlations, </a:t>
            </a:r>
            <a:r>
              <a:rPr sz="2000" dirty="0">
                <a:solidFill>
                  <a:srgbClr val="292934"/>
                </a:solidFill>
                <a:latin typeface="Arial MT"/>
                <a:cs typeface="Arial MT"/>
              </a:rPr>
              <a:t>and</a:t>
            </a:r>
            <a:r>
              <a:rPr sz="2000" spc="45" dirty="0">
                <a:solidFill>
                  <a:srgbClr val="292934"/>
                </a:solidFill>
                <a:latin typeface="Arial MT"/>
                <a:cs typeface="Arial MT"/>
              </a:rPr>
              <a:t> </a:t>
            </a:r>
            <a:r>
              <a:rPr sz="2000" dirty="0">
                <a:solidFill>
                  <a:srgbClr val="292934"/>
                </a:solidFill>
                <a:latin typeface="Arial MT"/>
                <a:cs typeface="Arial MT"/>
              </a:rPr>
              <a:t>trends.</a:t>
            </a:r>
            <a:r>
              <a:rPr sz="2000" spc="50" dirty="0">
                <a:solidFill>
                  <a:srgbClr val="292934"/>
                </a:solidFill>
                <a:latin typeface="Arial MT"/>
                <a:cs typeface="Arial MT"/>
              </a:rPr>
              <a:t> </a:t>
            </a:r>
            <a:r>
              <a:rPr sz="2000" dirty="0">
                <a:solidFill>
                  <a:srgbClr val="292934"/>
                </a:solidFill>
                <a:latin typeface="Arial MT"/>
                <a:cs typeface="Arial MT"/>
              </a:rPr>
              <a:t>By</a:t>
            </a:r>
            <a:r>
              <a:rPr sz="2000" spc="45" dirty="0">
                <a:solidFill>
                  <a:srgbClr val="292934"/>
                </a:solidFill>
                <a:latin typeface="Arial MT"/>
                <a:cs typeface="Arial MT"/>
              </a:rPr>
              <a:t> </a:t>
            </a:r>
            <a:r>
              <a:rPr sz="2000" dirty="0">
                <a:solidFill>
                  <a:srgbClr val="292934"/>
                </a:solidFill>
                <a:latin typeface="Arial MT"/>
                <a:cs typeface="Arial MT"/>
              </a:rPr>
              <a:t>leveraging</a:t>
            </a:r>
            <a:r>
              <a:rPr sz="2000" spc="40" dirty="0">
                <a:solidFill>
                  <a:srgbClr val="292934"/>
                </a:solidFill>
                <a:latin typeface="Arial MT"/>
                <a:cs typeface="Arial MT"/>
              </a:rPr>
              <a:t> </a:t>
            </a:r>
            <a:r>
              <a:rPr sz="2000" dirty="0">
                <a:solidFill>
                  <a:srgbClr val="292934"/>
                </a:solidFill>
                <a:latin typeface="Arial MT"/>
                <a:cs typeface="Arial MT"/>
              </a:rPr>
              <a:t>data</a:t>
            </a:r>
            <a:r>
              <a:rPr sz="2000" spc="45" dirty="0">
                <a:solidFill>
                  <a:srgbClr val="292934"/>
                </a:solidFill>
                <a:latin typeface="Arial MT"/>
                <a:cs typeface="Arial MT"/>
              </a:rPr>
              <a:t> </a:t>
            </a:r>
            <a:r>
              <a:rPr sz="2000" dirty="0">
                <a:solidFill>
                  <a:srgbClr val="292934"/>
                </a:solidFill>
                <a:latin typeface="Arial MT"/>
                <a:cs typeface="Arial MT"/>
              </a:rPr>
              <a:t>analytics</a:t>
            </a:r>
            <a:r>
              <a:rPr sz="2000" spc="55" dirty="0">
                <a:solidFill>
                  <a:srgbClr val="292934"/>
                </a:solidFill>
                <a:latin typeface="Arial MT"/>
                <a:cs typeface="Arial MT"/>
              </a:rPr>
              <a:t> </a:t>
            </a:r>
            <a:r>
              <a:rPr sz="2000" dirty="0">
                <a:solidFill>
                  <a:srgbClr val="292934"/>
                </a:solidFill>
                <a:latin typeface="Arial MT"/>
                <a:cs typeface="Arial MT"/>
              </a:rPr>
              <a:t>techniques</a:t>
            </a:r>
            <a:r>
              <a:rPr sz="2000" spc="50" dirty="0">
                <a:solidFill>
                  <a:srgbClr val="292934"/>
                </a:solidFill>
                <a:latin typeface="Arial MT"/>
                <a:cs typeface="Arial MT"/>
              </a:rPr>
              <a:t> </a:t>
            </a:r>
            <a:r>
              <a:rPr sz="2000" dirty="0">
                <a:solidFill>
                  <a:srgbClr val="292934"/>
                </a:solidFill>
                <a:latin typeface="Arial MT"/>
                <a:cs typeface="Arial MT"/>
              </a:rPr>
              <a:t>such</a:t>
            </a:r>
            <a:r>
              <a:rPr sz="2000" spc="45" dirty="0">
                <a:solidFill>
                  <a:srgbClr val="292934"/>
                </a:solidFill>
                <a:latin typeface="Arial MT"/>
                <a:cs typeface="Arial MT"/>
              </a:rPr>
              <a:t> </a:t>
            </a:r>
            <a:r>
              <a:rPr sz="2000" dirty="0">
                <a:solidFill>
                  <a:srgbClr val="292934"/>
                </a:solidFill>
                <a:latin typeface="Arial MT"/>
                <a:cs typeface="Arial MT"/>
              </a:rPr>
              <a:t>as</a:t>
            </a:r>
            <a:r>
              <a:rPr sz="2000" spc="45" dirty="0">
                <a:solidFill>
                  <a:srgbClr val="292934"/>
                </a:solidFill>
                <a:latin typeface="Arial MT"/>
                <a:cs typeface="Arial MT"/>
              </a:rPr>
              <a:t> </a:t>
            </a:r>
            <a:r>
              <a:rPr sz="2000" dirty="0">
                <a:solidFill>
                  <a:srgbClr val="292934"/>
                </a:solidFill>
                <a:latin typeface="Arial MT"/>
                <a:cs typeface="Arial MT"/>
              </a:rPr>
              <a:t>statistical</a:t>
            </a:r>
            <a:r>
              <a:rPr sz="2000" spc="60" dirty="0">
                <a:solidFill>
                  <a:srgbClr val="292934"/>
                </a:solidFill>
                <a:latin typeface="Arial MT"/>
                <a:cs typeface="Arial MT"/>
              </a:rPr>
              <a:t> </a:t>
            </a:r>
            <a:r>
              <a:rPr sz="2000" dirty="0">
                <a:solidFill>
                  <a:srgbClr val="292934"/>
                </a:solidFill>
                <a:latin typeface="Arial MT"/>
                <a:cs typeface="Arial MT"/>
              </a:rPr>
              <a:t>analysis,</a:t>
            </a:r>
            <a:r>
              <a:rPr sz="2000" spc="35" dirty="0">
                <a:solidFill>
                  <a:srgbClr val="292934"/>
                </a:solidFill>
                <a:latin typeface="Arial MT"/>
                <a:cs typeface="Arial MT"/>
              </a:rPr>
              <a:t> </a:t>
            </a:r>
            <a:r>
              <a:rPr sz="2000" spc="-10" dirty="0">
                <a:solidFill>
                  <a:srgbClr val="292934"/>
                </a:solidFill>
                <a:latin typeface="Arial MT"/>
                <a:cs typeface="Arial MT"/>
              </a:rPr>
              <a:t>visualization, </a:t>
            </a:r>
            <a:r>
              <a:rPr sz="2000" dirty="0">
                <a:solidFill>
                  <a:srgbClr val="292934"/>
                </a:solidFill>
                <a:latin typeface="Arial MT"/>
                <a:cs typeface="Arial MT"/>
              </a:rPr>
              <a:t>and</a:t>
            </a:r>
            <a:r>
              <a:rPr sz="2000" spc="220" dirty="0">
                <a:solidFill>
                  <a:srgbClr val="292934"/>
                </a:solidFill>
                <a:latin typeface="Arial MT"/>
                <a:cs typeface="Arial MT"/>
              </a:rPr>
              <a:t> </a:t>
            </a:r>
            <a:r>
              <a:rPr sz="2000" dirty="0">
                <a:solidFill>
                  <a:srgbClr val="292934"/>
                </a:solidFill>
                <a:latin typeface="Arial MT"/>
                <a:cs typeface="Arial MT"/>
              </a:rPr>
              <a:t>predictive</a:t>
            </a:r>
            <a:r>
              <a:rPr sz="2000" spc="215" dirty="0">
                <a:solidFill>
                  <a:srgbClr val="292934"/>
                </a:solidFill>
                <a:latin typeface="Arial MT"/>
                <a:cs typeface="Arial MT"/>
              </a:rPr>
              <a:t> </a:t>
            </a:r>
            <a:r>
              <a:rPr sz="2000" dirty="0">
                <a:solidFill>
                  <a:srgbClr val="292934"/>
                </a:solidFill>
                <a:latin typeface="Arial MT"/>
                <a:cs typeface="Arial MT"/>
              </a:rPr>
              <a:t>modeling,</a:t>
            </a:r>
            <a:r>
              <a:rPr sz="2000" spc="204" dirty="0">
                <a:solidFill>
                  <a:srgbClr val="292934"/>
                </a:solidFill>
                <a:latin typeface="Arial MT"/>
                <a:cs typeface="Arial MT"/>
              </a:rPr>
              <a:t> </a:t>
            </a:r>
            <a:r>
              <a:rPr sz="2000" dirty="0">
                <a:solidFill>
                  <a:srgbClr val="292934"/>
                </a:solidFill>
                <a:latin typeface="Arial MT"/>
                <a:cs typeface="Arial MT"/>
              </a:rPr>
              <a:t>we</a:t>
            </a:r>
            <a:r>
              <a:rPr sz="2000" spc="220" dirty="0">
                <a:solidFill>
                  <a:srgbClr val="292934"/>
                </a:solidFill>
                <a:latin typeface="Arial MT"/>
                <a:cs typeface="Arial MT"/>
              </a:rPr>
              <a:t> </a:t>
            </a:r>
            <a:r>
              <a:rPr sz="2000" dirty="0">
                <a:solidFill>
                  <a:srgbClr val="292934"/>
                </a:solidFill>
                <a:latin typeface="Arial MT"/>
                <a:cs typeface="Arial MT"/>
              </a:rPr>
              <a:t>aim</a:t>
            </a:r>
            <a:r>
              <a:rPr sz="2000" spc="215" dirty="0">
                <a:solidFill>
                  <a:srgbClr val="292934"/>
                </a:solidFill>
                <a:latin typeface="Arial MT"/>
                <a:cs typeface="Arial MT"/>
              </a:rPr>
              <a:t> </a:t>
            </a:r>
            <a:r>
              <a:rPr sz="2000" dirty="0">
                <a:solidFill>
                  <a:srgbClr val="292934"/>
                </a:solidFill>
                <a:latin typeface="Arial MT"/>
                <a:cs typeface="Arial MT"/>
              </a:rPr>
              <a:t>to</a:t>
            </a:r>
            <a:r>
              <a:rPr sz="2000" spc="215" dirty="0">
                <a:solidFill>
                  <a:srgbClr val="292934"/>
                </a:solidFill>
                <a:latin typeface="Arial MT"/>
                <a:cs typeface="Arial MT"/>
              </a:rPr>
              <a:t> </a:t>
            </a:r>
            <a:r>
              <a:rPr sz="2000" dirty="0">
                <a:solidFill>
                  <a:srgbClr val="292934"/>
                </a:solidFill>
                <a:latin typeface="Arial MT"/>
                <a:cs typeface="Arial MT"/>
              </a:rPr>
              <a:t>extract</a:t>
            </a:r>
            <a:r>
              <a:rPr sz="2000" spc="215" dirty="0">
                <a:solidFill>
                  <a:srgbClr val="292934"/>
                </a:solidFill>
                <a:latin typeface="Arial MT"/>
                <a:cs typeface="Arial MT"/>
              </a:rPr>
              <a:t> </a:t>
            </a:r>
            <a:r>
              <a:rPr sz="2000" dirty="0">
                <a:solidFill>
                  <a:srgbClr val="292934"/>
                </a:solidFill>
                <a:latin typeface="Arial MT"/>
                <a:cs typeface="Arial MT"/>
              </a:rPr>
              <a:t>meaningful</a:t>
            </a:r>
            <a:r>
              <a:rPr sz="2000" spc="200" dirty="0">
                <a:solidFill>
                  <a:srgbClr val="292934"/>
                </a:solidFill>
                <a:latin typeface="Arial MT"/>
                <a:cs typeface="Arial MT"/>
              </a:rPr>
              <a:t> </a:t>
            </a:r>
            <a:r>
              <a:rPr sz="2000" dirty="0">
                <a:solidFill>
                  <a:srgbClr val="292934"/>
                </a:solidFill>
                <a:latin typeface="Arial MT"/>
                <a:cs typeface="Arial MT"/>
              </a:rPr>
              <a:t>insights</a:t>
            </a:r>
            <a:r>
              <a:rPr sz="2000" spc="220" dirty="0">
                <a:solidFill>
                  <a:srgbClr val="292934"/>
                </a:solidFill>
                <a:latin typeface="Arial MT"/>
                <a:cs typeface="Arial MT"/>
              </a:rPr>
              <a:t> </a:t>
            </a:r>
            <a:r>
              <a:rPr sz="2000" dirty="0">
                <a:solidFill>
                  <a:srgbClr val="292934"/>
                </a:solidFill>
                <a:latin typeface="Arial MT"/>
                <a:cs typeface="Arial MT"/>
              </a:rPr>
              <a:t>from</a:t>
            </a:r>
            <a:r>
              <a:rPr sz="2000" spc="215" dirty="0">
                <a:solidFill>
                  <a:srgbClr val="292934"/>
                </a:solidFill>
                <a:latin typeface="Arial MT"/>
                <a:cs typeface="Arial MT"/>
              </a:rPr>
              <a:t> </a:t>
            </a:r>
            <a:r>
              <a:rPr sz="2000" dirty="0">
                <a:solidFill>
                  <a:srgbClr val="292934"/>
                </a:solidFill>
                <a:latin typeface="Arial MT"/>
                <a:cs typeface="Arial MT"/>
              </a:rPr>
              <a:t>patient</a:t>
            </a:r>
            <a:r>
              <a:rPr sz="2000" spc="195" dirty="0">
                <a:solidFill>
                  <a:srgbClr val="292934"/>
                </a:solidFill>
                <a:latin typeface="Arial MT"/>
                <a:cs typeface="Arial MT"/>
              </a:rPr>
              <a:t> </a:t>
            </a:r>
            <a:r>
              <a:rPr sz="2000" dirty="0">
                <a:solidFill>
                  <a:srgbClr val="292934"/>
                </a:solidFill>
                <a:latin typeface="Arial MT"/>
                <a:cs typeface="Arial MT"/>
              </a:rPr>
              <a:t>records,</a:t>
            </a:r>
            <a:r>
              <a:rPr sz="2000" spc="210" dirty="0">
                <a:solidFill>
                  <a:srgbClr val="292934"/>
                </a:solidFill>
                <a:latin typeface="Arial MT"/>
                <a:cs typeface="Arial MT"/>
              </a:rPr>
              <a:t> </a:t>
            </a:r>
            <a:r>
              <a:rPr sz="2000" spc="-10" dirty="0">
                <a:solidFill>
                  <a:srgbClr val="292934"/>
                </a:solidFill>
                <a:latin typeface="Arial MT"/>
                <a:cs typeface="Arial MT"/>
              </a:rPr>
              <a:t>biopsy </a:t>
            </a:r>
            <a:r>
              <a:rPr sz="2000" dirty="0">
                <a:solidFill>
                  <a:srgbClr val="292934"/>
                </a:solidFill>
                <a:latin typeface="Arial MT"/>
                <a:cs typeface="Arial MT"/>
              </a:rPr>
              <a:t>results,</a:t>
            </a:r>
            <a:r>
              <a:rPr sz="2000" spc="-45" dirty="0">
                <a:solidFill>
                  <a:srgbClr val="292934"/>
                </a:solidFill>
                <a:latin typeface="Arial MT"/>
                <a:cs typeface="Arial MT"/>
              </a:rPr>
              <a:t> </a:t>
            </a:r>
            <a:r>
              <a:rPr sz="2000" dirty="0">
                <a:solidFill>
                  <a:srgbClr val="292934"/>
                </a:solidFill>
                <a:latin typeface="Arial MT"/>
                <a:cs typeface="Arial MT"/>
              </a:rPr>
              <a:t>and</a:t>
            </a:r>
            <a:r>
              <a:rPr sz="2000" spc="-15" dirty="0">
                <a:solidFill>
                  <a:srgbClr val="292934"/>
                </a:solidFill>
                <a:latin typeface="Arial MT"/>
                <a:cs typeface="Arial MT"/>
              </a:rPr>
              <a:t> </a:t>
            </a:r>
            <a:r>
              <a:rPr sz="2000" dirty="0">
                <a:solidFill>
                  <a:srgbClr val="292934"/>
                </a:solidFill>
                <a:latin typeface="Arial MT"/>
                <a:cs typeface="Arial MT"/>
              </a:rPr>
              <a:t>tumor</a:t>
            </a:r>
            <a:r>
              <a:rPr sz="2000" spc="-30" dirty="0">
                <a:solidFill>
                  <a:srgbClr val="292934"/>
                </a:solidFill>
                <a:latin typeface="Arial MT"/>
                <a:cs typeface="Arial MT"/>
              </a:rPr>
              <a:t> </a:t>
            </a:r>
            <a:r>
              <a:rPr sz="2000" spc="-10" dirty="0">
                <a:solidFill>
                  <a:srgbClr val="292934"/>
                </a:solidFill>
                <a:latin typeface="Arial MT"/>
                <a:cs typeface="Arial MT"/>
              </a:rPr>
              <a:t>characteristics.</a:t>
            </a:r>
            <a:endParaRPr sz="2000">
              <a:latin typeface="Arial MT"/>
              <a:cs typeface="Arial MT"/>
            </a:endParaRPr>
          </a:p>
        </p:txBody>
      </p:sp>
      <p:pic>
        <p:nvPicPr>
          <p:cNvPr id="4" name="object 4"/>
          <p:cNvPicPr/>
          <p:nvPr/>
        </p:nvPicPr>
        <p:blipFill>
          <a:blip r:embed="rId2" cstate="print"/>
          <a:stretch>
            <a:fillRect/>
          </a:stretch>
        </p:blipFill>
        <p:spPr>
          <a:xfrm>
            <a:off x="2763773" y="3805935"/>
            <a:ext cx="5811012" cy="1771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697737"/>
            <a:ext cx="5220335" cy="635000"/>
          </a:xfrm>
          <a:prstGeom prst="rect">
            <a:avLst/>
          </a:prstGeom>
        </p:spPr>
        <p:txBody>
          <a:bodyPr vert="horz" wrap="square" lIns="0" tIns="12065" rIns="0" bIns="0" rtlCol="0">
            <a:spAutoFit/>
          </a:bodyPr>
          <a:lstStyle/>
          <a:p>
            <a:pPr marL="12700">
              <a:lnSpc>
                <a:spcPct val="100000"/>
              </a:lnSpc>
              <a:spcBef>
                <a:spcPts val="95"/>
              </a:spcBef>
            </a:pPr>
            <a:r>
              <a:rPr spc="-140" dirty="0"/>
              <a:t>LITERATURE</a:t>
            </a:r>
            <a:r>
              <a:rPr spc="-130" dirty="0"/>
              <a:t> </a:t>
            </a:r>
            <a:r>
              <a:rPr spc="-65" dirty="0"/>
              <a:t>SURVEY</a:t>
            </a:r>
          </a:p>
        </p:txBody>
      </p:sp>
      <p:sp>
        <p:nvSpPr>
          <p:cNvPr id="3" name="object 3"/>
          <p:cNvSpPr txBox="1"/>
          <p:nvPr/>
        </p:nvSpPr>
        <p:spPr>
          <a:xfrm>
            <a:off x="688340" y="1500505"/>
            <a:ext cx="10582275" cy="2039020"/>
          </a:xfrm>
          <a:prstGeom prst="rect">
            <a:avLst/>
          </a:prstGeom>
        </p:spPr>
        <p:txBody>
          <a:bodyPr vert="horz" wrap="square" lIns="0" tIns="12700" rIns="0" bIns="0" rtlCol="0">
            <a:spAutoFit/>
          </a:bodyPr>
          <a:lstStyle/>
          <a:p>
            <a:pPr marL="12700" marR="5080" algn="just">
              <a:lnSpc>
                <a:spcPct val="150100"/>
              </a:lnSpc>
              <a:spcBef>
                <a:spcPts val="100"/>
              </a:spcBef>
            </a:pPr>
            <a:r>
              <a:rPr sz="1800" dirty="0">
                <a:solidFill>
                  <a:srgbClr val="292934"/>
                </a:solidFill>
                <a:latin typeface="Arial MT"/>
                <a:cs typeface="Arial MT"/>
              </a:rPr>
              <a:t>Breast</a:t>
            </a:r>
            <a:r>
              <a:rPr sz="1800" spc="330" dirty="0">
                <a:solidFill>
                  <a:srgbClr val="292934"/>
                </a:solidFill>
                <a:latin typeface="Arial MT"/>
                <a:cs typeface="Arial MT"/>
              </a:rPr>
              <a:t> </a:t>
            </a:r>
            <a:r>
              <a:rPr sz="1800" dirty="0">
                <a:solidFill>
                  <a:srgbClr val="292934"/>
                </a:solidFill>
                <a:latin typeface="Arial MT"/>
                <a:cs typeface="Arial MT"/>
              </a:rPr>
              <a:t>cancer</a:t>
            </a:r>
            <a:r>
              <a:rPr sz="1800" spc="335" dirty="0">
                <a:solidFill>
                  <a:srgbClr val="292934"/>
                </a:solidFill>
                <a:latin typeface="Arial MT"/>
                <a:cs typeface="Arial MT"/>
              </a:rPr>
              <a:t> </a:t>
            </a:r>
            <a:r>
              <a:rPr sz="1800" dirty="0">
                <a:solidFill>
                  <a:srgbClr val="292934"/>
                </a:solidFill>
                <a:latin typeface="Arial MT"/>
                <a:cs typeface="Arial MT"/>
              </a:rPr>
              <a:t>is</a:t>
            </a:r>
            <a:r>
              <a:rPr sz="1800" spc="325" dirty="0">
                <a:solidFill>
                  <a:srgbClr val="292934"/>
                </a:solidFill>
                <a:latin typeface="Arial MT"/>
                <a:cs typeface="Arial MT"/>
              </a:rPr>
              <a:t> </a:t>
            </a:r>
            <a:r>
              <a:rPr sz="1800" dirty="0">
                <a:solidFill>
                  <a:srgbClr val="292934"/>
                </a:solidFill>
                <a:latin typeface="Arial MT"/>
                <a:cs typeface="Arial MT"/>
              </a:rPr>
              <a:t>one</a:t>
            </a:r>
            <a:r>
              <a:rPr sz="1800" spc="325" dirty="0">
                <a:solidFill>
                  <a:srgbClr val="292934"/>
                </a:solidFill>
                <a:latin typeface="Arial MT"/>
                <a:cs typeface="Arial MT"/>
              </a:rPr>
              <a:t> </a:t>
            </a:r>
            <a:r>
              <a:rPr sz="1800" dirty="0">
                <a:solidFill>
                  <a:srgbClr val="292934"/>
                </a:solidFill>
                <a:latin typeface="Arial MT"/>
                <a:cs typeface="Arial MT"/>
              </a:rPr>
              <a:t>of</a:t>
            </a:r>
            <a:r>
              <a:rPr sz="1800" spc="320" dirty="0">
                <a:solidFill>
                  <a:srgbClr val="292934"/>
                </a:solidFill>
                <a:latin typeface="Arial MT"/>
                <a:cs typeface="Arial MT"/>
              </a:rPr>
              <a:t> </a:t>
            </a:r>
            <a:r>
              <a:rPr sz="1800" dirty="0">
                <a:solidFill>
                  <a:srgbClr val="292934"/>
                </a:solidFill>
                <a:latin typeface="Arial MT"/>
                <a:cs typeface="Arial MT"/>
              </a:rPr>
              <a:t>the</a:t>
            </a:r>
            <a:r>
              <a:rPr sz="1800" spc="325" dirty="0">
                <a:solidFill>
                  <a:srgbClr val="292934"/>
                </a:solidFill>
                <a:latin typeface="Arial MT"/>
                <a:cs typeface="Arial MT"/>
              </a:rPr>
              <a:t> </a:t>
            </a:r>
            <a:r>
              <a:rPr sz="1800" dirty="0">
                <a:solidFill>
                  <a:srgbClr val="292934"/>
                </a:solidFill>
                <a:latin typeface="Arial MT"/>
                <a:cs typeface="Arial MT"/>
              </a:rPr>
              <a:t>most</a:t>
            </a:r>
            <a:r>
              <a:rPr sz="1800" spc="325" dirty="0">
                <a:solidFill>
                  <a:srgbClr val="292934"/>
                </a:solidFill>
                <a:latin typeface="Arial MT"/>
                <a:cs typeface="Arial MT"/>
              </a:rPr>
              <a:t> </a:t>
            </a:r>
            <a:r>
              <a:rPr sz="1800" dirty="0">
                <a:solidFill>
                  <a:srgbClr val="292934"/>
                </a:solidFill>
                <a:latin typeface="Arial MT"/>
                <a:cs typeface="Arial MT"/>
              </a:rPr>
              <a:t>prevalent</a:t>
            </a:r>
            <a:r>
              <a:rPr sz="1800" spc="335" dirty="0">
                <a:solidFill>
                  <a:srgbClr val="292934"/>
                </a:solidFill>
                <a:latin typeface="Arial MT"/>
                <a:cs typeface="Arial MT"/>
              </a:rPr>
              <a:t> </a:t>
            </a:r>
            <a:r>
              <a:rPr sz="1800" dirty="0">
                <a:solidFill>
                  <a:srgbClr val="292934"/>
                </a:solidFill>
                <a:latin typeface="Arial MT"/>
                <a:cs typeface="Arial MT"/>
              </a:rPr>
              <a:t>cancers</a:t>
            </a:r>
            <a:r>
              <a:rPr sz="1800" spc="325" dirty="0">
                <a:solidFill>
                  <a:srgbClr val="292934"/>
                </a:solidFill>
                <a:latin typeface="Arial MT"/>
                <a:cs typeface="Arial MT"/>
              </a:rPr>
              <a:t> </a:t>
            </a:r>
            <a:r>
              <a:rPr sz="1800" dirty="0">
                <a:solidFill>
                  <a:srgbClr val="292934"/>
                </a:solidFill>
                <a:latin typeface="Arial MT"/>
                <a:cs typeface="Arial MT"/>
              </a:rPr>
              <a:t>among</a:t>
            </a:r>
            <a:r>
              <a:rPr sz="1800" spc="340" dirty="0">
                <a:solidFill>
                  <a:srgbClr val="292934"/>
                </a:solidFill>
                <a:latin typeface="Arial MT"/>
                <a:cs typeface="Arial MT"/>
              </a:rPr>
              <a:t> </a:t>
            </a:r>
            <a:r>
              <a:rPr sz="1800" dirty="0">
                <a:solidFill>
                  <a:srgbClr val="292934"/>
                </a:solidFill>
                <a:latin typeface="Arial MT"/>
                <a:cs typeface="Arial MT"/>
              </a:rPr>
              <a:t>women</a:t>
            </a:r>
            <a:r>
              <a:rPr sz="1800" spc="340" dirty="0">
                <a:solidFill>
                  <a:srgbClr val="292934"/>
                </a:solidFill>
                <a:latin typeface="Arial MT"/>
                <a:cs typeface="Arial MT"/>
              </a:rPr>
              <a:t> </a:t>
            </a:r>
            <a:r>
              <a:rPr sz="1800" dirty="0">
                <a:solidFill>
                  <a:srgbClr val="292934"/>
                </a:solidFill>
                <a:latin typeface="Arial MT"/>
                <a:cs typeface="Arial MT"/>
              </a:rPr>
              <a:t>worldwide.</a:t>
            </a:r>
            <a:r>
              <a:rPr sz="1800" spc="330" dirty="0">
                <a:solidFill>
                  <a:srgbClr val="292934"/>
                </a:solidFill>
                <a:latin typeface="Arial MT"/>
                <a:cs typeface="Arial MT"/>
              </a:rPr>
              <a:t> </a:t>
            </a:r>
            <a:r>
              <a:rPr sz="1800" dirty="0">
                <a:solidFill>
                  <a:srgbClr val="292934"/>
                </a:solidFill>
                <a:latin typeface="Arial MT"/>
                <a:cs typeface="Arial MT"/>
              </a:rPr>
              <a:t>It</a:t>
            </a:r>
            <a:r>
              <a:rPr sz="1800" spc="335" dirty="0">
                <a:solidFill>
                  <a:srgbClr val="292934"/>
                </a:solidFill>
                <a:latin typeface="Arial MT"/>
                <a:cs typeface="Arial MT"/>
              </a:rPr>
              <a:t> </a:t>
            </a:r>
            <a:r>
              <a:rPr sz="1800" dirty="0">
                <a:solidFill>
                  <a:srgbClr val="292934"/>
                </a:solidFill>
                <a:latin typeface="Arial MT"/>
                <a:cs typeface="Arial MT"/>
              </a:rPr>
              <a:t>occurs</a:t>
            </a:r>
            <a:r>
              <a:rPr sz="1800" spc="325" dirty="0">
                <a:solidFill>
                  <a:srgbClr val="292934"/>
                </a:solidFill>
                <a:latin typeface="Arial MT"/>
                <a:cs typeface="Arial MT"/>
              </a:rPr>
              <a:t> </a:t>
            </a:r>
            <a:r>
              <a:rPr sz="1800" dirty="0">
                <a:solidFill>
                  <a:srgbClr val="292934"/>
                </a:solidFill>
                <a:latin typeface="Arial MT"/>
                <a:cs typeface="Arial MT"/>
              </a:rPr>
              <a:t>due</a:t>
            </a:r>
            <a:r>
              <a:rPr sz="1800" spc="320" dirty="0">
                <a:solidFill>
                  <a:srgbClr val="292934"/>
                </a:solidFill>
                <a:latin typeface="Arial MT"/>
                <a:cs typeface="Arial MT"/>
              </a:rPr>
              <a:t> </a:t>
            </a:r>
            <a:r>
              <a:rPr sz="1800" dirty="0">
                <a:solidFill>
                  <a:srgbClr val="292934"/>
                </a:solidFill>
                <a:latin typeface="Arial MT"/>
                <a:cs typeface="Arial MT"/>
              </a:rPr>
              <a:t>to</a:t>
            </a:r>
            <a:r>
              <a:rPr sz="1800" spc="325" dirty="0">
                <a:solidFill>
                  <a:srgbClr val="292934"/>
                </a:solidFill>
                <a:latin typeface="Arial MT"/>
                <a:cs typeface="Arial MT"/>
              </a:rPr>
              <a:t> </a:t>
            </a:r>
            <a:r>
              <a:rPr sz="1800" spc="-25" dirty="0">
                <a:solidFill>
                  <a:srgbClr val="292934"/>
                </a:solidFill>
                <a:latin typeface="Arial MT"/>
                <a:cs typeface="Arial MT"/>
              </a:rPr>
              <a:t>the </a:t>
            </a:r>
            <a:r>
              <a:rPr sz="1800" dirty="0">
                <a:solidFill>
                  <a:srgbClr val="292934"/>
                </a:solidFill>
                <a:latin typeface="Arial MT"/>
                <a:cs typeface="Arial MT"/>
              </a:rPr>
              <a:t>uncontrolled</a:t>
            </a:r>
            <a:r>
              <a:rPr sz="1800" spc="409" dirty="0">
                <a:solidFill>
                  <a:srgbClr val="292934"/>
                </a:solidFill>
                <a:latin typeface="Arial MT"/>
                <a:cs typeface="Arial MT"/>
              </a:rPr>
              <a:t> </a:t>
            </a:r>
            <a:r>
              <a:rPr sz="1800" dirty="0">
                <a:solidFill>
                  <a:srgbClr val="292934"/>
                </a:solidFill>
                <a:latin typeface="Arial MT"/>
                <a:cs typeface="Arial MT"/>
              </a:rPr>
              <a:t>growth</a:t>
            </a:r>
            <a:r>
              <a:rPr sz="1800" spc="409" dirty="0">
                <a:solidFill>
                  <a:srgbClr val="292934"/>
                </a:solidFill>
                <a:latin typeface="Arial MT"/>
                <a:cs typeface="Arial MT"/>
              </a:rPr>
              <a:t> </a:t>
            </a:r>
            <a:r>
              <a:rPr sz="1800" dirty="0">
                <a:solidFill>
                  <a:srgbClr val="292934"/>
                </a:solidFill>
                <a:latin typeface="Arial MT"/>
                <a:cs typeface="Arial MT"/>
              </a:rPr>
              <a:t>of</a:t>
            </a:r>
            <a:r>
              <a:rPr sz="1800" spc="415" dirty="0">
                <a:solidFill>
                  <a:srgbClr val="292934"/>
                </a:solidFill>
                <a:latin typeface="Arial MT"/>
                <a:cs typeface="Arial MT"/>
              </a:rPr>
              <a:t> </a:t>
            </a:r>
            <a:r>
              <a:rPr sz="1800" dirty="0">
                <a:solidFill>
                  <a:srgbClr val="292934"/>
                </a:solidFill>
                <a:latin typeface="Arial MT"/>
                <a:cs typeface="Arial MT"/>
              </a:rPr>
              <a:t>cells</a:t>
            </a:r>
            <a:r>
              <a:rPr sz="1800" spc="415" dirty="0">
                <a:solidFill>
                  <a:srgbClr val="292934"/>
                </a:solidFill>
                <a:latin typeface="Arial MT"/>
                <a:cs typeface="Arial MT"/>
              </a:rPr>
              <a:t> </a:t>
            </a:r>
            <a:r>
              <a:rPr sz="1800" dirty="0">
                <a:solidFill>
                  <a:srgbClr val="292934"/>
                </a:solidFill>
                <a:latin typeface="Arial MT"/>
                <a:cs typeface="Arial MT"/>
              </a:rPr>
              <a:t>in</a:t>
            </a:r>
            <a:r>
              <a:rPr sz="1800" spc="409" dirty="0">
                <a:solidFill>
                  <a:srgbClr val="292934"/>
                </a:solidFill>
                <a:latin typeface="Arial MT"/>
                <a:cs typeface="Arial MT"/>
              </a:rPr>
              <a:t> </a:t>
            </a:r>
            <a:r>
              <a:rPr sz="1800" dirty="0">
                <a:solidFill>
                  <a:srgbClr val="292934"/>
                </a:solidFill>
                <a:latin typeface="Arial MT"/>
                <a:cs typeface="Arial MT"/>
              </a:rPr>
              <a:t>breast</a:t>
            </a:r>
            <a:r>
              <a:rPr sz="1800" spc="409" dirty="0">
                <a:solidFill>
                  <a:srgbClr val="292934"/>
                </a:solidFill>
                <a:latin typeface="Arial MT"/>
                <a:cs typeface="Arial MT"/>
              </a:rPr>
              <a:t> </a:t>
            </a:r>
            <a:r>
              <a:rPr sz="1800" dirty="0">
                <a:solidFill>
                  <a:srgbClr val="292934"/>
                </a:solidFill>
                <a:latin typeface="Arial MT"/>
                <a:cs typeface="Arial MT"/>
              </a:rPr>
              <a:t>tissue</a:t>
            </a:r>
            <a:r>
              <a:rPr sz="1800" spc="405" dirty="0">
                <a:solidFill>
                  <a:srgbClr val="292934"/>
                </a:solidFill>
                <a:latin typeface="Arial MT"/>
                <a:cs typeface="Arial MT"/>
              </a:rPr>
              <a:t> </a:t>
            </a:r>
            <a:r>
              <a:rPr sz="1800" dirty="0">
                <a:solidFill>
                  <a:srgbClr val="292934"/>
                </a:solidFill>
                <a:latin typeface="Arial MT"/>
                <a:cs typeface="Arial MT"/>
              </a:rPr>
              <a:t>and</a:t>
            </a:r>
            <a:r>
              <a:rPr sz="1800" spc="409" dirty="0">
                <a:solidFill>
                  <a:srgbClr val="292934"/>
                </a:solidFill>
                <a:latin typeface="Arial MT"/>
                <a:cs typeface="Arial MT"/>
              </a:rPr>
              <a:t> </a:t>
            </a:r>
            <a:r>
              <a:rPr sz="1800" dirty="0">
                <a:solidFill>
                  <a:srgbClr val="292934"/>
                </a:solidFill>
                <a:latin typeface="Arial MT"/>
                <a:cs typeface="Arial MT"/>
              </a:rPr>
              <a:t>can</a:t>
            </a:r>
            <a:r>
              <a:rPr sz="1800" spc="405" dirty="0">
                <a:solidFill>
                  <a:srgbClr val="292934"/>
                </a:solidFill>
                <a:latin typeface="Arial MT"/>
                <a:cs typeface="Arial MT"/>
              </a:rPr>
              <a:t> </a:t>
            </a:r>
            <a:r>
              <a:rPr sz="1800" dirty="0">
                <a:solidFill>
                  <a:srgbClr val="292934"/>
                </a:solidFill>
                <a:latin typeface="Arial MT"/>
                <a:cs typeface="Arial MT"/>
              </a:rPr>
              <a:t>be</a:t>
            </a:r>
            <a:r>
              <a:rPr sz="1800" spc="409" dirty="0">
                <a:solidFill>
                  <a:srgbClr val="292934"/>
                </a:solidFill>
                <a:latin typeface="Arial MT"/>
                <a:cs typeface="Arial MT"/>
              </a:rPr>
              <a:t> </a:t>
            </a:r>
            <a:r>
              <a:rPr sz="1800" dirty="0">
                <a:solidFill>
                  <a:srgbClr val="292934"/>
                </a:solidFill>
                <a:latin typeface="Arial MT"/>
                <a:cs typeface="Arial MT"/>
              </a:rPr>
              <a:t>classified</a:t>
            </a:r>
            <a:r>
              <a:rPr sz="1800" spc="409" dirty="0">
                <a:solidFill>
                  <a:srgbClr val="292934"/>
                </a:solidFill>
                <a:latin typeface="Arial MT"/>
                <a:cs typeface="Arial MT"/>
              </a:rPr>
              <a:t> </a:t>
            </a:r>
            <a:r>
              <a:rPr sz="1800" dirty="0">
                <a:solidFill>
                  <a:srgbClr val="292934"/>
                </a:solidFill>
                <a:latin typeface="Arial MT"/>
                <a:cs typeface="Arial MT"/>
              </a:rPr>
              <a:t>as</a:t>
            </a:r>
            <a:r>
              <a:rPr sz="1800" spc="430" dirty="0">
                <a:solidFill>
                  <a:srgbClr val="292934"/>
                </a:solidFill>
                <a:latin typeface="Arial MT"/>
                <a:cs typeface="Arial MT"/>
              </a:rPr>
              <a:t> </a:t>
            </a:r>
            <a:r>
              <a:rPr sz="1800" b="1" dirty="0">
                <a:solidFill>
                  <a:srgbClr val="292934"/>
                </a:solidFill>
                <a:latin typeface="Arial MT"/>
                <a:cs typeface="Arial MT"/>
              </a:rPr>
              <a:t>benign</a:t>
            </a:r>
            <a:r>
              <a:rPr sz="1800" spc="405" dirty="0">
                <a:solidFill>
                  <a:srgbClr val="292934"/>
                </a:solidFill>
                <a:latin typeface="Arial MT"/>
                <a:cs typeface="Arial MT"/>
              </a:rPr>
              <a:t> </a:t>
            </a:r>
            <a:r>
              <a:rPr sz="1800" spc="-10" dirty="0">
                <a:solidFill>
                  <a:srgbClr val="292934"/>
                </a:solidFill>
                <a:latin typeface="Arial MT"/>
                <a:cs typeface="Arial MT"/>
              </a:rPr>
              <a:t>(non-</a:t>
            </a:r>
            <a:r>
              <a:rPr sz="1800" dirty="0">
                <a:solidFill>
                  <a:srgbClr val="292934"/>
                </a:solidFill>
                <a:latin typeface="Arial MT"/>
                <a:cs typeface="Arial MT"/>
              </a:rPr>
              <a:t>cancerous)</a:t>
            </a:r>
            <a:r>
              <a:rPr sz="1800" spc="415" dirty="0">
                <a:solidFill>
                  <a:srgbClr val="292934"/>
                </a:solidFill>
                <a:latin typeface="Arial MT"/>
                <a:cs typeface="Arial MT"/>
              </a:rPr>
              <a:t> </a:t>
            </a:r>
            <a:r>
              <a:rPr sz="1800" spc="-25" dirty="0">
                <a:solidFill>
                  <a:srgbClr val="292934"/>
                </a:solidFill>
                <a:latin typeface="Arial MT"/>
                <a:cs typeface="Arial MT"/>
              </a:rPr>
              <a:t>or</a:t>
            </a:r>
            <a:endParaRPr sz="1800" dirty="0">
              <a:latin typeface="Arial MT"/>
              <a:cs typeface="Arial MT"/>
            </a:endParaRPr>
          </a:p>
          <a:p>
            <a:pPr marL="12700" marR="5080" algn="just">
              <a:lnSpc>
                <a:spcPct val="150000"/>
              </a:lnSpc>
            </a:pPr>
            <a:r>
              <a:rPr sz="1800" b="1" dirty="0">
                <a:solidFill>
                  <a:srgbClr val="292934"/>
                </a:solidFill>
                <a:latin typeface="Arial MT"/>
                <a:cs typeface="Arial MT"/>
              </a:rPr>
              <a:t>malignant</a:t>
            </a:r>
            <a:r>
              <a:rPr sz="1800" spc="165" dirty="0">
                <a:solidFill>
                  <a:srgbClr val="292934"/>
                </a:solidFill>
                <a:latin typeface="Arial MT"/>
                <a:cs typeface="Arial MT"/>
              </a:rPr>
              <a:t> </a:t>
            </a:r>
            <a:r>
              <a:rPr sz="1800" dirty="0">
                <a:solidFill>
                  <a:srgbClr val="292934"/>
                </a:solidFill>
                <a:latin typeface="Arial MT"/>
                <a:cs typeface="Arial MT"/>
              </a:rPr>
              <a:t>(cancerous).</a:t>
            </a:r>
            <a:r>
              <a:rPr lang="en-US" sz="1800" spc="165" dirty="0">
                <a:solidFill>
                  <a:srgbClr val="1A1A1A"/>
                </a:solidFill>
                <a:latin typeface="Helvetica" panose="020B0604020202020204" pitchFamily="34" charset="0"/>
                <a:cs typeface="Arial MT"/>
              </a:rPr>
              <a:t>T</a:t>
            </a:r>
            <a:r>
              <a:rPr lang="en-US" b="0" i="0" dirty="0">
                <a:solidFill>
                  <a:srgbClr val="1A1A1A"/>
                </a:solidFill>
                <a:effectLst/>
                <a:latin typeface="Helvetica" panose="020B0604020202020204" pitchFamily="34" charset="0"/>
              </a:rPr>
              <a:t>he number of new breast cancer patients is expected to increase by 70% in the next 20 years. Therefore, early and accurate diagnosis plays a pivotal role in improving prognosis and increasing the survival rate of cancer patients from 30 to 50%</a:t>
            </a:r>
            <a:endParaRPr sz="1800" dirty="0">
              <a:latin typeface="Arial MT"/>
              <a:cs typeface="Arial MT"/>
            </a:endParaRPr>
          </a:p>
        </p:txBody>
      </p:sp>
      <p:pic>
        <p:nvPicPr>
          <p:cNvPr id="4" name="object 4"/>
          <p:cNvPicPr/>
          <p:nvPr/>
        </p:nvPicPr>
        <p:blipFill>
          <a:blip r:embed="rId2" cstate="print"/>
          <a:stretch>
            <a:fillRect/>
          </a:stretch>
        </p:blipFill>
        <p:spPr>
          <a:xfrm>
            <a:off x="3362959" y="4019169"/>
            <a:ext cx="4602480" cy="20158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60" dirty="0"/>
              <a:t>LIMITATIONS</a:t>
            </a:r>
            <a:r>
              <a:rPr spc="-200" dirty="0"/>
              <a:t> </a:t>
            </a:r>
            <a:r>
              <a:rPr spc="-50" dirty="0"/>
              <a:t>OF</a:t>
            </a:r>
            <a:r>
              <a:rPr spc="-170" dirty="0"/>
              <a:t> </a:t>
            </a:r>
            <a:r>
              <a:rPr spc="-105" dirty="0"/>
              <a:t>EXISTING</a:t>
            </a:r>
            <a:r>
              <a:rPr spc="-370" dirty="0"/>
              <a:t> </a:t>
            </a:r>
            <a:r>
              <a:rPr spc="-60" dirty="0"/>
              <a:t>ALGORITHMS</a:t>
            </a:r>
          </a:p>
        </p:txBody>
      </p:sp>
      <p:sp>
        <p:nvSpPr>
          <p:cNvPr id="3" name="object 3"/>
          <p:cNvSpPr txBox="1"/>
          <p:nvPr/>
        </p:nvSpPr>
        <p:spPr>
          <a:xfrm>
            <a:off x="688340" y="1493494"/>
            <a:ext cx="10584815" cy="3684270"/>
          </a:xfrm>
          <a:prstGeom prst="rect">
            <a:avLst/>
          </a:prstGeom>
        </p:spPr>
        <p:txBody>
          <a:bodyPr vert="horz" wrap="square" lIns="0" tIns="12700" rIns="0" bIns="0" rtlCol="0">
            <a:spAutoFit/>
          </a:bodyPr>
          <a:lstStyle/>
          <a:p>
            <a:pPr marL="355600" marR="5080" indent="-342900">
              <a:lnSpc>
                <a:spcPct val="150100"/>
              </a:lnSpc>
              <a:spcBef>
                <a:spcPts val="100"/>
              </a:spcBef>
              <a:buFont typeface="Arial MT"/>
              <a:buChar char="•"/>
              <a:tabLst>
                <a:tab pos="355600" algn="l"/>
                <a:tab pos="1826260" algn="l"/>
                <a:tab pos="2211705" algn="l"/>
                <a:tab pos="3286760" algn="l"/>
                <a:tab pos="4039235" algn="l"/>
                <a:tab pos="4959985" algn="l"/>
                <a:tab pos="5937250" algn="l"/>
                <a:tab pos="6546850" algn="l"/>
                <a:tab pos="7229475" algn="l"/>
                <a:tab pos="8221980" algn="l"/>
                <a:tab pos="9087485" algn="l"/>
                <a:tab pos="9514205" algn="l"/>
              </a:tabLst>
            </a:pPr>
            <a:r>
              <a:rPr sz="2000" b="1" spc="-10" dirty="0">
                <a:solidFill>
                  <a:srgbClr val="292934"/>
                </a:solidFill>
                <a:latin typeface="Arial"/>
                <a:cs typeface="Arial"/>
              </a:rPr>
              <a:t>Incomplete</a:t>
            </a:r>
            <a:r>
              <a:rPr sz="2000" b="1" dirty="0">
                <a:solidFill>
                  <a:srgbClr val="292934"/>
                </a:solidFill>
                <a:latin typeface="Arial"/>
                <a:cs typeface="Arial"/>
              </a:rPr>
              <a:t>	</a:t>
            </a:r>
            <a:r>
              <a:rPr sz="2000" b="1" spc="-25" dirty="0">
                <a:solidFill>
                  <a:srgbClr val="292934"/>
                </a:solidFill>
                <a:latin typeface="Arial"/>
                <a:cs typeface="Arial"/>
              </a:rPr>
              <a:t>or</a:t>
            </a:r>
            <a:r>
              <a:rPr sz="2000" b="1" dirty="0">
                <a:solidFill>
                  <a:srgbClr val="292934"/>
                </a:solidFill>
                <a:latin typeface="Arial"/>
                <a:cs typeface="Arial"/>
              </a:rPr>
              <a:t>	</a:t>
            </a:r>
            <a:r>
              <a:rPr sz="2000" b="1" spc="-10" dirty="0">
                <a:solidFill>
                  <a:srgbClr val="292934"/>
                </a:solidFill>
                <a:latin typeface="Arial"/>
                <a:cs typeface="Arial"/>
              </a:rPr>
              <a:t>Missing</a:t>
            </a:r>
            <a:r>
              <a:rPr sz="2000" b="1" dirty="0">
                <a:solidFill>
                  <a:srgbClr val="292934"/>
                </a:solidFill>
                <a:latin typeface="Arial"/>
                <a:cs typeface="Arial"/>
              </a:rPr>
              <a:t>	</a:t>
            </a:r>
            <a:r>
              <a:rPr sz="2000" b="1" spc="-10" dirty="0">
                <a:solidFill>
                  <a:srgbClr val="292934"/>
                </a:solidFill>
                <a:latin typeface="Arial"/>
                <a:cs typeface="Arial"/>
              </a:rPr>
              <a:t>Data</a:t>
            </a:r>
            <a:r>
              <a:rPr sz="2000" spc="-10" dirty="0">
                <a:solidFill>
                  <a:srgbClr val="292934"/>
                </a:solidFill>
                <a:latin typeface="Arial MT"/>
                <a:cs typeface="Arial MT"/>
              </a:rPr>
              <a:t>:</a:t>
            </a:r>
            <a:r>
              <a:rPr sz="2000" dirty="0">
                <a:solidFill>
                  <a:srgbClr val="292934"/>
                </a:solidFill>
                <a:latin typeface="Arial MT"/>
                <a:cs typeface="Arial MT"/>
              </a:rPr>
              <a:t>	</a:t>
            </a:r>
            <a:r>
              <a:rPr sz="2000" spc="-10" dirty="0">
                <a:solidFill>
                  <a:srgbClr val="292934"/>
                </a:solidFill>
                <a:latin typeface="Arial MT"/>
                <a:cs typeface="Arial MT"/>
              </a:rPr>
              <a:t>Patient</a:t>
            </a:r>
            <a:r>
              <a:rPr sz="2000" dirty="0">
                <a:solidFill>
                  <a:srgbClr val="292934"/>
                </a:solidFill>
                <a:latin typeface="Arial MT"/>
                <a:cs typeface="Arial MT"/>
              </a:rPr>
              <a:t>	</a:t>
            </a:r>
            <a:r>
              <a:rPr sz="2000" spc="-10" dirty="0">
                <a:solidFill>
                  <a:srgbClr val="292934"/>
                </a:solidFill>
                <a:latin typeface="Arial MT"/>
                <a:cs typeface="Arial MT"/>
              </a:rPr>
              <a:t>records</a:t>
            </a:r>
            <a:r>
              <a:rPr sz="2000" dirty="0">
                <a:solidFill>
                  <a:srgbClr val="292934"/>
                </a:solidFill>
                <a:latin typeface="Arial MT"/>
                <a:cs typeface="Arial MT"/>
              </a:rPr>
              <a:t>	</a:t>
            </a:r>
            <a:r>
              <a:rPr sz="2000" spc="-25" dirty="0">
                <a:solidFill>
                  <a:srgbClr val="292934"/>
                </a:solidFill>
                <a:latin typeface="Arial MT"/>
                <a:cs typeface="Arial MT"/>
              </a:rPr>
              <a:t>may</a:t>
            </a:r>
            <a:r>
              <a:rPr sz="2000" dirty="0">
                <a:solidFill>
                  <a:srgbClr val="292934"/>
                </a:solidFill>
                <a:latin typeface="Arial MT"/>
                <a:cs typeface="Arial MT"/>
              </a:rPr>
              <a:t>	</a:t>
            </a:r>
            <a:r>
              <a:rPr sz="2000" spc="-20" dirty="0">
                <a:solidFill>
                  <a:srgbClr val="292934"/>
                </a:solidFill>
                <a:latin typeface="Arial MT"/>
                <a:cs typeface="Arial MT"/>
              </a:rPr>
              <a:t>have</a:t>
            </a:r>
            <a:r>
              <a:rPr sz="2000" dirty="0">
                <a:solidFill>
                  <a:srgbClr val="292934"/>
                </a:solidFill>
                <a:latin typeface="Arial MT"/>
                <a:cs typeface="Arial MT"/>
              </a:rPr>
              <a:t>	</a:t>
            </a:r>
            <a:r>
              <a:rPr sz="2000" spc="-10" dirty="0">
                <a:solidFill>
                  <a:srgbClr val="292934"/>
                </a:solidFill>
                <a:latin typeface="Arial MT"/>
                <a:cs typeface="Arial MT"/>
              </a:rPr>
              <a:t>missing</a:t>
            </a:r>
            <a:r>
              <a:rPr sz="2000" dirty="0">
                <a:solidFill>
                  <a:srgbClr val="292934"/>
                </a:solidFill>
                <a:latin typeface="Arial MT"/>
                <a:cs typeface="Arial MT"/>
              </a:rPr>
              <a:t>	</a:t>
            </a:r>
            <a:r>
              <a:rPr sz="2000" spc="-10" dirty="0">
                <a:solidFill>
                  <a:srgbClr val="292934"/>
                </a:solidFill>
                <a:latin typeface="Arial MT"/>
                <a:cs typeface="Arial MT"/>
              </a:rPr>
              <a:t>values</a:t>
            </a:r>
            <a:r>
              <a:rPr sz="2000" dirty="0">
                <a:solidFill>
                  <a:srgbClr val="292934"/>
                </a:solidFill>
                <a:latin typeface="Arial MT"/>
                <a:cs typeface="Arial MT"/>
              </a:rPr>
              <a:t>	</a:t>
            </a:r>
            <a:r>
              <a:rPr sz="2000" spc="-25" dirty="0">
                <a:solidFill>
                  <a:srgbClr val="292934"/>
                </a:solidFill>
                <a:latin typeface="Arial MT"/>
                <a:cs typeface="Arial MT"/>
              </a:rPr>
              <a:t>for</a:t>
            </a:r>
            <a:r>
              <a:rPr sz="2000" dirty="0">
                <a:solidFill>
                  <a:srgbClr val="292934"/>
                </a:solidFill>
                <a:latin typeface="Arial MT"/>
                <a:cs typeface="Arial MT"/>
              </a:rPr>
              <a:t>	</a:t>
            </a:r>
            <a:r>
              <a:rPr sz="2000" spc="-10" dirty="0">
                <a:solidFill>
                  <a:srgbClr val="292934"/>
                </a:solidFill>
                <a:latin typeface="Arial MT"/>
                <a:cs typeface="Arial MT"/>
              </a:rPr>
              <a:t>important </a:t>
            </a:r>
            <a:r>
              <a:rPr sz="2000" dirty="0">
                <a:solidFill>
                  <a:srgbClr val="292934"/>
                </a:solidFill>
                <a:latin typeface="Arial MT"/>
                <a:cs typeface="Arial MT"/>
              </a:rPr>
              <a:t>attributes</a:t>
            </a:r>
            <a:r>
              <a:rPr sz="2000" spc="-65" dirty="0">
                <a:solidFill>
                  <a:srgbClr val="292934"/>
                </a:solidFill>
                <a:latin typeface="Arial MT"/>
                <a:cs typeface="Arial MT"/>
              </a:rPr>
              <a:t> </a:t>
            </a:r>
            <a:r>
              <a:rPr sz="2000" dirty="0">
                <a:solidFill>
                  <a:srgbClr val="292934"/>
                </a:solidFill>
                <a:latin typeface="Arial MT"/>
                <a:cs typeface="Arial MT"/>
              </a:rPr>
              <a:t>like</a:t>
            </a:r>
            <a:r>
              <a:rPr sz="2000" spc="-15" dirty="0">
                <a:solidFill>
                  <a:srgbClr val="292934"/>
                </a:solidFill>
                <a:latin typeface="Arial MT"/>
                <a:cs typeface="Arial MT"/>
              </a:rPr>
              <a:t> </a:t>
            </a:r>
            <a:r>
              <a:rPr sz="2000" dirty="0">
                <a:solidFill>
                  <a:srgbClr val="292934"/>
                </a:solidFill>
                <a:latin typeface="Arial MT"/>
                <a:cs typeface="Arial MT"/>
              </a:rPr>
              <a:t>tumor</a:t>
            </a:r>
            <a:r>
              <a:rPr sz="2000" spc="-45" dirty="0">
                <a:solidFill>
                  <a:srgbClr val="292934"/>
                </a:solidFill>
                <a:latin typeface="Arial MT"/>
                <a:cs typeface="Arial MT"/>
              </a:rPr>
              <a:t> </a:t>
            </a:r>
            <a:r>
              <a:rPr sz="2000" dirty="0">
                <a:solidFill>
                  <a:srgbClr val="292934"/>
                </a:solidFill>
                <a:latin typeface="Arial MT"/>
                <a:cs typeface="Arial MT"/>
              </a:rPr>
              <a:t>size,</a:t>
            </a:r>
            <a:r>
              <a:rPr sz="2000" spc="-45" dirty="0">
                <a:solidFill>
                  <a:srgbClr val="292934"/>
                </a:solidFill>
                <a:latin typeface="Arial MT"/>
                <a:cs typeface="Arial MT"/>
              </a:rPr>
              <a:t> </a:t>
            </a:r>
            <a:r>
              <a:rPr sz="2000" dirty="0">
                <a:solidFill>
                  <a:srgbClr val="292934"/>
                </a:solidFill>
                <a:latin typeface="Arial MT"/>
                <a:cs typeface="Arial MT"/>
              </a:rPr>
              <a:t>hormone</a:t>
            </a:r>
            <a:r>
              <a:rPr sz="2000" spc="-45" dirty="0">
                <a:solidFill>
                  <a:srgbClr val="292934"/>
                </a:solidFill>
                <a:latin typeface="Arial MT"/>
                <a:cs typeface="Arial MT"/>
              </a:rPr>
              <a:t> </a:t>
            </a:r>
            <a:r>
              <a:rPr sz="2000" dirty="0">
                <a:solidFill>
                  <a:srgbClr val="292934"/>
                </a:solidFill>
                <a:latin typeface="Arial MT"/>
                <a:cs typeface="Arial MT"/>
              </a:rPr>
              <a:t>receptor</a:t>
            </a:r>
            <a:r>
              <a:rPr sz="2000" spc="-60" dirty="0">
                <a:solidFill>
                  <a:srgbClr val="292934"/>
                </a:solidFill>
                <a:latin typeface="Arial MT"/>
                <a:cs typeface="Arial MT"/>
              </a:rPr>
              <a:t> </a:t>
            </a:r>
            <a:r>
              <a:rPr sz="2000" dirty="0">
                <a:solidFill>
                  <a:srgbClr val="292934"/>
                </a:solidFill>
                <a:latin typeface="Arial MT"/>
                <a:cs typeface="Arial MT"/>
              </a:rPr>
              <a:t>status,</a:t>
            </a:r>
            <a:r>
              <a:rPr sz="2000" spc="-55" dirty="0">
                <a:solidFill>
                  <a:srgbClr val="292934"/>
                </a:solidFill>
                <a:latin typeface="Arial MT"/>
                <a:cs typeface="Arial MT"/>
              </a:rPr>
              <a:t> </a:t>
            </a:r>
            <a:r>
              <a:rPr sz="2000" spc="-20" dirty="0">
                <a:solidFill>
                  <a:srgbClr val="292934"/>
                </a:solidFill>
                <a:latin typeface="Arial MT"/>
                <a:cs typeface="Arial MT"/>
              </a:rPr>
              <a:t>etc.</a:t>
            </a:r>
            <a:endParaRPr sz="2000">
              <a:latin typeface="Arial MT"/>
              <a:cs typeface="Arial MT"/>
            </a:endParaRPr>
          </a:p>
          <a:p>
            <a:pPr marL="355600" marR="6350" indent="-342900">
              <a:lnSpc>
                <a:spcPct val="150000"/>
              </a:lnSpc>
              <a:buFont typeface="Arial MT"/>
              <a:buChar char="•"/>
              <a:tabLst>
                <a:tab pos="355600" algn="l"/>
                <a:tab pos="1062355" algn="l"/>
                <a:tab pos="1757680" algn="l"/>
                <a:tab pos="4015104" algn="l"/>
                <a:tab pos="4566920" algn="l"/>
                <a:tab pos="5880735" algn="l"/>
                <a:tab pos="7505065" algn="l"/>
                <a:tab pos="8649970" algn="l"/>
                <a:tab pos="9640570" algn="l"/>
              </a:tabLst>
            </a:pPr>
            <a:r>
              <a:rPr sz="2000" b="1" spc="-20" dirty="0">
                <a:solidFill>
                  <a:srgbClr val="292934"/>
                </a:solidFill>
                <a:latin typeface="Arial"/>
                <a:cs typeface="Arial"/>
              </a:rPr>
              <a:t>Poor</a:t>
            </a:r>
            <a:r>
              <a:rPr sz="2000" b="1" dirty="0">
                <a:solidFill>
                  <a:srgbClr val="292934"/>
                </a:solidFill>
                <a:latin typeface="Arial"/>
                <a:cs typeface="Arial"/>
              </a:rPr>
              <a:t>	</a:t>
            </a:r>
            <a:r>
              <a:rPr sz="2000" b="1" spc="-20" dirty="0">
                <a:solidFill>
                  <a:srgbClr val="292934"/>
                </a:solidFill>
                <a:latin typeface="Arial"/>
                <a:cs typeface="Arial"/>
              </a:rPr>
              <a:t>User</a:t>
            </a:r>
            <a:r>
              <a:rPr sz="2000" b="1" dirty="0">
                <a:solidFill>
                  <a:srgbClr val="292934"/>
                </a:solidFill>
                <a:latin typeface="Arial"/>
                <a:cs typeface="Arial"/>
              </a:rPr>
              <a:t>	Interface</a:t>
            </a:r>
            <a:r>
              <a:rPr sz="2000" dirty="0">
                <a:solidFill>
                  <a:srgbClr val="292934"/>
                </a:solidFill>
                <a:latin typeface="Arial MT"/>
                <a:cs typeface="Arial MT"/>
              </a:rPr>
              <a:t>:</a:t>
            </a:r>
            <a:r>
              <a:rPr sz="2000" spc="395" dirty="0">
                <a:solidFill>
                  <a:srgbClr val="292934"/>
                </a:solidFill>
                <a:latin typeface="Arial MT"/>
                <a:cs typeface="Arial MT"/>
              </a:rPr>
              <a:t> </a:t>
            </a:r>
            <a:r>
              <a:rPr sz="2000" spc="-10" dirty="0">
                <a:solidFill>
                  <a:srgbClr val="292934"/>
                </a:solidFill>
                <a:latin typeface="Arial MT"/>
                <a:cs typeface="Arial MT"/>
              </a:rPr>
              <a:t>Doctors</a:t>
            </a:r>
            <a:r>
              <a:rPr sz="2000" dirty="0">
                <a:solidFill>
                  <a:srgbClr val="292934"/>
                </a:solidFill>
                <a:latin typeface="Arial MT"/>
                <a:cs typeface="Arial MT"/>
              </a:rPr>
              <a:t>	</a:t>
            </a:r>
            <a:r>
              <a:rPr sz="2000" spc="-25" dirty="0">
                <a:solidFill>
                  <a:srgbClr val="292934"/>
                </a:solidFill>
                <a:latin typeface="Arial MT"/>
                <a:cs typeface="Arial MT"/>
              </a:rPr>
              <a:t>and</a:t>
            </a:r>
            <a:r>
              <a:rPr sz="2000" dirty="0">
                <a:solidFill>
                  <a:srgbClr val="292934"/>
                </a:solidFill>
                <a:latin typeface="Arial MT"/>
                <a:cs typeface="Arial MT"/>
              </a:rPr>
              <a:t>	</a:t>
            </a:r>
            <a:r>
              <a:rPr sz="2000" spc="-10" dirty="0">
                <a:solidFill>
                  <a:srgbClr val="292934"/>
                </a:solidFill>
                <a:latin typeface="Arial MT"/>
                <a:cs typeface="Arial MT"/>
              </a:rPr>
              <a:t>healthcare</a:t>
            </a:r>
            <a:r>
              <a:rPr sz="2000" dirty="0">
                <a:solidFill>
                  <a:srgbClr val="292934"/>
                </a:solidFill>
                <a:latin typeface="Arial MT"/>
                <a:cs typeface="Arial MT"/>
              </a:rPr>
              <a:t>	</a:t>
            </a:r>
            <a:r>
              <a:rPr sz="2000" spc="-10" dirty="0">
                <a:solidFill>
                  <a:srgbClr val="292934"/>
                </a:solidFill>
                <a:latin typeface="Arial MT"/>
                <a:cs typeface="Arial MT"/>
              </a:rPr>
              <a:t>professionals</a:t>
            </a:r>
            <a:r>
              <a:rPr sz="2000" dirty="0">
                <a:solidFill>
                  <a:srgbClr val="292934"/>
                </a:solidFill>
                <a:latin typeface="Arial MT"/>
                <a:cs typeface="Arial MT"/>
              </a:rPr>
              <a:t>	may</a:t>
            </a:r>
            <a:r>
              <a:rPr sz="2000" spc="409" dirty="0">
                <a:solidFill>
                  <a:srgbClr val="292934"/>
                </a:solidFill>
                <a:latin typeface="Arial MT"/>
                <a:cs typeface="Arial MT"/>
              </a:rPr>
              <a:t> </a:t>
            </a:r>
            <a:r>
              <a:rPr sz="2000" spc="-20" dirty="0">
                <a:solidFill>
                  <a:srgbClr val="292934"/>
                </a:solidFill>
                <a:latin typeface="Arial MT"/>
                <a:cs typeface="Arial MT"/>
              </a:rPr>
              <a:t>find</a:t>
            </a:r>
            <a:r>
              <a:rPr sz="2000" dirty="0">
                <a:solidFill>
                  <a:srgbClr val="292934"/>
                </a:solidFill>
                <a:latin typeface="Arial MT"/>
                <a:cs typeface="Arial MT"/>
              </a:rPr>
              <a:t>	</a:t>
            </a:r>
            <a:r>
              <a:rPr sz="2000" spc="-10" dirty="0">
                <a:solidFill>
                  <a:srgbClr val="292934"/>
                </a:solidFill>
                <a:latin typeface="Arial MT"/>
                <a:cs typeface="Arial MT"/>
              </a:rPr>
              <a:t>existing</a:t>
            </a:r>
            <a:r>
              <a:rPr sz="2000" dirty="0">
                <a:solidFill>
                  <a:srgbClr val="292934"/>
                </a:solidFill>
                <a:latin typeface="Arial MT"/>
                <a:cs typeface="Arial MT"/>
              </a:rPr>
              <a:t>	</a:t>
            </a:r>
            <a:r>
              <a:rPr sz="2000" spc="-10" dirty="0">
                <a:solidFill>
                  <a:srgbClr val="292934"/>
                </a:solidFill>
                <a:latin typeface="Arial MT"/>
                <a:cs typeface="Arial MT"/>
              </a:rPr>
              <a:t>systems </a:t>
            </a:r>
            <a:r>
              <a:rPr sz="2000" dirty="0">
                <a:solidFill>
                  <a:srgbClr val="292934"/>
                </a:solidFill>
                <a:latin typeface="Arial MT"/>
                <a:cs typeface="Arial MT"/>
              </a:rPr>
              <a:t>difficult</a:t>
            </a:r>
            <a:r>
              <a:rPr sz="2000" spc="-60" dirty="0">
                <a:solidFill>
                  <a:srgbClr val="292934"/>
                </a:solidFill>
                <a:latin typeface="Arial MT"/>
                <a:cs typeface="Arial MT"/>
              </a:rPr>
              <a:t> </a:t>
            </a:r>
            <a:r>
              <a:rPr sz="2000" dirty="0">
                <a:solidFill>
                  <a:srgbClr val="292934"/>
                </a:solidFill>
                <a:latin typeface="Arial MT"/>
                <a:cs typeface="Arial MT"/>
              </a:rPr>
              <a:t>to</a:t>
            </a:r>
            <a:r>
              <a:rPr sz="2000" spc="-45" dirty="0">
                <a:solidFill>
                  <a:srgbClr val="292934"/>
                </a:solidFill>
                <a:latin typeface="Arial MT"/>
                <a:cs typeface="Arial MT"/>
              </a:rPr>
              <a:t> </a:t>
            </a:r>
            <a:r>
              <a:rPr sz="2000" spc="-20" dirty="0">
                <a:solidFill>
                  <a:srgbClr val="292934"/>
                </a:solidFill>
                <a:latin typeface="Arial MT"/>
                <a:cs typeface="Arial MT"/>
              </a:rPr>
              <a:t>use.</a:t>
            </a:r>
            <a:endParaRPr sz="2000">
              <a:latin typeface="Arial MT"/>
              <a:cs typeface="Arial MT"/>
            </a:endParaRPr>
          </a:p>
          <a:p>
            <a:pPr marL="354965" indent="-342265">
              <a:lnSpc>
                <a:spcPct val="100000"/>
              </a:lnSpc>
              <a:spcBef>
                <a:spcPts val="1200"/>
              </a:spcBef>
              <a:buFont typeface="Arial MT"/>
              <a:buChar char="•"/>
              <a:tabLst>
                <a:tab pos="354965" algn="l"/>
                <a:tab pos="1094740" algn="l"/>
                <a:tab pos="1789430" algn="l"/>
                <a:tab pos="3376295" algn="l"/>
                <a:tab pos="4412615" algn="l"/>
                <a:tab pos="5488940" algn="l"/>
                <a:tab pos="6113780" algn="l"/>
                <a:tab pos="6613525" algn="l"/>
                <a:tab pos="7647305" algn="l"/>
                <a:tab pos="8359140" algn="l"/>
                <a:tab pos="9464040" algn="l"/>
              </a:tabLst>
            </a:pPr>
            <a:r>
              <a:rPr sz="2000" b="1" spc="-20" dirty="0">
                <a:solidFill>
                  <a:srgbClr val="292934"/>
                </a:solidFill>
                <a:latin typeface="Arial"/>
                <a:cs typeface="Arial"/>
              </a:rPr>
              <a:t>Slow</a:t>
            </a:r>
            <a:r>
              <a:rPr sz="2000" b="1" dirty="0">
                <a:solidFill>
                  <a:srgbClr val="292934"/>
                </a:solidFill>
                <a:latin typeface="Arial"/>
                <a:cs typeface="Arial"/>
              </a:rPr>
              <a:t>	</a:t>
            </a:r>
            <a:r>
              <a:rPr sz="2000" b="1" spc="-20" dirty="0">
                <a:solidFill>
                  <a:srgbClr val="292934"/>
                </a:solidFill>
                <a:latin typeface="Arial"/>
                <a:cs typeface="Arial"/>
              </a:rPr>
              <a:t>Data</a:t>
            </a:r>
            <a:r>
              <a:rPr sz="2000" b="1" dirty="0">
                <a:solidFill>
                  <a:srgbClr val="292934"/>
                </a:solidFill>
                <a:latin typeface="Arial"/>
                <a:cs typeface="Arial"/>
              </a:rPr>
              <a:t>	</a:t>
            </a:r>
            <a:r>
              <a:rPr sz="2000" b="1" spc="-10" dirty="0">
                <a:solidFill>
                  <a:srgbClr val="292934"/>
                </a:solidFill>
                <a:latin typeface="Arial"/>
                <a:cs typeface="Arial"/>
              </a:rPr>
              <a:t>Processing</a:t>
            </a:r>
            <a:r>
              <a:rPr sz="2000" spc="-10" dirty="0">
                <a:solidFill>
                  <a:srgbClr val="292934"/>
                </a:solidFill>
                <a:latin typeface="Arial MT"/>
                <a:cs typeface="Arial MT"/>
              </a:rPr>
              <a:t>:</a:t>
            </a:r>
            <a:r>
              <a:rPr sz="2000" dirty="0">
                <a:solidFill>
                  <a:srgbClr val="292934"/>
                </a:solidFill>
                <a:latin typeface="Arial MT"/>
                <a:cs typeface="Arial MT"/>
              </a:rPr>
              <a:t>	</a:t>
            </a:r>
            <a:r>
              <a:rPr sz="2000" spc="-10" dirty="0">
                <a:solidFill>
                  <a:srgbClr val="292934"/>
                </a:solidFill>
                <a:latin typeface="Arial MT"/>
                <a:cs typeface="Arial MT"/>
              </a:rPr>
              <a:t>Existing</a:t>
            </a:r>
            <a:r>
              <a:rPr sz="2000" dirty="0">
                <a:solidFill>
                  <a:srgbClr val="292934"/>
                </a:solidFill>
                <a:latin typeface="Arial MT"/>
                <a:cs typeface="Arial MT"/>
              </a:rPr>
              <a:t>	</a:t>
            </a:r>
            <a:r>
              <a:rPr sz="2000" spc="-10" dirty="0">
                <a:solidFill>
                  <a:srgbClr val="292934"/>
                </a:solidFill>
                <a:latin typeface="Arial MT"/>
                <a:cs typeface="Arial MT"/>
              </a:rPr>
              <a:t>systems</a:t>
            </a:r>
            <a:r>
              <a:rPr sz="2000" dirty="0">
                <a:solidFill>
                  <a:srgbClr val="292934"/>
                </a:solidFill>
                <a:latin typeface="Arial MT"/>
                <a:cs typeface="Arial MT"/>
              </a:rPr>
              <a:t>	</a:t>
            </a:r>
            <a:r>
              <a:rPr sz="2000" spc="-25" dirty="0">
                <a:solidFill>
                  <a:srgbClr val="292934"/>
                </a:solidFill>
                <a:latin typeface="Arial MT"/>
                <a:cs typeface="Arial MT"/>
              </a:rPr>
              <a:t>may</a:t>
            </a:r>
            <a:r>
              <a:rPr sz="2000" dirty="0">
                <a:solidFill>
                  <a:srgbClr val="292934"/>
                </a:solidFill>
                <a:latin typeface="Arial MT"/>
                <a:cs typeface="Arial MT"/>
              </a:rPr>
              <a:t>	</a:t>
            </a:r>
            <a:r>
              <a:rPr sz="2000" spc="-25" dirty="0">
                <a:solidFill>
                  <a:srgbClr val="292934"/>
                </a:solidFill>
                <a:latin typeface="Arial MT"/>
                <a:cs typeface="Arial MT"/>
              </a:rPr>
              <a:t>not</a:t>
            </a:r>
            <a:r>
              <a:rPr sz="2000" dirty="0">
                <a:solidFill>
                  <a:srgbClr val="292934"/>
                </a:solidFill>
                <a:latin typeface="Arial MT"/>
                <a:cs typeface="Arial MT"/>
              </a:rPr>
              <a:t>	</a:t>
            </a:r>
            <a:r>
              <a:rPr sz="2000" spc="-10" dirty="0">
                <a:solidFill>
                  <a:srgbClr val="292934"/>
                </a:solidFill>
                <a:latin typeface="Arial MT"/>
                <a:cs typeface="Arial MT"/>
              </a:rPr>
              <a:t>process</a:t>
            </a:r>
            <a:r>
              <a:rPr sz="2000" dirty="0">
                <a:solidFill>
                  <a:srgbClr val="292934"/>
                </a:solidFill>
                <a:latin typeface="Arial MT"/>
                <a:cs typeface="Arial MT"/>
              </a:rPr>
              <a:t>	</a:t>
            </a:r>
            <a:r>
              <a:rPr sz="2000" spc="-10" dirty="0">
                <a:solidFill>
                  <a:srgbClr val="292934"/>
                </a:solidFill>
                <a:latin typeface="Arial MT"/>
                <a:cs typeface="Arial MT"/>
              </a:rPr>
              <a:t>large</a:t>
            </a:r>
            <a:r>
              <a:rPr sz="2000" dirty="0">
                <a:solidFill>
                  <a:srgbClr val="292934"/>
                </a:solidFill>
                <a:latin typeface="Arial MT"/>
                <a:cs typeface="Arial MT"/>
              </a:rPr>
              <a:t>	</a:t>
            </a:r>
            <a:r>
              <a:rPr sz="2000" spc="-10" dirty="0">
                <a:solidFill>
                  <a:srgbClr val="292934"/>
                </a:solidFill>
                <a:latin typeface="Arial MT"/>
                <a:cs typeface="Arial MT"/>
              </a:rPr>
              <a:t>datasets</a:t>
            </a:r>
            <a:r>
              <a:rPr sz="2000" dirty="0">
                <a:solidFill>
                  <a:srgbClr val="292934"/>
                </a:solidFill>
                <a:latin typeface="Arial MT"/>
                <a:cs typeface="Arial MT"/>
              </a:rPr>
              <a:t>	</a:t>
            </a:r>
            <a:r>
              <a:rPr sz="2000" spc="-10" dirty="0">
                <a:solidFill>
                  <a:srgbClr val="292934"/>
                </a:solidFill>
                <a:latin typeface="Arial MT"/>
                <a:cs typeface="Arial MT"/>
              </a:rPr>
              <a:t>efficiently,</a:t>
            </a:r>
            <a:endParaRPr sz="2000">
              <a:latin typeface="Arial MT"/>
              <a:cs typeface="Arial MT"/>
            </a:endParaRPr>
          </a:p>
          <a:p>
            <a:pPr marL="355600">
              <a:lnSpc>
                <a:spcPct val="100000"/>
              </a:lnSpc>
              <a:spcBef>
                <a:spcPts val="1200"/>
              </a:spcBef>
            </a:pPr>
            <a:r>
              <a:rPr sz="2000" dirty="0">
                <a:solidFill>
                  <a:srgbClr val="292934"/>
                </a:solidFill>
                <a:latin typeface="Arial MT"/>
                <a:cs typeface="Arial MT"/>
              </a:rPr>
              <a:t>causing</a:t>
            </a:r>
            <a:r>
              <a:rPr sz="2000" spc="-50" dirty="0">
                <a:solidFill>
                  <a:srgbClr val="292934"/>
                </a:solidFill>
                <a:latin typeface="Arial MT"/>
                <a:cs typeface="Arial MT"/>
              </a:rPr>
              <a:t> </a:t>
            </a:r>
            <a:r>
              <a:rPr sz="2000" dirty="0">
                <a:solidFill>
                  <a:srgbClr val="292934"/>
                </a:solidFill>
                <a:latin typeface="Arial MT"/>
                <a:cs typeface="Arial MT"/>
              </a:rPr>
              <a:t>delays</a:t>
            </a:r>
            <a:r>
              <a:rPr sz="2000" spc="-30" dirty="0">
                <a:solidFill>
                  <a:srgbClr val="292934"/>
                </a:solidFill>
                <a:latin typeface="Arial MT"/>
                <a:cs typeface="Arial MT"/>
              </a:rPr>
              <a:t> </a:t>
            </a:r>
            <a:r>
              <a:rPr sz="2000" dirty="0">
                <a:solidFill>
                  <a:srgbClr val="292934"/>
                </a:solidFill>
                <a:latin typeface="Arial MT"/>
                <a:cs typeface="Arial MT"/>
              </a:rPr>
              <a:t>in</a:t>
            </a:r>
            <a:r>
              <a:rPr sz="2000" spc="-20" dirty="0">
                <a:solidFill>
                  <a:srgbClr val="292934"/>
                </a:solidFill>
                <a:latin typeface="Arial MT"/>
                <a:cs typeface="Arial MT"/>
              </a:rPr>
              <a:t> </a:t>
            </a:r>
            <a:r>
              <a:rPr sz="2000" spc="-10" dirty="0">
                <a:solidFill>
                  <a:srgbClr val="292934"/>
                </a:solidFill>
                <a:latin typeface="Arial MT"/>
                <a:cs typeface="Arial MT"/>
              </a:rPr>
              <a:t>diagnosis.</a:t>
            </a:r>
            <a:endParaRPr sz="2000">
              <a:latin typeface="Arial MT"/>
              <a:cs typeface="Arial MT"/>
            </a:endParaRPr>
          </a:p>
          <a:p>
            <a:pPr marL="354965" indent="-342265">
              <a:lnSpc>
                <a:spcPct val="100000"/>
              </a:lnSpc>
              <a:spcBef>
                <a:spcPts val="1200"/>
              </a:spcBef>
              <a:buFont typeface="Arial MT"/>
              <a:buChar char="•"/>
              <a:tabLst>
                <a:tab pos="354965" algn="l"/>
              </a:tabLst>
            </a:pPr>
            <a:r>
              <a:rPr sz="2000" b="1" dirty="0">
                <a:solidFill>
                  <a:srgbClr val="292934"/>
                </a:solidFill>
                <a:latin typeface="Arial"/>
                <a:cs typeface="Arial"/>
              </a:rPr>
              <a:t>Overfitting</a:t>
            </a:r>
            <a:r>
              <a:rPr sz="2000" dirty="0">
                <a:solidFill>
                  <a:srgbClr val="292934"/>
                </a:solidFill>
                <a:latin typeface="Arial MT"/>
                <a:cs typeface="Arial MT"/>
              </a:rPr>
              <a:t>:</a:t>
            </a:r>
            <a:r>
              <a:rPr sz="2000" spc="140" dirty="0">
                <a:solidFill>
                  <a:srgbClr val="292934"/>
                </a:solidFill>
                <a:latin typeface="Arial MT"/>
                <a:cs typeface="Arial MT"/>
              </a:rPr>
              <a:t> </a:t>
            </a:r>
            <a:r>
              <a:rPr sz="2000" dirty="0">
                <a:solidFill>
                  <a:srgbClr val="292934"/>
                </a:solidFill>
                <a:latin typeface="Arial MT"/>
                <a:cs typeface="Arial MT"/>
              </a:rPr>
              <a:t>AI/ML</a:t>
            </a:r>
            <a:r>
              <a:rPr sz="2000" spc="85" dirty="0">
                <a:solidFill>
                  <a:srgbClr val="292934"/>
                </a:solidFill>
                <a:latin typeface="Arial MT"/>
                <a:cs typeface="Arial MT"/>
              </a:rPr>
              <a:t> </a:t>
            </a:r>
            <a:r>
              <a:rPr sz="2000" dirty="0">
                <a:solidFill>
                  <a:srgbClr val="292934"/>
                </a:solidFill>
                <a:latin typeface="Arial MT"/>
                <a:cs typeface="Arial MT"/>
              </a:rPr>
              <a:t>models</a:t>
            </a:r>
            <a:r>
              <a:rPr sz="2000" spc="155" dirty="0">
                <a:solidFill>
                  <a:srgbClr val="292934"/>
                </a:solidFill>
                <a:latin typeface="Arial MT"/>
                <a:cs typeface="Arial MT"/>
              </a:rPr>
              <a:t> </a:t>
            </a:r>
            <a:r>
              <a:rPr sz="2000" dirty="0">
                <a:solidFill>
                  <a:srgbClr val="292934"/>
                </a:solidFill>
                <a:latin typeface="Arial MT"/>
                <a:cs typeface="Arial MT"/>
              </a:rPr>
              <a:t>may</a:t>
            </a:r>
            <a:r>
              <a:rPr sz="2000" spc="145" dirty="0">
                <a:solidFill>
                  <a:srgbClr val="292934"/>
                </a:solidFill>
                <a:latin typeface="Arial MT"/>
                <a:cs typeface="Arial MT"/>
              </a:rPr>
              <a:t> </a:t>
            </a:r>
            <a:r>
              <a:rPr sz="2000" dirty="0">
                <a:solidFill>
                  <a:srgbClr val="292934"/>
                </a:solidFill>
                <a:latin typeface="Arial MT"/>
                <a:cs typeface="Arial MT"/>
              </a:rPr>
              <a:t>perform</a:t>
            </a:r>
            <a:r>
              <a:rPr sz="2000" spc="155" dirty="0">
                <a:solidFill>
                  <a:srgbClr val="292934"/>
                </a:solidFill>
                <a:latin typeface="Arial MT"/>
                <a:cs typeface="Arial MT"/>
              </a:rPr>
              <a:t> </a:t>
            </a:r>
            <a:r>
              <a:rPr sz="2000" dirty="0">
                <a:solidFill>
                  <a:srgbClr val="292934"/>
                </a:solidFill>
                <a:latin typeface="Arial MT"/>
                <a:cs typeface="Arial MT"/>
              </a:rPr>
              <a:t>well</a:t>
            </a:r>
            <a:r>
              <a:rPr sz="2000" spc="155" dirty="0">
                <a:solidFill>
                  <a:srgbClr val="292934"/>
                </a:solidFill>
                <a:latin typeface="Arial MT"/>
                <a:cs typeface="Arial MT"/>
              </a:rPr>
              <a:t> </a:t>
            </a:r>
            <a:r>
              <a:rPr sz="2000" dirty="0">
                <a:solidFill>
                  <a:srgbClr val="292934"/>
                </a:solidFill>
                <a:latin typeface="Arial MT"/>
                <a:cs typeface="Arial MT"/>
              </a:rPr>
              <a:t>on</a:t>
            </a:r>
            <a:r>
              <a:rPr sz="2000" spc="145" dirty="0">
                <a:solidFill>
                  <a:srgbClr val="292934"/>
                </a:solidFill>
                <a:latin typeface="Arial MT"/>
                <a:cs typeface="Arial MT"/>
              </a:rPr>
              <a:t> </a:t>
            </a:r>
            <a:r>
              <a:rPr sz="2000" dirty="0">
                <a:solidFill>
                  <a:srgbClr val="292934"/>
                </a:solidFill>
                <a:latin typeface="Arial MT"/>
                <a:cs typeface="Arial MT"/>
              </a:rPr>
              <a:t>training</a:t>
            </a:r>
            <a:r>
              <a:rPr sz="2000" spc="155" dirty="0">
                <a:solidFill>
                  <a:srgbClr val="292934"/>
                </a:solidFill>
                <a:latin typeface="Arial MT"/>
                <a:cs typeface="Arial MT"/>
              </a:rPr>
              <a:t> </a:t>
            </a:r>
            <a:r>
              <a:rPr sz="2000" dirty="0">
                <a:solidFill>
                  <a:srgbClr val="292934"/>
                </a:solidFill>
                <a:latin typeface="Arial MT"/>
                <a:cs typeface="Arial MT"/>
              </a:rPr>
              <a:t>data</a:t>
            </a:r>
            <a:r>
              <a:rPr sz="2000" spc="150" dirty="0">
                <a:solidFill>
                  <a:srgbClr val="292934"/>
                </a:solidFill>
                <a:latin typeface="Arial MT"/>
                <a:cs typeface="Arial MT"/>
              </a:rPr>
              <a:t> </a:t>
            </a:r>
            <a:r>
              <a:rPr sz="2000" dirty="0">
                <a:solidFill>
                  <a:srgbClr val="292934"/>
                </a:solidFill>
                <a:latin typeface="Arial MT"/>
                <a:cs typeface="Arial MT"/>
              </a:rPr>
              <a:t>but</a:t>
            </a:r>
            <a:r>
              <a:rPr sz="2000" spc="140" dirty="0">
                <a:solidFill>
                  <a:srgbClr val="292934"/>
                </a:solidFill>
                <a:latin typeface="Arial MT"/>
                <a:cs typeface="Arial MT"/>
              </a:rPr>
              <a:t> </a:t>
            </a:r>
            <a:r>
              <a:rPr sz="2000" dirty="0">
                <a:solidFill>
                  <a:srgbClr val="292934"/>
                </a:solidFill>
                <a:latin typeface="Arial MT"/>
                <a:cs typeface="Arial MT"/>
              </a:rPr>
              <a:t>fail</a:t>
            </a:r>
            <a:r>
              <a:rPr sz="2000" spc="140" dirty="0">
                <a:solidFill>
                  <a:srgbClr val="292934"/>
                </a:solidFill>
                <a:latin typeface="Arial MT"/>
                <a:cs typeface="Arial MT"/>
              </a:rPr>
              <a:t> </a:t>
            </a:r>
            <a:r>
              <a:rPr sz="2000" dirty="0">
                <a:solidFill>
                  <a:srgbClr val="292934"/>
                </a:solidFill>
                <a:latin typeface="Arial MT"/>
                <a:cs typeface="Arial MT"/>
              </a:rPr>
              <a:t>in</a:t>
            </a:r>
            <a:r>
              <a:rPr sz="2000" spc="150" dirty="0">
                <a:solidFill>
                  <a:srgbClr val="292934"/>
                </a:solidFill>
                <a:latin typeface="Arial MT"/>
                <a:cs typeface="Arial MT"/>
              </a:rPr>
              <a:t> </a:t>
            </a:r>
            <a:r>
              <a:rPr sz="2000" spc="-10" dirty="0">
                <a:solidFill>
                  <a:srgbClr val="292934"/>
                </a:solidFill>
                <a:latin typeface="Arial MT"/>
                <a:cs typeface="Arial MT"/>
              </a:rPr>
              <a:t>real-</a:t>
            </a:r>
            <a:r>
              <a:rPr sz="2000" dirty="0">
                <a:solidFill>
                  <a:srgbClr val="292934"/>
                </a:solidFill>
                <a:latin typeface="Arial MT"/>
                <a:cs typeface="Arial MT"/>
              </a:rPr>
              <a:t>world</a:t>
            </a:r>
            <a:r>
              <a:rPr sz="2000" spc="145" dirty="0">
                <a:solidFill>
                  <a:srgbClr val="292934"/>
                </a:solidFill>
                <a:latin typeface="Arial MT"/>
                <a:cs typeface="Arial MT"/>
              </a:rPr>
              <a:t> </a:t>
            </a:r>
            <a:r>
              <a:rPr sz="2000" spc="-10" dirty="0">
                <a:solidFill>
                  <a:srgbClr val="292934"/>
                </a:solidFill>
                <a:latin typeface="Arial MT"/>
                <a:cs typeface="Arial MT"/>
              </a:rPr>
              <a:t>clinical</a:t>
            </a:r>
            <a:endParaRPr sz="2000">
              <a:latin typeface="Arial MT"/>
              <a:cs typeface="Arial MT"/>
            </a:endParaRPr>
          </a:p>
          <a:p>
            <a:pPr marL="355600">
              <a:lnSpc>
                <a:spcPct val="100000"/>
              </a:lnSpc>
              <a:spcBef>
                <a:spcPts val="1200"/>
              </a:spcBef>
            </a:pPr>
            <a:r>
              <a:rPr sz="2000" spc="-10" dirty="0">
                <a:solidFill>
                  <a:srgbClr val="292934"/>
                </a:solidFill>
                <a:latin typeface="Arial MT"/>
                <a:cs typeface="Arial MT"/>
              </a:rPr>
              <a:t>applications.</a:t>
            </a:r>
            <a:endParaRPr sz="20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31D92-2992-C865-51CD-8991937C1C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3B4F9A4-FB2D-A33E-BAA8-61C8689EF549}"/>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IN" spc="-60" dirty="0"/>
              <a:t>ABSTRACT</a:t>
            </a:r>
            <a:endParaRPr spc="-60" dirty="0"/>
          </a:p>
        </p:txBody>
      </p:sp>
      <p:sp>
        <p:nvSpPr>
          <p:cNvPr id="3" name="object 3">
            <a:extLst>
              <a:ext uri="{FF2B5EF4-FFF2-40B4-BE49-F238E27FC236}">
                <a16:creationId xmlns:a16="http://schemas.microsoft.com/office/drawing/2014/main" id="{0E85EF8E-C133-D27A-02E7-D294A598F717}"/>
              </a:ext>
            </a:extLst>
          </p:cNvPr>
          <p:cNvSpPr txBox="1"/>
          <p:nvPr/>
        </p:nvSpPr>
        <p:spPr>
          <a:xfrm>
            <a:off x="688340" y="1493494"/>
            <a:ext cx="10584815" cy="4240392"/>
          </a:xfrm>
          <a:prstGeom prst="rect">
            <a:avLst/>
          </a:prstGeom>
        </p:spPr>
        <p:txBody>
          <a:bodyPr vert="horz" wrap="square" lIns="0" tIns="12700" rIns="0" bIns="0" rtlCol="0">
            <a:spAutoFit/>
          </a:bodyPr>
          <a:lstStyle/>
          <a:p>
            <a:pPr>
              <a:lnSpc>
                <a:spcPct val="150000"/>
              </a:lnSpc>
              <a:spcAft>
                <a:spcPts val="10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Breast cancer is one of the most common forms of cancer among women, and early detection plays a critical role in improving survival rates. This project focuses on leveraging data analytics to enhance understanding, diagnosis, and treatment of breast cancer. Utilizing a dataset comprising patient demographic information, diagnostic features, and medical outcomes, we apply machine learning techniques and statistical analyses to identify patterns and key indicators associated with breast cancer.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sz="2000" dirty="0">
                <a:effectLst/>
                <a:latin typeface="Times New Roman" panose="02020603050405020304" pitchFamily="18" charset="0"/>
                <a:ea typeface="Calibri" panose="020F0502020204030204" pitchFamily="34" charset="0"/>
              </a:rPr>
              <a:t>The project involves preprocessing and cleaning the dataset, feature selection to identify significant variables, and building predictive models to classify malignant and benign cases with high accuracy. Advanced visualization techniques are used to explore the relationships between clinical features such as </a:t>
            </a:r>
            <a:r>
              <a:rPr lang="en-IN" sz="2000" dirty="0" err="1">
                <a:effectLst/>
                <a:latin typeface="Times New Roman" panose="02020603050405020304" pitchFamily="18" charset="0"/>
                <a:ea typeface="Calibri" panose="020F0502020204030204" pitchFamily="34" charset="0"/>
              </a:rPr>
              <a:t>tumor</a:t>
            </a:r>
            <a:r>
              <a:rPr lang="en-IN" sz="2000" dirty="0">
                <a:effectLst/>
                <a:latin typeface="Times New Roman" panose="02020603050405020304" pitchFamily="18" charset="0"/>
                <a:ea typeface="Calibri" panose="020F0502020204030204" pitchFamily="34" charset="0"/>
              </a:rPr>
              <a:t> size, texture, and shape.</a:t>
            </a:r>
            <a:endParaRPr sz="2000" dirty="0">
              <a:latin typeface="Arial MT"/>
              <a:cs typeface="Arial MT"/>
            </a:endParaRPr>
          </a:p>
        </p:txBody>
      </p:sp>
    </p:spTree>
    <p:extLst>
      <p:ext uri="{BB962C8B-B14F-4D97-AF65-F5344CB8AC3E}">
        <p14:creationId xmlns:p14="http://schemas.microsoft.com/office/powerpoint/2010/main" val="815778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5" dirty="0"/>
              <a:t>PROPOSED</a:t>
            </a:r>
            <a:r>
              <a:rPr spc="-200" dirty="0"/>
              <a:t> </a:t>
            </a:r>
            <a:r>
              <a:rPr spc="-80" dirty="0"/>
              <a:t>METHODOLOGY</a:t>
            </a:r>
          </a:p>
        </p:txBody>
      </p:sp>
      <p:sp>
        <p:nvSpPr>
          <p:cNvPr id="3" name="object 3"/>
          <p:cNvSpPr txBox="1"/>
          <p:nvPr/>
        </p:nvSpPr>
        <p:spPr>
          <a:xfrm>
            <a:off x="688340" y="1645666"/>
            <a:ext cx="4140835" cy="3837304"/>
          </a:xfrm>
          <a:prstGeom prst="rect">
            <a:avLst/>
          </a:prstGeom>
        </p:spPr>
        <p:txBody>
          <a:bodyPr vert="horz" wrap="square" lIns="0" tIns="13335" rIns="0" bIns="0" rtlCol="0">
            <a:spAutoFit/>
          </a:bodyPr>
          <a:lstStyle/>
          <a:p>
            <a:pPr marL="469900" indent="-457200">
              <a:lnSpc>
                <a:spcPct val="100000"/>
              </a:lnSpc>
              <a:spcBef>
                <a:spcPts val="105"/>
              </a:spcBef>
              <a:buAutoNum type="arabicPeriod"/>
              <a:tabLst>
                <a:tab pos="469900" algn="l"/>
              </a:tabLst>
            </a:pPr>
            <a:r>
              <a:rPr sz="2000" dirty="0">
                <a:solidFill>
                  <a:srgbClr val="292934"/>
                </a:solidFill>
                <a:latin typeface="Arial MT"/>
                <a:cs typeface="Arial MT"/>
              </a:rPr>
              <a:t>Problem</a:t>
            </a:r>
            <a:r>
              <a:rPr sz="2000" spc="-15" dirty="0">
                <a:solidFill>
                  <a:srgbClr val="292934"/>
                </a:solidFill>
                <a:latin typeface="Arial MT"/>
                <a:cs typeface="Arial MT"/>
              </a:rPr>
              <a:t> </a:t>
            </a:r>
            <a:r>
              <a:rPr sz="2000" spc="-10" dirty="0">
                <a:solidFill>
                  <a:srgbClr val="292934"/>
                </a:solidFill>
                <a:latin typeface="Arial MT"/>
                <a:cs typeface="Arial MT"/>
              </a:rPr>
              <a:t>Definition</a:t>
            </a:r>
            <a:endParaRPr sz="2000">
              <a:latin typeface="Arial MT"/>
              <a:cs typeface="Arial MT"/>
            </a:endParaRPr>
          </a:p>
          <a:p>
            <a:pPr marL="469900" indent="-457200">
              <a:lnSpc>
                <a:spcPct val="100000"/>
              </a:lnSpc>
              <a:spcBef>
                <a:spcPts val="2195"/>
              </a:spcBef>
              <a:buAutoNum type="arabicPeriod"/>
              <a:tabLst>
                <a:tab pos="469900" algn="l"/>
              </a:tabLst>
            </a:pPr>
            <a:r>
              <a:rPr sz="2000" dirty="0">
                <a:solidFill>
                  <a:srgbClr val="292934"/>
                </a:solidFill>
                <a:latin typeface="Arial MT"/>
                <a:cs typeface="Arial MT"/>
              </a:rPr>
              <a:t>Data</a:t>
            </a:r>
            <a:r>
              <a:rPr sz="2000" spc="-60" dirty="0">
                <a:solidFill>
                  <a:srgbClr val="292934"/>
                </a:solidFill>
                <a:latin typeface="Arial MT"/>
                <a:cs typeface="Arial MT"/>
              </a:rPr>
              <a:t> </a:t>
            </a:r>
            <a:r>
              <a:rPr sz="2000" spc="-10" dirty="0">
                <a:solidFill>
                  <a:srgbClr val="292934"/>
                </a:solidFill>
                <a:latin typeface="Arial MT"/>
                <a:cs typeface="Arial MT"/>
              </a:rPr>
              <a:t>Collection</a:t>
            </a:r>
            <a:endParaRPr sz="2000">
              <a:latin typeface="Arial MT"/>
              <a:cs typeface="Arial MT"/>
            </a:endParaRPr>
          </a:p>
          <a:p>
            <a:pPr marL="469900" indent="-457200">
              <a:lnSpc>
                <a:spcPct val="100000"/>
              </a:lnSpc>
              <a:spcBef>
                <a:spcPts val="2210"/>
              </a:spcBef>
              <a:buAutoNum type="arabicPeriod"/>
              <a:tabLst>
                <a:tab pos="469900" algn="l"/>
              </a:tabLst>
            </a:pPr>
            <a:r>
              <a:rPr sz="2000" dirty="0">
                <a:solidFill>
                  <a:srgbClr val="292934"/>
                </a:solidFill>
                <a:latin typeface="Arial MT"/>
                <a:cs typeface="Arial MT"/>
              </a:rPr>
              <a:t>Data</a:t>
            </a:r>
            <a:r>
              <a:rPr sz="2000" spc="-45" dirty="0">
                <a:solidFill>
                  <a:srgbClr val="292934"/>
                </a:solidFill>
                <a:latin typeface="Arial MT"/>
                <a:cs typeface="Arial MT"/>
              </a:rPr>
              <a:t> </a:t>
            </a:r>
            <a:r>
              <a:rPr sz="2000" dirty="0">
                <a:solidFill>
                  <a:srgbClr val="292934"/>
                </a:solidFill>
                <a:latin typeface="Arial MT"/>
                <a:cs typeface="Arial MT"/>
              </a:rPr>
              <a:t>Preprocessing</a:t>
            </a:r>
            <a:r>
              <a:rPr sz="2000" spc="-70" dirty="0">
                <a:solidFill>
                  <a:srgbClr val="292934"/>
                </a:solidFill>
                <a:latin typeface="Arial MT"/>
                <a:cs typeface="Arial MT"/>
              </a:rPr>
              <a:t> </a:t>
            </a:r>
            <a:r>
              <a:rPr sz="2000" dirty="0">
                <a:solidFill>
                  <a:srgbClr val="292934"/>
                </a:solidFill>
                <a:latin typeface="Arial MT"/>
                <a:cs typeface="Arial MT"/>
              </a:rPr>
              <a:t>&amp;</a:t>
            </a:r>
            <a:r>
              <a:rPr sz="2000" spc="-20" dirty="0">
                <a:solidFill>
                  <a:srgbClr val="292934"/>
                </a:solidFill>
                <a:latin typeface="Arial MT"/>
                <a:cs typeface="Arial MT"/>
              </a:rPr>
              <a:t> </a:t>
            </a:r>
            <a:r>
              <a:rPr sz="2000" spc="-10" dirty="0">
                <a:solidFill>
                  <a:srgbClr val="292934"/>
                </a:solidFill>
                <a:latin typeface="Arial MT"/>
                <a:cs typeface="Arial MT"/>
              </a:rPr>
              <a:t>Cleaning</a:t>
            </a:r>
            <a:endParaRPr sz="2000">
              <a:latin typeface="Arial MT"/>
              <a:cs typeface="Arial MT"/>
            </a:endParaRPr>
          </a:p>
          <a:p>
            <a:pPr marL="469900" indent="-457200">
              <a:lnSpc>
                <a:spcPct val="100000"/>
              </a:lnSpc>
              <a:spcBef>
                <a:spcPts val="2195"/>
              </a:spcBef>
              <a:buAutoNum type="arabicPeriod"/>
              <a:tabLst>
                <a:tab pos="469900" algn="l"/>
              </a:tabLst>
            </a:pPr>
            <a:r>
              <a:rPr sz="2000" dirty="0">
                <a:solidFill>
                  <a:srgbClr val="292934"/>
                </a:solidFill>
                <a:latin typeface="Arial MT"/>
                <a:cs typeface="Arial MT"/>
              </a:rPr>
              <a:t>Exploratory</a:t>
            </a:r>
            <a:r>
              <a:rPr sz="2000" spc="-30" dirty="0">
                <a:solidFill>
                  <a:srgbClr val="292934"/>
                </a:solidFill>
                <a:latin typeface="Arial MT"/>
                <a:cs typeface="Arial MT"/>
              </a:rPr>
              <a:t> </a:t>
            </a:r>
            <a:r>
              <a:rPr sz="2000" spc="-10" dirty="0">
                <a:solidFill>
                  <a:srgbClr val="292934"/>
                </a:solidFill>
                <a:latin typeface="Arial MT"/>
                <a:cs typeface="Arial MT"/>
              </a:rPr>
              <a:t>Data</a:t>
            </a:r>
            <a:r>
              <a:rPr sz="2000" spc="-140" dirty="0">
                <a:solidFill>
                  <a:srgbClr val="292934"/>
                </a:solidFill>
                <a:latin typeface="Arial MT"/>
                <a:cs typeface="Arial MT"/>
              </a:rPr>
              <a:t> </a:t>
            </a:r>
            <a:r>
              <a:rPr sz="2000" dirty="0">
                <a:solidFill>
                  <a:srgbClr val="292934"/>
                </a:solidFill>
                <a:latin typeface="Arial MT"/>
                <a:cs typeface="Arial MT"/>
              </a:rPr>
              <a:t>Analysis </a:t>
            </a:r>
            <a:r>
              <a:rPr sz="2000" spc="-20" dirty="0">
                <a:solidFill>
                  <a:srgbClr val="292934"/>
                </a:solidFill>
                <a:latin typeface="Arial MT"/>
                <a:cs typeface="Arial MT"/>
              </a:rPr>
              <a:t>(EDA)</a:t>
            </a:r>
            <a:endParaRPr sz="2000">
              <a:latin typeface="Arial MT"/>
              <a:cs typeface="Arial MT"/>
            </a:endParaRPr>
          </a:p>
          <a:p>
            <a:pPr marL="469900" indent="-457200">
              <a:lnSpc>
                <a:spcPct val="100000"/>
              </a:lnSpc>
              <a:spcBef>
                <a:spcPts val="2200"/>
              </a:spcBef>
              <a:buAutoNum type="arabicPeriod"/>
              <a:tabLst>
                <a:tab pos="469900" algn="l"/>
              </a:tabLst>
            </a:pPr>
            <a:r>
              <a:rPr sz="2000" dirty="0">
                <a:solidFill>
                  <a:srgbClr val="292934"/>
                </a:solidFill>
                <a:latin typeface="Arial MT"/>
                <a:cs typeface="Arial MT"/>
              </a:rPr>
              <a:t>Model</a:t>
            </a:r>
            <a:r>
              <a:rPr sz="2000" spc="-35" dirty="0">
                <a:solidFill>
                  <a:srgbClr val="292934"/>
                </a:solidFill>
                <a:latin typeface="Arial MT"/>
                <a:cs typeface="Arial MT"/>
              </a:rPr>
              <a:t> </a:t>
            </a:r>
            <a:r>
              <a:rPr sz="2000" spc="-10" dirty="0">
                <a:solidFill>
                  <a:srgbClr val="292934"/>
                </a:solidFill>
                <a:latin typeface="Arial MT"/>
                <a:cs typeface="Arial MT"/>
              </a:rPr>
              <a:t>Development</a:t>
            </a:r>
            <a:endParaRPr sz="2000">
              <a:latin typeface="Arial MT"/>
              <a:cs typeface="Arial MT"/>
            </a:endParaRPr>
          </a:p>
          <a:p>
            <a:pPr marL="469900" indent="-457200">
              <a:lnSpc>
                <a:spcPct val="100000"/>
              </a:lnSpc>
              <a:spcBef>
                <a:spcPts val="2205"/>
              </a:spcBef>
              <a:buAutoNum type="arabicPeriod"/>
              <a:tabLst>
                <a:tab pos="469900" algn="l"/>
              </a:tabLst>
            </a:pPr>
            <a:r>
              <a:rPr sz="2000" dirty="0">
                <a:solidFill>
                  <a:srgbClr val="292934"/>
                </a:solidFill>
                <a:latin typeface="Arial MT"/>
                <a:cs typeface="Arial MT"/>
              </a:rPr>
              <a:t>Deployment</a:t>
            </a:r>
            <a:r>
              <a:rPr sz="2000" spc="-60" dirty="0">
                <a:solidFill>
                  <a:srgbClr val="292934"/>
                </a:solidFill>
                <a:latin typeface="Arial MT"/>
                <a:cs typeface="Arial MT"/>
              </a:rPr>
              <a:t> </a:t>
            </a:r>
            <a:r>
              <a:rPr sz="2000" dirty="0">
                <a:solidFill>
                  <a:srgbClr val="292934"/>
                </a:solidFill>
                <a:latin typeface="Arial MT"/>
                <a:cs typeface="Arial MT"/>
              </a:rPr>
              <a:t>&amp;</a:t>
            </a:r>
            <a:r>
              <a:rPr sz="2000" spc="-20" dirty="0">
                <a:solidFill>
                  <a:srgbClr val="292934"/>
                </a:solidFill>
                <a:latin typeface="Arial MT"/>
                <a:cs typeface="Arial MT"/>
              </a:rPr>
              <a:t> </a:t>
            </a:r>
            <a:r>
              <a:rPr sz="2000" spc="-10" dirty="0">
                <a:solidFill>
                  <a:srgbClr val="292934"/>
                </a:solidFill>
                <a:latin typeface="Arial MT"/>
                <a:cs typeface="Arial MT"/>
              </a:rPr>
              <a:t>Interpretation</a:t>
            </a:r>
            <a:endParaRPr sz="2000">
              <a:latin typeface="Arial MT"/>
              <a:cs typeface="Arial MT"/>
            </a:endParaRPr>
          </a:p>
          <a:p>
            <a:pPr marL="469900" indent="-457200">
              <a:lnSpc>
                <a:spcPct val="100000"/>
              </a:lnSpc>
              <a:spcBef>
                <a:spcPts val="2200"/>
              </a:spcBef>
              <a:buAutoNum type="arabicPeriod"/>
              <a:tabLst>
                <a:tab pos="469900" algn="l"/>
              </a:tabLst>
            </a:pPr>
            <a:r>
              <a:rPr sz="2000" dirty="0">
                <a:solidFill>
                  <a:srgbClr val="292934"/>
                </a:solidFill>
                <a:latin typeface="Arial MT"/>
                <a:cs typeface="Arial MT"/>
              </a:rPr>
              <a:t>Conclusion</a:t>
            </a:r>
            <a:r>
              <a:rPr sz="2000" spc="-70" dirty="0">
                <a:solidFill>
                  <a:srgbClr val="292934"/>
                </a:solidFill>
                <a:latin typeface="Arial MT"/>
                <a:cs typeface="Arial MT"/>
              </a:rPr>
              <a:t> </a:t>
            </a:r>
            <a:r>
              <a:rPr sz="2000" dirty="0">
                <a:solidFill>
                  <a:srgbClr val="292934"/>
                </a:solidFill>
                <a:latin typeface="Arial MT"/>
                <a:cs typeface="Arial MT"/>
              </a:rPr>
              <a:t>&amp;</a:t>
            </a:r>
            <a:r>
              <a:rPr sz="2000" spc="-50" dirty="0">
                <a:solidFill>
                  <a:srgbClr val="292934"/>
                </a:solidFill>
                <a:latin typeface="Arial MT"/>
                <a:cs typeface="Arial MT"/>
              </a:rPr>
              <a:t> </a:t>
            </a:r>
            <a:r>
              <a:rPr sz="2000" dirty="0">
                <a:solidFill>
                  <a:srgbClr val="292934"/>
                </a:solidFill>
                <a:latin typeface="Arial MT"/>
                <a:cs typeface="Arial MT"/>
              </a:rPr>
              <a:t>Future</a:t>
            </a:r>
            <a:r>
              <a:rPr sz="2000" spc="-70" dirty="0">
                <a:solidFill>
                  <a:srgbClr val="292934"/>
                </a:solidFill>
                <a:latin typeface="Arial MT"/>
                <a:cs typeface="Arial MT"/>
              </a:rPr>
              <a:t> </a:t>
            </a:r>
            <a:r>
              <a:rPr sz="2000" spc="-20" dirty="0">
                <a:solidFill>
                  <a:srgbClr val="292934"/>
                </a:solidFill>
                <a:latin typeface="Arial MT"/>
                <a:cs typeface="Arial MT"/>
              </a:rPr>
              <a:t>Work</a:t>
            </a:r>
            <a:endParaRPr sz="20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50" dirty="0"/>
              <a:t>HARDWARE</a:t>
            </a:r>
            <a:r>
              <a:rPr spc="-114" dirty="0"/>
              <a:t> </a:t>
            </a:r>
            <a:r>
              <a:rPr spc="-75" dirty="0"/>
              <a:t>REQUIREMENTS</a:t>
            </a:r>
          </a:p>
        </p:txBody>
      </p:sp>
      <p:sp>
        <p:nvSpPr>
          <p:cNvPr id="3" name="object 3"/>
          <p:cNvSpPr txBox="1"/>
          <p:nvPr/>
        </p:nvSpPr>
        <p:spPr>
          <a:xfrm>
            <a:off x="688340" y="1542344"/>
            <a:ext cx="8564880" cy="2783454"/>
          </a:xfrm>
          <a:prstGeom prst="rect">
            <a:avLst/>
          </a:prstGeom>
        </p:spPr>
        <p:txBody>
          <a:bodyPr vert="horz" wrap="square" lIns="0" tIns="165735" rIns="0" bIns="0" rtlCol="0">
            <a:spAutoFit/>
          </a:bodyPr>
          <a:lstStyle/>
          <a:p>
            <a:pPr marL="100330" indent="-97155">
              <a:lnSpc>
                <a:spcPct val="100000"/>
              </a:lnSpc>
              <a:spcBef>
                <a:spcPts val="1305"/>
              </a:spcBef>
              <a:buSzPct val="95000"/>
              <a:buFont typeface="Arial MT"/>
              <a:buChar char="•"/>
              <a:tabLst>
                <a:tab pos="100330" algn="l"/>
              </a:tabLst>
            </a:pPr>
            <a:r>
              <a:rPr sz="2000" b="1" dirty="0">
                <a:solidFill>
                  <a:srgbClr val="292934"/>
                </a:solidFill>
                <a:latin typeface="Arial"/>
                <a:cs typeface="Arial"/>
              </a:rPr>
              <a:t>Processor</a:t>
            </a:r>
            <a:r>
              <a:rPr sz="2000" b="1" spc="-50" dirty="0">
                <a:solidFill>
                  <a:srgbClr val="292934"/>
                </a:solidFill>
                <a:latin typeface="Arial"/>
                <a:cs typeface="Arial"/>
              </a:rPr>
              <a:t> </a:t>
            </a:r>
            <a:r>
              <a:rPr sz="2000" b="1" dirty="0">
                <a:solidFill>
                  <a:srgbClr val="292934"/>
                </a:solidFill>
                <a:latin typeface="Arial"/>
                <a:cs typeface="Arial"/>
              </a:rPr>
              <a:t>(CPU):</a:t>
            </a:r>
            <a:r>
              <a:rPr sz="2000" b="1" spc="-35" dirty="0">
                <a:solidFill>
                  <a:srgbClr val="292934"/>
                </a:solidFill>
                <a:latin typeface="Arial"/>
                <a:cs typeface="Arial"/>
              </a:rPr>
              <a:t> </a:t>
            </a:r>
            <a:r>
              <a:rPr sz="2000" dirty="0">
                <a:solidFill>
                  <a:srgbClr val="292934"/>
                </a:solidFill>
                <a:latin typeface="Arial MT"/>
                <a:cs typeface="Arial MT"/>
              </a:rPr>
              <a:t>Intel</a:t>
            </a:r>
            <a:r>
              <a:rPr sz="2000" spc="-25" dirty="0">
                <a:solidFill>
                  <a:srgbClr val="292934"/>
                </a:solidFill>
                <a:latin typeface="Arial MT"/>
                <a:cs typeface="Arial MT"/>
              </a:rPr>
              <a:t> </a:t>
            </a:r>
            <a:r>
              <a:rPr sz="2000" dirty="0">
                <a:solidFill>
                  <a:srgbClr val="292934"/>
                </a:solidFill>
                <a:latin typeface="Arial MT"/>
                <a:cs typeface="Arial MT"/>
              </a:rPr>
              <a:t>Core</a:t>
            </a:r>
            <a:r>
              <a:rPr sz="2000" spc="-25" dirty="0">
                <a:solidFill>
                  <a:srgbClr val="292934"/>
                </a:solidFill>
                <a:latin typeface="Arial MT"/>
                <a:cs typeface="Arial MT"/>
              </a:rPr>
              <a:t> </a:t>
            </a:r>
            <a:r>
              <a:rPr sz="2000" dirty="0" err="1">
                <a:solidFill>
                  <a:srgbClr val="292934"/>
                </a:solidFill>
                <a:latin typeface="Arial MT"/>
                <a:cs typeface="Arial MT"/>
              </a:rPr>
              <a:t>i</a:t>
            </a:r>
            <a:r>
              <a:rPr lang="en-IN" sz="2000" dirty="0">
                <a:solidFill>
                  <a:srgbClr val="292934"/>
                </a:solidFill>
                <a:latin typeface="Arial MT"/>
                <a:cs typeface="Arial MT"/>
              </a:rPr>
              <a:t>3/i5</a:t>
            </a:r>
            <a:r>
              <a:rPr sz="2000" spc="-15" dirty="0">
                <a:solidFill>
                  <a:srgbClr val="292934"/>
                </a:solidFill>
                <a:latin typeface="Arial MT"/>
                <a:cs typeface="Arial MT"/>
              </a:rPr>
              <a:t> </a:t>
            </a:r>
            <a:r>
              <a:rPr sz="2000" dirty="0">
                <a:solidFill>
                  <a:srgbClr val="292934"/>
                </a:solidFill>
                <a:latin typeface="Arial MT"/>
                <a:cs typeface="Arial MT"/>
              </a:rPr>
              <a:t>or</a:t>
            </a:r>
            <a:r>
              <a:rPr sz="2000" spc="-140" dirty="0">
                <a:solidFill>
                  <a:srgbClr val="292934"/>
                </a:solidFill>
                <a:latin typeface="Arial MT"/>
                <a:cs typeface="Arial MT"/>
              </a:rPr>
              <a:t> </a:t>
            </a:r>
            <a:r>
              <a:rPr sz="2000" dirty="0">
                <a:solidFill>
                  <a:srgbClr val="292934"/>
                </a:solidFill>
                <a:latin typeface="Arial MT"/>
                <a:cs typeface="Arial MT"/>
              </a:rPr>
              <a:t>AMD</a:t>
            </a:r>
            <a:r>
              <a:rPr sz="2000" spc="-15" dirty="0">
                <a:solidFill>
                  <a:srgbClr val="292934"/>
                </a:solidFill>
                <a:latin typeface="Arial MT"/>
                <a:cs typeface="Arial MT"/>
              </a:rPr>
              <a:t> </a:t>
            </a:r>
            <a:r>
              <a:rPr sz="2000" dirty="0">
                <a:solidFill>
                  <a:srgbClr val="292934"/>
                </a:solidFill>
                <a:latin typeface="Arial MT"/>
                <a:cs typeface="Arial MT"/>
              </a:rPr>
              <a:t>Ryzen</a:t>
            </a:r>
            <a:r>
              <a:rPr sz="2000" spc="-25" dirty="0">
                <a:solidFill>
                  <a:srgbClr val="292934"/>
                </a:solidFill>
                <a:latin typeface="Arial MT"/>
                <a:cs typeface="Arial MT"/>
              </a:rPr>
              <a:t> </a:t>
            </a:r>
            <a:r>
              <a:rPr lang="en-IN" sz="2000" spc="-25" dirty="0">
                <a:solidFill>
                  <a:srgbClr val="292934"/>
                </a:solidFill>
                <a:latin typeface="Arial MT"/>
                <a:cs typeface="Arial MT"/>
              </a:rPr>
              <a:t>3</a:t>
            </a:r>
            <a:r>
              <a:rPr sz="2000" dirty="0">
                <a:solidFill>
                  <a:srgbClr val="292934"/>
                </a:solidFill>
                <a:latin typeface="Arial MT"/>
                <a:cs typeface="Arial MT"/>
              </a:rPr>
              <a:t>/</a:t>
            </a:r>
            <a:r>
              <a:rPr lang="en-IN" sz="2000" dirty="0">
                <a:solidFill>
                  <a:srgbClr val="292934"/>
                </a:solidFill>
                <a:latin typeface="Arial MT"/>
                <a:cs typeface="Arial MT"/>
              </a:rPr>
              <a:t>5</a:t>
            </a:r>
            <a:r>
              <a:rPr sz="2000" spc="-30" dirty="0">
                <a:solidFill>
                  <a:srgbClr val="292934"/>
                </a:solidFill>
                <a:latin typeface="Arial MT"/>
                <a:cs typeface="Arial MT"/>
              </a:rPr>
              <a:t> </a:t>
            </a:r>
            <a:r>
              <a:rPr sz="2000" spc="-10" dirty="0">
                <a:solidFill>
                  <a:srgbClr val="292934"/>
                </a:solidFill>
                <a:latin typeface="Arial MT"/>
                <a:cs typeface="Arial MT"/>
              </a:rPr>
              <a:t>(Quad-</a:t>
            </a:r>
            <a:r>
              <a:rPr sz="2000" dirty="0">
                <a:solidFill>
                  <a:srgbClr val="292934"/>
                </a:solidFill>
                <a:latin typeface="Arial MT"/>
                <a:cs typeface="Arial MT"/>
              </a:rPr>
              <a:t>core</a:t>
            </a:r>
            <a:r>
              <a:rPr sz="2000" spc="-65" dirty="0">
                <a:solidFill>
                  <a:srgbClr val="292934"/>
                </a:solidFill>
                <a:latin typeface="Arial MT"/>
                <a:cs typeface="Arial MT"/>
              </a:rPr>
              <a:t> </a:t>
            </a:r>
            <a:r>
              <a:rPr sz="2000" dirty="0">
                <a:solidFill>
                  <a:srgbClr val="292934"/>
                </a:solidFill>
                <a:latin typeface="Arial MT"/>
                <a:cs typeface="Arial MT"/>
              </a:rPr>
              <a:t>or</a:t>
            </a:r>
            <a:r>
              <a:rPr sz="2000" spc="-25" dirty="0">
                <a:solidFill>
                  <a:srgbClr val="292934"/>
                </a:solidFill>
                <a:latin typeface="Arial MT"/>
                <a:cs typeface="Arial MT"/>
              </a:rPr>
              <a:t> </a:t>
            </a:r>
            <a:r>
              <a:rPr sz="2000" spc="-10" dirty="0">
                <a:solidFill>
                  <a:srgbClr val="292934"/>
                </a:solidFill>
                <a:latin typeface="Arial MT"/>
                <a:cs typeface="Arial MT"/>
              </a:rPr>
              <a:t>higher)</a:t>
            </a:r>
            <a:endParaRPr sz="2000" dirty="0">
              <a:latin typeface="Arial MT"/>
              <a:cs typeface="Arial MT"/>
            </a:endParaRPr>
          </a:p>
          <a:p>
            <a:pPr marL="100330" indent="-97155">
              <a:lnSpc>
                <a:spcPct val="100000"/>
              </a:lnSpc>
              <a:spcBef>
                <a:spcPts val="1200"/>
              </a:spcBef>
              <a:buSzPct val="95000"/>
              <a:buFont typeface="Arial MT"/>
              <a:buChar char="•"/>
              <a:tabLst>
                <a:tab pos="100330" algn="l"/>
              </a:tabLst>
            </a:pPr>
            <a:r>
              <a:rPr sz="2000" b="1" dirty="0">
                <a:solidFill>
                  <a:srgbClr val="292934"/>
                </a:solidFill>
                <a:latin typeface="Arial"/>
                <a:cs typeface="Arial"/>
              </a:rPr>
              <a:t>RAM:</a:t>
            </a:r>
            <a:r>
              <a:rPr sz="2000" b="1" spc="-25" dirty="0">
                <a:solidFill>
                  <a:srgbClr val="292934"/>
                </a:solidFill>
                <a:latin typeface="Arial"/>
                <a:cs typeface="Arial"/>
              </a:rPr>
              <a:t> </a:t>
            </a:r>
            <a:r>
              <a:rPr sz="2000" dirty="0">
                <a:solidFill>
                  <a:srgbClr val="292934"/>
                </a:solidFill>
                <a:latin typeface="Arial MT"/>
                <a:cs typeface="Arial MT"/>
              </a:rPr>
              <a:t>8GB</a:t>
            </a:r>
            <a:r>
              <a:rPr sz="2000" spc="-20" dirty="0">
                <a:solidFill>
                  <a:srgbClr val="292934"/>
                </a:solidFill>
                <a:latin typeface="Arial MT"/>
                <a:cs typeface="Arial MT"/>
              </a:rPr>
              <a:t> </a:t>
            </a:r>
            <a:r>
              <a:rPr sz="2000" dirty="0">
                <a:solidFill>
                  <a:srgbClr val="292934"/>
                </a:solidFill>
                <a:latin typeface="Arial MT"/>
                <a:cs typeface="Arial MT"/>
              </a:rPr>
              <a:t>– </a:t>
            </a:r>
            <a:r>
              <a:rPr sz="2000" spc="-20" dirty="0">
                <a:solidFill>
                  <a:srgbClr val="292934"/>
                </a:solidFill>
                <a:latin typeface="Arial MT"/>
                <a:cs typeface="Arial MT"/>
              </a:rPr>
              <a:t>16GB</a:t>
            </a:r>
            <a:endParaRPr sz="2000" dirty="0">
              <a:latin typeface="Arial MT"/>
              <a:cs typeface="Arial MT"/>
            </a:endParaRPr>
          </a:p>
          <a:p>
            <a:pPr marL="100330" indent="-97155">
              <a:lnSpc>
                <a:spcPct val="100000"/>
              </a:lnSpc>
              <a:spcBef>
                <a:spcPts val="1200"/>
              </a:spcBef>
              <a:buSzPct val="95000"/>
              <a:buFont typeface="Arial MT"/>
              <a:buChar char="•"/>
              <a:tabLst>
                <a:tab pos="100330" algn="l"/>
              </a:tabLst>
            </a:pPr>
            <a:r>
              <a:rPr sz="2000" b="1" dirty="0">
                <a:solidFill>
                  <a:srgbClr val="292934"/>
                </a:solidFill>
                <a:latin typeface="Arial"/>
                <a:cs typeface="Arial"/>
              </a:rPr>
              <a:t>Storage:</a:t>
            </a:r>
            <a:r>
              <a:rPr sz="2000" b="1" spc="-45" dirty="0">
                <a:solidFill>
                  <a:srgbClr val="292934"/>
                </a:solidFill>
                <a:latin typeface="Arial"/>
                <a:cs typeface="Arial"/>
              </a:rPr>
              <a:t> </a:t>
            </a:r>
            <a:r>
              <a:rPr sz="2000" dirty="0">
                <a:solidFill>
                  <a:srgbClr val="292934"/>
                </a:solidFill>
                <a:latin typeface="Arial MT"/>
                <a:cs typeface="Arial MT"/>
              </a:rPr>
              <a:t>256GB</a:t>
            </a:r>
            <a:r>
              <a:rPr sz="2000" spc="-55" dirty="0">
                <a:solidFill>
                  <a:srgbClr val="292934"/>
                </a:solidFill>
                <a:latin typeface="Arial MT"/>
                <a:cs typeface="Arial MT"/>
              </a:rPr>
              <a:t> </a:t>
            </a:r>
            <a:r>
              <a:rPr sz="2000" dirty="0">
                <a:solidFill>
                  <a:srgbClr val="292934"/>
                </a:solidFill>
                <a:latin typeface="Arial MT"/>
                <a:cs typeface="Arial MT"/>
              </a:rPr>
              <a:t>–</a:t>
            </a:r>
            <a:r>
              <a:rPr sz="2000" spc="-20" dirty="0">
                <a:solidFill>
                  <a:srgbClr val="292934"/>
                </a:solidFill>
                <a:latin typeface="Arial MT"/>
                <a:cs typeface="Arial MT"/>
              </a:rPr>
              <a:t> </a:t>
            </a:r>
            <a:r>
              <a:rPr sz="2000" dirty="0">
                <a:solidFill>
                  <a:srgbClr val="292934"/>
                </a:solidFill>
                <a:latin typeface="Arial MT"/>
                <a:cs typeface="Arial MT"/>
              </a:rPr>
              <a:t>512GB</a:t>
            </a:r>
            <a:r>
              <a:rPr sz="2000" spc="-40" dirty="0">
                <a:solidFill>
                  <a:srgbClr val="292934"/>
                </a:solidFill>
                <a:latin typeface="Arial MT"/>
                <a:cs typeface="Arial MT"/>
              </a:rPr>
              <a:t> </a:t>
            </a:r>
            <a:r>
              <a:rPr sz="2000" dirty="0">
                <a:solidFill>
                  <a:srgbClr val="292934"/>
                </a:solidFill>
                <a:latin typeface="Arial MT"/>
                <a:cs typeface="Arial MT"/>
              </a:rPr>
              <a:t>SSD</a:t>
            </a:r>
            <a:r>
              <a:rPr sz="2000" spc="-20" dirty="0">
                <a:solidFill>
                  <a:srgbClr val="292934"/>
                </a:solidFill>
                <a:latin typeface="Arial MT"/>
                <a:cs typeface="Arial MT"/>
              </a:rPr>
              <a:t> </a:t>
            </a:r>
            <a:r>
              <a:rPr sz="2000" dirty="0">
                <a:solidFill>
                  <a:srgbClr val="292934"/>
                </a:solidFill>
                <a:latin typeface="Arial MT"/>
                <a:cs typeface="Arial MT"/>
              </a:rPr>
              <a:t>(HDD</a:t>
            </a:r>
            <a:r>
              <a:rPr sz="2000" spc="-25" dirty="0">
                <a:solidFill>
                  <a:srgbClr val="292934"/>
                </a:solidFill>
                <a:latin typeface="Arial MT"/>
                <a:cs typeface="Arial MT"/>
              </a:rPr>
              <a:t> </a:t>
            </a:r>
            <a:r>
              <a:rPr sz="2000" dirty="0">
                <a:solidFill>
                  <a:srgbClr val="292934"/>
                </a:solidFill>
                <a:latin typeface="Arial MT"/>
                <a:cs typeface="Arial MT"/>
              </a:rPr>
              <a:t>not</a:t>
            </a:r>
            <a:r>
              <a:rPr sz="2000" spc="-45" dirty="0">
                <a:solidFill>
                  <a:srgbClr val="292934"/>
                </a:solidFill>
                <a:latin typeface="Arial MT"/>
                <a:cs typeface="Arial MT"/>
              </a:rPr>
              <a:t> </a:t>
            </a:r>
            <a:r>
              <a:rPr sz="2000" spc="-10" dirty="0">
                <a:solidFill>
                  <a:srgbClr val="292934"/>
                </a:solidFill>
                <a:latin typeface="Arial MT"/>
                <a:cs typeface="Arial MT"/>
              </a:rPr>
              <a:t>recommended)</a:t>
            </a:r>
            <a:endParaRPr sz="2000" dirty="0">
              <a:latin typeface="Arial MT"/>
              <a:cs typeface="Arial MT"/>
            </a:endParaRPr>
          </a:p>
          <a:p>
            <a:pPr marL="100330" indent="-97155">
              <a:lnSpc>
                <a:spcPct val="100000"/>
              </a:lnSpc>
              <a:spcBef>
                <a:spcPts val="1200"/>
              </a:spcBef>
              <a:buSzPct val="95000"/>
              <a:buFont typeface="Arial MT"/>
              <a:buChar char="•"/>
              <a:tabLst>
                <a:tab pos="100330" algn="l"/>
              </a:tabLst>
            </a:pPr>
            <a:r>
              <a:rPr sz="2000" b="1" dirty="0">
                <a:solidFill>
                  <a:srgbClr val="292934"/>
                </a:solidFill>
                <a:latin typeface="Arial"/>
                <a:cs typeface="Arial"/>
              </a:rPr>
              <a:t>GPU:</a:t>
            </a:r>
            <a:r>
              <a:rPr sz="2000" b="1" spc="-35" dirty="0">
                <a:solidFill>
                  <a:srgbClr val="292934"/>
                </a:solidFill>
                <a:latin typeface="Arial"/>
                <a:cs typeface="Arial"/>
              </a:rPr>
              <a:t> </a:t>
            </a:r>
            <a:r>
              <a:rPr sz="2000" dirty="0">
                <a:solidFill>
                  <a:srgbClr val="292934"/>
                </a:solidFill>
                <a:latin typeface="Arial MT"/>
                <a:cs typeface="Arial MT"/>
              </a:rPr>
              <a:t>Not</a:t>
            </a:r>
            <a:r>
              <a:rPr sz="2000" spc="-20" dirty="0">
                <a:solidFill>
                  <a:srgbClr val="292934"/>
                </a:solidFill>
                <a:latin typeface="Arial MT"/>
                <a:cs typeface="Arial MT"/>
              </a:rPr>
              <a:t> </a:t>
            </a:r>
            <a:r>
              <a:rPr sz="2000" dirty="0">
                <a:solidFill>
                  <a:srgbClr val="292934"/>
                </a:solidFill>
                <a:latin typeface="Arial MT"/>
                <a:cs typeface="Arial MT"/>
              </a:rPr>
              <a:t>required</a:t>
            </a:r>
            <a:r>
              <a:rPr sz="2000" spc="-50" dirty="0">
                <a:solidFill>
                  <a:srgbClr val="292934"/>
                </a:solidFill>
                <a:latin typeface="Arial MT"/>
                <a:cs typeface="Arial MT"/>
              </a:rPr>
              <a:t> </a:t>
            </a:r>
            <a:r>
              <a:rPr sz="2000" dirty="0">
                <a:solidFill>
                  <a:srgbClr val="292934"/>
                </a:solidFill>
                <a:latin typeface="Arial MT"/>
                <a:cs typeface="Arial MT"/>
              </a:rPr>
              <a:t>for</a:t>
            </a:r>
            <a:r>
              <a:rPr sz="2000" spc="-30" dirty="0">
                <a:solidFill>
                  <a:srgbClr val="292934"/>
                </a:solidFill>
                <a:latin typeface="Arial MT"/>
                <a:cs typeface="Arial MT"/>
              </a:rPr>
              <a:t> </a:t>
            </a:r>
            <a:r>
              <a:rPr sz="2000" dirty="0">
                <a:solidFill>
                  <a:srgbClr val="292934"/>
                </a:solidFill>
                <a:latin typeface="Arial MT"/>
                <a:cs typeface="Arial MT"/>
              </a:rPr>
              <a:t>basic</a:t>
            </a:r>
            <a:r>
              <a:rPr sz="2000" spc="-30" dirty="0">
                <a:solidFill>
                  <a:srgbClr val="292934"/>
                </a:solidFill>
                <a:latin typeface="Arial MT"/>
                <a:cs typeface="Arial MT"/>
              </a:rPr>
              <a:t> </a:t>
            </a:r>
            <a:r>
              <a:rPr sz="2000" dirty="0">
                <a:solidFill>
                  <a:srgbClr val="292934"/>
                </a:solidFill>
                <a:latin typeface="Arial MT"/>
                <a:cs typeface="Arial MT"/>
              </a:rPr>
              <a:t>statistical</a:t>
            </a:r>
            <a:r>
              <a:rPr sz="2000" spc="-40" dirty="0">
                <a:solidFill>
                  <a:srgbClr val="292934"/>
                </a:solidFill>
                <a:latin typeface="Arial MT"/>
                <a:cs typeface="Arial MT"/>
              </a:rPr>
              <a:t> </a:t>
            </a:r>
            <a:r>
              <a:rPr sz="2000" dirty="0">
                <a:solidFill>
                  <a:srgbClr val="292934"/>
                </a:solidFill>
                <a:latin typeface="Arial MT"/>
                <a:cs typeface="Arial MT"/>
              </a:rPr>
              <a:t>analysis</a:t>
            </a:r>
            <a:r>
              <a:rPr sz="2000" spc="-20" dirty="0">
                <a:solidFill>
                  <a:srgbClr val="292934"/>
                </a:solidFill>
                <a:latin typeface="Arial MT"/>
                <a:cs typeface="Arial MT"/>
              </a:rPr>
              <a:t> </a:t>
            </a:r>
            <a:r>
              <a:rPr sz="2000" dirty="0">
                <a:solidFill>
                  <a:srgbClr val="292934"/>
                </a:solidFill>
                <a:latin typeface="Arial MT"/>
                <a:cs typeface="Arial MT"/>
              </a:rPr>
              <a:t>or</a:t>
            </a:r>
            <a:r>
              <a:rPr sz="2000" spc="-25" dirty="0">
                <a:solidFill>
                  <a:srgbClr val="292934"/>
                </a:solidFill>
                <a:latin typeface="Arial MT"/>
                <a:cs typeface="Arial MT"/>
              </a:rPr>
              <a:t> </a:t>
            </a:r>
            <a:r>
              <a:rPr sz="2000" dirty="0">
                <a:solidFill>
                  <a:srgbClr val="292934"/>
                </a:solidFill>
                <a:latin typeface="Arial MT"/>
                <a:cs typeface="Arial MT"/>
              </a:rPr>
              <a:t>small</a:t>
            </a:r>
            <a:r>
              <a:rPr sz="2000" spc="-30" dirty="0">
                <a:solidFill>
                  <a:srgbClr val="292934"/>
                </a:solidFill>
                <a:latin typeface="Arial MT"/>
                <a:cs typeface="Arial MT"/>
              </a:rPr>
              <a:t> </a:t>
            </a:r>
            <a:r>
              <a:rPr sz="2000" dirty="0">
                <a:solidFill>
                  <a:srgbClr val="292934"/>
                </a:solidFill>
                <a:latin typeface="Arial MT"/>
                <a:cs typeface="Arial MT"/>
              </a:rPr>
              <a:t>ML</a:t>
            </a:r>
            <a:r>
              <a:rPr sz="2000" spc="-95" dirty="0">
                <a:solidFill>
                  <a:srgbClr val="292934"/>
                </a:solidFill>
                <a:latin typeface="Arial MT"/>
                <a:cs typeface="Arial MT"/>
              </a:rPr>
              <a:t> </a:t>
            </a:r>
            <a:r>
              <a:rPr sz="2000" spc="-10" dirty="0">
                <a:solidFill>
                  <a:srgbClr val="292934"/>
                </a:solidFill>
                <a:latin typeface="Arial MT"/>
                <a:cs typeface="Arial MT"/>
              </a:rPr>
              <a:t>models</a:t>
            </a:r>
            <a:endParaRPr sz="2000" dirty="0">
              <a:latin typeface="Arial MT"/>
              <a:cs typeface="Arial MT"/>
            </a:endParaRPr>
          </a:p>
          <a:p>
            <a:pPr marL="100330" indent="-97155">
              <a:lnSpc>
                <a:spcPct val="100000"/>
              </a:lnSpc>
              <a:spcBef>
                <a:spcPts val="1205"/>
              </a:spcBef>
              <a:buSzPct val="95000"/>
              <a:buFont typeface="Arial MT"/>
              <a:buChar char="•"/>
              <a:tabLst>
                <a:tab pos="100330" algn="l"/>
              </a:tabLst>
            </a:pPr>
            <a:r>
              <a:rPr sz="2000" b="1" dirty="0">
                <a:solidFill>
                  <a:srgbClr val="292934"/>
                </a:solidFill>
                <a:latin typeface="Arial"/>
                <a:cs typeface="Arial"/>
              </a:rPr>
              <a:t>OS:</a:t>
            </a:r>
            <a:r>
              <a:rPr sz="2000" b="1" spc="-35" dirty="0">
                <a:solidFill>
                  <a:srgbClr val="292934"/>
                </a:solidFill>
                <a:latin typeface="Arial"/>
                <a:cs typeface="Arial"/>
              </a:rPr>
              <a:t> </a:t>
            </a:r>
            <a:r>
              <a:rPr sz="2000" dirty="0">
                <a:solidFill>
                  <a:srgbClr val="292934"/>
                </a:solidFill>
                <a:latin typeface="Arial MT"/>
                <a:cs typeface="Arial MT"/>
              </a:rPr>
              <a:t>Windows</a:t>
            </a:r>
            <a:r>
              <a:rPr sz="2000" spc="-40" dirty="0">
                <a:solidFill>
                  <a:srgbClr val="292934"/>
                </a:solidFill>
                <a:latin typeface="Arial MT"/>
                <a:cs typeface="Arial MT"/>
              </a:rPr>
              <a:t> </a:t>
            </a:r>
            <a:r>
              <a:rPr sz="2000" spc="-10" dirty="0">
                <a:solidFill>
                  <a:srgbClr val="292934"/>
                </a:solidFill>
                <a:latin typeface="Arial MT"/>
                <a:cs typeface="Arial MT"/>
              </a:rPr>
              <a:t>10/11,</a:t>
            </a:r>
            <a:r>
              <a:rPr sz="2000" spc="-55" dirty="0">
                <a:solidFill>
                  <a:srgbClr val="292934"/>
                </a:solidFill>
                <a:latin typeface="Arial MT"/>
                <a:cs typeface="Arial MT"/>
              </a:rPr>
              <a:t> </a:t>
            </a:r>
            <a:r>
              <a:rPr sz="2000" dirty="0">
                <a:solidFill>
                  <a:srgbClr val="292934"/>
                </a:solidFill>
                <a:latin typeface="Arial MT"/>
                <a:cs typeface="Arial MT"/>
              </a:rPr>
              <a:t>macOS</a:t>
            </a:r>
            <a:endParaRPr lang="en-IN" sz="2000" dirty="0">
              <a:solidFill>
                <a:srgbClr val="292934"/>
              </a:solidFill>
              <a:latin typeface="Arial MT"/>
              <a:cs typeface="Arial MT"/>
            </a:endParaRPr>
          </a:p>
          <a:p>
            <a:pPr marL="100330" indent="-97155">
              <a:lnSpc>
                <a:spcPct val="100000"/>
              </a:lnSpc>
              <a:spcBef>
                <a:spcPts val="1205"/>
              </a:spcBef>
              <a:buSzPct val="95000"/>
              <a:buFont typeface="Arial MT"/>
              <a:buChar char="•"/>
              <a:tabLst>
                <a:tab pos="100330" algn="l"/>
              </a:tabLst>
            </a:pPr>
            <a:r>
              <a:rPr sz="2000" b="1" dirty="0">
                <a:solidFill>
                  <a:srgbClr val="292934"/>
                </a:solidFill>
                <a:latin typeface="Arial"/>
                <a:cs typeface="Arial"/>
              </a:rPr>
              <a:t>Internet:</a:t>
            </a:r>
            <a:r>
              <a:rPr sz="2000" b="1" spc="-65" dirty="0">
                <a:solidFill>
                  <a:srgbClr val="292934"/>
                </a:solidFill>
                <a:latin typeface="Arial"/>
                <a:cs typeface="Arial"/>
              </a:rPr>
              <a:t> </a:t>
            </a:r>
            <a:r>
              <a:rPr sz="2000" dirty="0">
                <a:solidFill>
                  <a:srgbClr val="292934"/>
                </a:solidFill>
                <a:latin typeface="Arial MT"/>
                <a:cs typeface="Arial MT"/>
              </a:rPr>
              <a:t>Required</a:t>
            </a:r>
            <a:r>
              <a:rPr sz="2000" spc="-30" dirty="0">
                <a:solidFill>
                  <a:srgbClr val="292934"/>
                </a:solidFill>
                <a:latin typeface="Arial MT"/>
                <a:cs typeface="Arial MT"/>
              </a:rPr>
              <a:t> </a:t>
            </a:r>
            <a:r>
              <a:rPr sz="2000" dirty="0">
                <a:solidFill>
                  <a:srgbClr val="292934"/>
                </a:solidFill>
                <a:latin typeface="Arial MT"/>
                <a:cs typeface="Arial MT"/>
              </a:rPr>
              <a:t>for</a:t>
            </a:r>
            <a:r>
              <a:rPr sz="2000" spc="-20" dirty="0">
                <a:solidFill>
                  <a:srgbClr val="292934"/>
                </a:solidFill>
                <a:latin typeface="Arial MT"/>
                <a:cs typeface="Arial MT"/>
              </a:rPr>
              <a:t> </a:t>
            </a:r>
            <a:r>
              <a:rPr sz="2000" spc="-10" dirty="0">
                <a:solidFill>
                  <a:srgbClr val="292934"/>
                </a:solidFill>
                <a:latin typeface="Arial MT"/>
                <a:cs typeface="Arial MT"/>
              </a:rPr>
              <a:t>cloud-</a:t>
            </a:r>
            <a:r>
              <a:rPr sz="2000" dirty="0">
                <a:solidFill>
                  <a:srgbClr val="292934"/>
                </a:solidFill>
                <a:latin typeface="Arial MT"/>
                <a:cs typeface="Arial MT"/>
              </a:rPr>
              <a:t>based</a:t>
            </a:r>
            <a:r>
              <a:rPr sz="2000" spc="-55" dirty="0">
                <a:solidFill>
                  <a:srgbClr val="292934"/>
                </a:solidFill>
                <a:latin typeface="Arial MT"/>
                <a:cs typeface="Arial MT"/>
              </a:rPr>
              <a:t> </a:t>
            </a:r>
            <a:r>
              <a:rPr sz="2000" dirty="0">
                <a:solidFill>
                  <a:srgbClr val="292934"/>
                </a:solidFill>
                <a:latin typeface="Arial MT"/>
                <a:cs typeface="Arial MT"/>
              </a:rPr>
              <a:t>analytics</a:t>
            </a:r>
            <a:r>
              <a:rPr sz="2000" spc="-15" dirty="0">
                <a:solidFill>
                  <a:srgbClr val="292934"/>
                </a:solidFill>
                <a:latin typeface="Arial MT"/>
                <a:cs typeface="Arial MT"/>
              </a:rPr>
              <a:t> </a:t>
            </a:r>
            <a:r>
              <a:rPr sz="2000" dirty="0">
                <a:solidFill>
                  <a:srgbClr val="292934"/>
                </a:solidFill>
                <a:latin typeface="Arial MT"/>
                <a:cs typeface="Arial MT"/>
              </a:rPr>
              <a:t>(Google</a:t>
            </a:r>
            <a:r>
              <a:rPr sz="2000" spc="-40" dirty="0">
                <a:solidFill>
                  <a:srgbClr val="292934"/>
                </a:solidFill>
                <a:latin typeface="Arial MT"/>
                <a:cs typeface="Arial MT"/>
              </a:rPr>
              <a:t> </a:t>
            </a:r>
            <a:r>
              <a:rPr sz="2000" spc="-10" dirty="0" err="1">
                <a:solidFill>
                  <a:srgbClr val="292934"/>
                </a:solidFill>
                <a:latin typeface="Arial MT"/>
                <a:cs typeface="Arial MT"/>
              </a:rPr>
              <a:t>Colab</a:t>
            </a:r>
            <a:r>
              <a:rPr lang="en-IN" sz="2000" spc="-10" dirty="0">
                <a:solidFill>
                  <a:srgbClr val="292934"/>
                </a:solidFill>
                <a:latin typeface="Arial MT"/>
                <a:cs typeface="Arial MT"/>
              </a:rPr>
              <a:t>)</a:t>
            </a:r>
            <a:endParaRPr sz="20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40" dirty="0"/>
              <a:t>SOFTWARE</a:t>
            </a:r>
            <a:r>
              <a:rPr spc="-135" dirty="0"/>
              <a:t> </a:t>
            </a:r>
            <a:r>
              <a:rPr spc="-80" dirty="0"/>
              <a:t>REQUIREMENTS</a:t>
            </a:r>
          </a:p>
        </p:txBody>
      </p:sp>
      <p:sp>
        <p:nvSpPr>
          <p:cNvPr id="3" name="object 3"/>
          <p:cNvSpPr txBox="1">
            <a:spLocks noGrp="1"/>
          </p:cNvSpPr>
          <p:nvPr>
            <p:ph type="body" idx="1"/>
          </p:nvPr>
        </p:nvSpPr>
        <p:spPr>
          <a:prstGeom prst="rect">
            <a:avLst/>
          </a:prstGeom>
        </p:spPr>
        <p:txBody>
          <a:bodyPr vert="horz" wrap="square" lIns="0" tIns="165100" rIns="0" bIns="0" rtlCol="0">
            <a:spAutoFit/>
          </a:bodyPr>
          <a:lstStyle/>
          <a:p>
            <a:pPr marL="354965" indent="-342265">
              <a:lnSpc>
                <a:spcPct val="100000"/>
              </a:lnSpc>
              <a:spcBef>
                <a:spcPts val="1300"/>
              </a:spcBef>
              <a:buFont typeface="Arial MT"/>
              <a:buChar char="•"/>
              <a:tabLst>
                <a:tab pos="354965" algn="l"/>
              </a:tabLst>
            </a:pPr>
            <a:r>
              <a:rPr dirty="0"/>
              <a:t>Operating</a:t>
            </a:r>
            <a:r>
              <a:rPr spc="-75" dirty="0"/>
              <a:t> </a:t>
            </a:r>
            <a:r>
              <a:rPr dirty="0"/>
              <a:t>System:</a:t>
            </a:r>
            <a:r>
              <a:rPr spc="-45" dirty="0"/>
              <a:t> </a:t>
            </a:r>
            <a:r>
              <a:rPr b="0" dirty="0">
                <a:latin typeface="Arial MT"/>
                <a:cs typeface="Arial MT"/>
              </a:rPr>
              <a:t>Windows</a:t>
            </a:r>
            <a:r>
              <a:rPr b="0" spc="-55" dirty="0">
                <a:latin typeface="Arial MT"/>
                <a:cs typeface="Arial MT"/>
              </a:rPr>
              <a:t> </a:t>
            </a:r>
            <a:r>
              <a:rPr b="0" spc="-10" dirty="0">
                <a:latin typeface="Arial MT"/>
                <a:cs typeface="Arial MT"/>
              </a:rPr>
              <a:t>10/11,</a:t>
            </a:r>
          </a:p>
          <a:p>
            <a:pPr marL="354965" indent="-342265">
              <a:lnSpc>
                <a:spcPct val="100000"/>
              </a:lnSpc>
              <a:spcBef>
                <a:spcPts val="1200"/>
              </a:spcBef>
              <a:buFont typeface="Arial MT"/>
              <a:buChar char="•"/>
              <a:tabLst>
                <a:tab pos="354965" algn="l"/>
              </a:tabLst>
            </a:pPr>
            <a:r>
              <a:rPr dirty="0"/>
              <a:t>Programming</a:t>
            </a:r>
            <a:r>
              <a:rPr spc="-80" dirty="0"/>
              <a:t> </a:t>
            </a:r>
            <a:r>
              <a:rPr dirty="0"/>
              <a:t>Languages:</a:t>
            </a:r>
            <a:r>
              <a:rPr spc="-105" dirty="0"/>
              <a:t> </a:t>
            </a:r>
            <a:r>
              <a:rPr b="0" spc="-10" dirty="0">
                <a:latin typeface="Arial MT"/>
                <a:cs typeface="Arial MT"/>
              </a:rPr>
              <a:t>Python</a:t>
            </a:r>
          </a:p>
          <a:p>
            <a:pPr marL="354965" indent="-342265">
              <a:lnSpc>
                <a:spcPct val="100000"/>
              </a:lnSpc>
              <a:spcBef>
                <a:spcPts val="1200"/>
              </a:spcBef>
              <a:buFont typeface="Arial MT"/>
              <a:buChar char="•"/>
              <a:tabLst>
                <a:tab pos="354965" algn="l"/>
              </a:tabLst>
            </a:pPr>
            <a:r>
              <a:rPr dirty="0"/>
              <a:t>Development</a:t>
            </a:r>
            <a:r>
              <a:rPr spc="-20" dirty="0"/>
              <a:t> </a:t>
            </a:r>
            <a:r>
              <a:rPr dirty="0"/>
              <a:t>Environment:</a:t>
            </a:r>
            <a:r>
              <a:rPr spc="-60" dirty="0"/>
              <a:t> </a:t>
            </a:r>
            <a:r>
              <a:rPr b="0" dirty="0">
                <a:latin typeface="Arial MT"/>
                <a:cs typeface="Arial MT"/>
              </a:rPr>
              <a:t>Jupyter</a:t>
            </a:r>
            <a:r>
              <a:rPr b="0" spc="-60" dirty="0">
                <a:latin typeface="Arial MT"/>
                <a:cs typeface="Arial MT"/>
              </a:rPr>
              <a:t> </a:t>
            </a:r>
            <a:r>
              <a:rPr b="0" dirty="0">
                <a:latin typeface="Arial MT"/>
                <a:cs typeface="Arial MT"/>
              </a:rPr>
              <a:t>Notebook,</a:t>
            </a:r>
            <a:r>
              <a:rPr b="0" spc="-70" dirty="0">
                <a:latin typeface="Arial MT"/>
                <a:cs typeface="Arial MT"/>
              </a:rPr>
              <a:t> </a:t>
            </a:r>
            <a:r>
              <a:rPr b="0" dirty="0">
                <a:latin typeface="Arial MT"/>
                <a:cs typeface="Arial MT"/>
              </a:rPr>
              <a:t>VS</a:t>
            </a:r>
            <a:r>
              <a:rPr b="0" spc="-30" dirty="0">
                <a:latin typeface="Arial MT"/>
                <a:cs typeface="Arial MT"/>
              </a:rPr>
              <a:t> </a:t>
            </a:r>
            <a:r>
              <a:rPr b="0" spc="-20" dirty="0">
                <a:latin typeface="Arial MT"/>
                <a:cs typeface="Arial MT"/>
              </a:rPr>
              <a:t>Code</a:t>
            </a:r>
          </a:p>
          <a:p>
            <a:pPr marL="12700">
              <a:lnSpc>
                <a:spcPct val="100000"/>
              </a:lnSpc>
              <a:spcBef>
                <a:spcPts val="1340"/>
              </a:spcBef>
            </a:pPr>
            <a:r>
              <a:rPr lang="en-IN" sz="2400" dirty="0">
                <a:solidFill>
                  <a:srgbClr val="D2523B"/>
                </a:solidFill>
              </a:rPr>
              <a:t>    </a:t>
            </a:r>
            <a:r>
              <a:rPr sz="2400" dirty="0">
                <a:solidFill>
                  <a:srgbClr val="D2523B"/>
                </a:solidFill>
              </a:rPr>
              <a:t>Libraries</a:t>
            </a:r>
            <a:r>
              <a:rPr sz="2400" spc="-40" dirty="0">
                <a:solidFill>
                  <a:srgbClr val="D2523B"/>
                </a:solidFill>
              </a:rPr>
              <a:t> </a:t>
            </a:r>
            <a:r>
              <a:rPr sz="2400" dirty="0">
                <a:solidFill>
                  <a:srgbClr val="D2523B"/>
                </a:solidFill>
              </a:rPr>
              <a:t>&amp;</a:t>
            </a:r>
            <a:r>
              <a:rPr sz="2400" spc="-20" dirty="0">
                <a:solidFill>
                  <a:srgbClr val="D2523B"/>
                </a:solidFill>
              </a:rPr>
              <a:t> </a:t>
            </a:r>
            <a:r>
              <a:rPr sz="2400" spc="-10" dirty="0">
                <a:solidFill>
                  <a:srgbClr val="D2523B"/>
                </a:solidFill>
              </a:rPr>
              <a:t>Frameworks:</a:t>
            </a:r>
            <a:endParaRPr sz="2400" dirty="0"/>
          </a:p>
          <a:p>
            <a:pPr marL="354965" indent="-342265">
              <a:lnSpc>
                <a:spcPct val="100000"/>
              </a:lnSpc>
              <a:spcBef>
                <a:spcPts val="1300"/>
              </a:spcBef>
              <a:buFont typeface="Arial MT"/>
              <a:buChar char="•"/>
              <a:tabLst>
                <a:tab pos="354965" algn="l"/>
              </a:tabLst>
            </a:pPr>
            <a:r>
              <a:rPr dirty="0"/>
              <a:t>Data</a:t>
            </a:r>
            <a:r>
              <a:rPr spc="-40" dirty="0"/>
              <a:t> </a:t>
            </a:r>
            <a:r>
              <a:rPr dirty="0"/>
              <a:t>Handling</a:t>
            </a:r>
            <a:r>
              <a:rPr spc="-15" dirty="0"/>
              <a:t> </a:t>
            </a:r>
            <a:r>
              <a:rPr dirty="0"/>
              <a:t>&amp;</a:t>
            </a:r>
            <a:r>
              <a:rPr spc="-25" dirty="0"/>
              <a:t> </a:t>
            </a:r>
            <a:r>
              <a:rPr dirty="0"/>
              <a:t>Processing:</a:t>
            </a:r>
            <a:r>
              <a:rPr spc="-60" dirty="0"/>
              <a:t> </a:t>
            </a:r>
            <a:r>
              <a:rPr b="0" dirty="0">
                <a:latin typeface="Arial MT"/>
                <a:cs typeface="Arial MT"/>
              </a:rPr>
              <a:t>Pandas,</a:t>
            </a:r>
            <a:r>
              <a:rPr b="0" spc="-40" dirty="0">
                <a:latin typeface="Arial MT"/>
                <a:cs typeface="Arial MT"/>
              </a:rPr>
              <a:t> </a:t>
            </a:r>
            <a:r>
              <a:rPr b="0" spc="-10" dirty="0">
                <a:latin typeface="Arial MT"/>
                <a:cs typeface="Arial MT"/>
              </a:rPr>
              <a:t>NumPy</a:t>
            </a:r>
          </a:p>
          <a:p>
            <a:pPr marL="354965" indent="-342265">
              <a:lnSpc>
                <a:spcPct val="100000"/>
              </a:lnSpc>
              <a:spcBef>
                <a:spcPts val="1200"/>
              </a:spcBef>
              <a:buFont typeface="Arial MT"/>
              <a:buChar char="•"/>
              <a:tabLst>
                <a:tab pos="354965" algn="l"/>
              </a:tabLst>
            </a:pPr>
            <a:r>
              <a:rPr dirty="0"/>
              <a:t>Data</a:t>
            </a:r>
            <a:r>
              <a:rPr spc="-70" dirty="0"/>
              <a:t> </a:t>
            </a:r>
            <a:r>
              <a:rPr dirty="0"/>
              <a:t>Visualization:</a:t>
            </a:r>
            <a:r>
              <a:rPr spc="-80" dirty="0"/>
              <a:t> </a:t>
            </a:r>
            <a:r>
              <a:rPr b="0" dirty="0">
                <a:latin typeface="Arial MT"/>
                <a:cs typeface="Arial MT"/>
              </a:rPr>
              <a:t>Matplotlib,</a:t>
            </a:r>
            <a:r>
              <a:rPr b="0" spc="-60" dirty="0">
                <a:latin typeface="Arial MT"/>
                <a:cs typeface="Arial MT"/>
              </a:rPr>
              <a:t> </a:t>
            </a:r>
            <a:r>
              <a:rPr b="0" spc="-10" dirty="0">
                <a:latin typeface="Arial MT"/>
                <a:cs typeface="Arial MT"/>
              </a:rPr>
              <a:t>Seaborn</a:t>
            </a:r>
          </a:p>
          <a:p>
            <a:pPr marL="355600" marR="5080" indent="-342900">
              <a:lnSpc>
                <a:spcPct val="150000"/>
              </a:lnSpc>
              <a:spcBef>
                <a:spcPts val="5"/>
              </a:spcBef>
              <a:buFont typeface="Arial MT"/>
              <a:buChar char="•"/>
              <a:tabLst>
                <a:tab pos="355600" algn="l"/>
              </a:tabLst>
            </a:pPr>
            <a:r>
              <a:rPr dirty="0"/>
              <a:t>Machine</a:t>
            </a:r>
            <a:r>
              <a:rPr spc="-55" dirty="0"/>
              <a:t> </a:t>
            </a:r>
            <a:r>
              <a:rPr dirty="0"/>
              <a:t>Learning</a:t>
            </a:r>
            <a:r>
              <a:rPr spc="-25" dirty="0"/>
              <a:t> </a:t>
            </a:r>
            <a:r>
              <a:rPr dirty="0"/>
              <a:t>&amp;</a:t>
            </a:r>
            <a:r>
              <a:rPr spc="-35" dirty="0"/>
              <a:t> </a:t>
            </a:r>
            <a:r>
              <a:rPr dirty="0"/>
              <a:t>Model</a:t>
            </a:r>
            <a:r>
              <a:rPr spc="-40" dirty="0"/>
              <a:t> </a:t>
            </a:r>
            <a:r>
              <a:rPr dirty="0"/>
              <a:t>Building:</a:t>
            </a:r>
            <a:r>
              <a:rPr spc="-30" dirty="0"/>
              <a:t> </a:t>
            </a:r>
            <a:r>
              <a:rPr b="0" spc="-10" dirty="0">
                <a:latin typeface="Arial MT"/>
                <a:cs typeface="Arial MT"/>
              </a:rPr>
              <a:t>Scikit-</a:t>
            </a:r>
            <a:r>
              <a:rPr b="0" dirty="0">
                <a:latin typeface="Arial MT"/>
                <a:cs typeface="Arial MT"/>
              </a:rPr>
              <a:t>learn</a:t>
            </a:r>
            <a:r>
              <a:rPr b="0" spc="-50" dirty="0">
                <a:latin typeface="Arial MT"/>
                <a:cs typeface="Arial MT"/>
              </a:rPr>
              <a:t> </a:t>
            </a:r>
            <a:r>
              <a:rPr b="0" dirty="0">
                <a:latin typeface="Arial MT"/>
                <a:cs typeface="Arial MT"/>
              </a:rPr>
              <a:t>(Logistic</a:t>
            </a:r>
            <a:r>
              <a:rPr b="0" spc="-60" dirty="0">
                <a:latin typeface="Arial MT"/>
                <a:cs typeface="Arial MT"/>
              </a:rPr>
              <a:t> </a:t>
            </a:r>
            <a:r>
              <a:rPr b="0" dirty="0">
                <a:latin typeface="Arial MT"/>
                <a:cs typeface="Arial MT"/>
              </a:rPr>
              <a:t>Regression,</a:t>
            </a:r>
            <a:r>
              <a:rPr b="0" spc="-60" dirty="0">
                <a:latin typeface="Arial MT"/>
                <a:cs typeface="Arial MT"/>
              </a:rPr>
              <a:t> </a:t>
            </a:r>
            <a:r>
              <a:rPr b="0" dirty="0">
                <a:latin typeface="Arial MT"/>
                <a:cs typeface="Arial MT"/>
              </a:rPr>
              <a:t>SVM,</a:t>
            </a:r>
            <a:r>
              <a:rPr b="0" spc="-25" dirty="0">
                <a:latin typeface="Arial MT"/>
                <a:cs typeface="Arial MT"/>
              </a:rPr>
              <a:t> </a:t>
            </a:r>
            <a:r>
              <a:rPr b="0" dirty="0">
                <a:latin typeface="Arial MT"/>
                <a:cs typeface="Arial MT"/>
              </a:rPr>
              <a:t>Decision</a:t>
            </a:r>
            <a:r>
              <a:rPr b="0" spc="-75" dirty="0">
                <a:latin typeface="Arial MT"/>
                <a:cs typeface="Arial MT"/>
              </a:rPr>
              <a:t> </a:t>
            </a:r>
            <a:r>
              <a:rPr b="0" spc="-10" dirty="0">
                <a:latin typeface="Arial MT"/>
                <a:cs typeface="Arial MT"/>
              </a:rPr>
              <a:t>Tree, </a:t>
            </a:r>
            <a:r>
              <a:rPr b="0" dirty="0">
                <a:latin typeface="Arial MT"/>
                <a:cs typeface="Arial MT"/>
              </a:rPr>
              <a:t>Random</a:t>
            </a:r>
            <a:r>
              <a:rPr b="0" spc="-40" dirty="0">
                <a:latin typeface="Arial MT"/>
                <a:cs typeface="Arial MT"/>
              </a:rPr>
              <a:t> </a:t>
            </a:r>
            <a:r>
              <a:rPr b="0" spc="-10" dirty="0">
                <a:latin typeface="Arial MT"/>
                <a:cs typeface="Arial MT"/>
              </a:rPr>
              <a:t>Forest)</a:t>
            </a:r>
          </a:p>
          <a:p>
            <a:pPr marL="354965" indent="-342265">
              <a:lnSpc>
                <a:spcPct val="100000"/>
              </a:lnSpc>
              <a:spcBef>
                <a:spcPts val="1200"/>
              </a:spcBef>
              <a:buFont typeface="Arial MT"/>
              <a:buChar char="•"/>
              <a:tabLst>
                <a:tab pos="354965" algn="l"/>
              </a:tabLst>
            </a:pPr>
            <a:r>
              <a:rPr dirty="0"/>
              <a:t>Data</a:t>
            </a:r>
            <a:r>
              <a:rPr spc="-35" dirty="0"/>
              <a:t> </a:t>
            </a:r>
            <a:r>
              <a:rPr dirty="0"/>
              <a:t>Preprocessing</a:t>
            </a:r>
            <a:r>
              <a:rPr spc="-30" dirty="0"/>
              <a:t> </a:t>
            </a:r>
            <a:r>
              <a:rPr dirty="0"/>
              <a:t>&amp; Feature</a:t>
            </a:r>
            <a:r>
              <a:rPr spc="-30" dirty="0"/>
              <a:t> </a:t>
            </a:r>
            <a:r>
              <a:rPr dirty="0"/>
              <a:t>Selection:</a:t>
            </a:r>
            <a:r>
              <a:rPr spc="-25" dirty="0"/>
              <a:t> </a:t>
            </a:r>
            <a:r>
              <a:rPr b="0" spc="-10" dirty="0">
                <a:latin typeface="Arial MT"/>
                <a:cs typeface="Arial MT"/>
              </a:rPr>
              <a:t>Scikit-learn</a:t>
            </a:r>
          </a:p>
          <a:p>
            <a:pPr marL="354965" indent="-342265">
              <a:lnSpc>
                <a:spcPct val="100000"/>
              </a:lnSpc>
              <a:spcBef>
                <a:spcPts val="1195"/>
              </a:spcBef>
              <a:buFont typeface="Arial MT"/>
              <a:buChar char="•"/>
              <a:tabLst>
                <a:tab pos="354965" algn="l"/>
              </a:tabLst>
            </a:pPr>
            <a:r>
              <a:rPr dirty="0"/>
              <a:t>Deployment</a:t>
            </a:r>
            <a:r>
              <a:rPr b="0" dirty="0">
                <a:latin typeface="Arial MT"/>
                <a:cs typeface="Arial MT"/>
              </a:rPr>
              <a:t>:</a:t>
            </a:r>
            <a:r>
              <a:rPr b="0" spc="-65" dirty="0">
                <a:latin typeface="Arial MT"/>
                <a:cs typeface="Arial MT"/>
              </a:rPr>
              <a:t> </a:t>
            </a:r>
            <a:r>
              <a:rPr b="0" spc="-10" dirty="0">
                <a:latin typeface="Arial MT"/>
                <a:cs typeface="Arial MT"/>
              </a:rPr>
              <a:t>Streamlit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0" dirty="0"/>
              <a:t>CONCLUSION</a:t>
            </a:r>
          </a:p>
        </p:txBody>
      </p:sp>
      <p:sp>
        <p:nvSpPr>
          <p:cNvPr id="3" name="object 3"/>
          <p:cNvSpPr txBox="1"/>
          <p:nvPr/>
        </p:nvSpPr>
        <p:spPr>
          <a:xfrm>
            <a:off x="688340" y="1514322"/>
            <a:ext cx="9639935" cy="3683635"/>
          </a:xfrm>
          <a:prstGeom prst="rect">
            <a:avLst/>
          </a:prstGeom>
        </p:spPr>
        <p:txBody>
          <a:bodyPr vert="horz" wrap="square" lIns="0" tIns="12700" rIns="0" bIns="0" rtlCol="0">
            <a:spAutoFit/>
          </a:bodyPr>
          <a:lstStyle/>
          <a:p>
            <a:pPr marL="12700" marR="5080" algn="just">
              <a:lnSpc>
                <a:spcPct val="150000"/>
              </a:lnSpc>
              <a:spcBef>
                <a:spcPts val="100"/>
              </a:spcBef>
            </a:pPr>
            <a:r>
              <a:rPr sz="2000" dirty="0">
                <a:solidFill>
                  <a:srgbClr val="292934"/>
                </a:solidFill>
                <a:latin typeface="Arial MT"/>
                <a:cs typeface="Arial MT"/>
              </a:rPr>
              <a:t>Breast</a:t>
            </a:r>
            <a:r>
              <a:rPr sz="2000" spc="275" dirty="0">
                <a:solidFill>
                  <a:srgbClr val="292934"/>
                </a:solidFill>
                <a:latin typeface="Arial MT"/>
                <a:cs typeface="Arial MT"/>
              </a:rPr>
              <a:t> </a:t>
            </a:r>
            <a:r>
              <a:rPr sz="2000" dirty="0">
                <a:solidFill>
                  <a:srgbClr val="292934"/>
                </a:solidFill>
                <a:latin typeface="Arial MT"/>
                <a:cs typeface="Arial MT"/>
              </a:rPr>
              <a:t>cancer</a:t>
            </a:r>
            <a:r>
              <a:rPr sz="2000" spc="280" dirty="0">
                <a:solidFill>
                  <a:srgbClr val="292934"/>
                </a:solidFill>
                <a:latin typeface="Arial MT"/>
                <a:cs typeface="Arial MT"/>
              </a:rPr>
              <a:t> </a:t>
            </a:r>
            <a:r>
              <a:rPr sz="2000" dirty="0">
                <a:solidFill>
                  <a:srgbClr val="292934"/>
                </a:solidFill>
                <a:latin typeface="Arial MT"/>
                <a:cs typeface="Arial MT"/>
              </a:rPr>
              <a:t>data</a:t>
            </a:r>
            <a:r>
              <a:rPr sz="2000" spc="275" dirty="0">
                <a:solidFill>
                  <a:srgbClr val="292934"/>
                </a:solidFill>
                <a:latin typeface="Arial MT"/>
                <a:cs typeface="Arial MT"/>
              </a:rPr>
              <a:t> </a:t>
            </a:r>
            <a:r>
              <a:rPr sz="2000" dirty="0">
                <a:solidFill>
                  <a:srgbClr val="292934"/>
                </a:solidFill>
                <a:latin typeface="Arial MT"/>
                <a:cs typeface="Arial MT"/>
              </a:rPr>
              <a:t>analytics</a:t>
            </a:r>
            <a:r>
              <a:rPr sz="2000" spc="280" dirty="0">
                <a:solidFill>
                  <a:srgbClr val="292934"/>
                </a:solidFill>
                <a:latin typeface="Arial MT"/>
                <a:cs typeface="Arial MT"/>
              </a:rPr>
              <a:t> </a:t>
            </a:r>
            <a:r>
              <a:rPr sz="2000" dirty="0">
                <a:solidFill>
                  <a:srgbClr val="292934"/>
                </a:solidFill>
                <a:latin typeface="Arial MT"/>
                <a:cs typeface="Arial MT"/>
              </a:rPr>
              <a:t>plays</a:t>
            </a:r>
            <a:r>
              <a:rPr sz="2000" spc="280" dirty="0">
                <a:solidFill>
                  <a:srgbClr val="292934"/>
                </a:solidFill>
                <a:latin typeface="Arial MT"/>
                <a:cs typeface="Arial MT"/>
              </a:rPr>
              <a:t> </a:t>
            </a:r>
            <a:r>
              <a:rPr sz="2000" dirty="0">
                <a:solidFill>
                  <a:srgbClr val="292934"/>
                </a:solidFill>
                <a:latin typeface="Arial MT"/>
                <a:cs typeface="Arial MT"/>
              </a:rPr>
              <a:t>a</a:t>
            </a:r>
            <a:r>
              <a:rPr sz="2000" spc="270" dirty="0">
                <a:solidFill>
                  <a:srgbClr val="292934"/>
                </a:solidFill>
                <a:latin typeface="Arial MT"/>
                <a:cs typeface="Arial MT"/>
              </a:rPr>
              <a:t> </a:t>
            </a:r>
            <a:r>
              <a:rPr sz="2000" dirty="0">
                <a:solidFill>
                  <a:srgbClr val="292934"/>
                </a:solidFill>
                <a:latin typeface="Arial MT"/>
                <a:cs typeface="Arial MT"/>
              </a:rPr>
              <a:t>crucial</a:t>
            </a:r>
            <a:r>
              <a:rPr sz="2000" spc="280" dirty="0">
                <a:solidFill>
                  <a:srgbClr val="292934"/>
                </a:solidFill>
                <a:latin typeface="Arial MT"/>
                <a:cs typeface="Arial MT"/>
              </a:rPr>
              <a:t> </a:t>
            </a:r>
            <a:r>
              <a:rPr sz="2000" dirty="0">
                <a:solidFill>
                  <a:srgbClr val="292934"/>
                </a:solidFill>
                <a:latin typeface="Arial MT"/>
                <a:cs typeface="Arial MT"/>
              </a:rPr>
              <a:t>role</a:t>
            </a:r>
            <a:r>
              <a:rPr sz="2000" spc="280" dirty="0">
                <a:solidFill>
                  <a:srgbClr val="292934"/>
                </a:solidFill>
                <a:latin typeface="Arial MT"/>
                <a:cs typeface="Arial MT"/>
              </a:rPr>
              <a:t> </a:t>
            </a:r>
            <a:r>
              <a:rPr sz="2000" dirty="0">
                <a:solidFill>
                  <a:srgbClr val="292934"/>
                </a:solidFill>
                <a:latin typeface="Arial MT"/>
                <a:cs typeface="Arial MT"/>
              </a:rPr>
              <a:t>in</a:t>
            </a:r>
            <a:r>
              <a:rPr sz="2000" spc="270" dirty="0">
                <a:solidFill>
                  <a:srgbClr val="292934"/>
                </a:solidFill>
                <a:latin typeface="Arial MT"/>
                <a:cs typeface="Arial MT"/>
              </a:rPr>
              <a:t> </a:t>
            </a:r>
            <a:r>
              <a:rPr sz="2000" dirty="0">
                <a:solidFill>
                  <a:srgbClr val="292934"/>
                </a:solidFill>
                <a:latin typeface="Arial MT"/>
                <a:cs typeface="Arial MT"/>
              </a:rPr>
              <a:t>early</a:t>
            </a:r>
            <a:r>
              <a:rPr sz="2000" spc="270" dirty="0">
                <a:solidFill>
                  <a:srgbClr val="292934"/>
                </a:solidFill>
                <a:latin typeface="Arial MT"/>
                <a:cs typeface="Arial MT"/>
              </a:rPr>
              <a:t> </a:t>
            </a:r>
            <a:r>
              <a:rPr sz="2000" dirty="0">
                <a:solidFill>
                  <a:srgbClr val="292934"/>
                </a:solidFill>
                <a:latin typeface="Arial MT"/>
                <a:cs typeface="Arial MT"/>
              </a:rPr>
              <a:t>detection,</a:t>
            </a:r>
            <a:r>
              <a:rPr sz="2000" spc="275" dirty="0">
                <a:solidFill>
                  <a:srgbClr val="292934"/>
                </a:solidFill>
                <a:latin typeface="Arial MT"/>
                <a:cs typeface="Arial MT"/>
              </a:rPr>
              <a:t> </a:t>
            </a:r>
            <a:r>
              <a:rPr sz="2000" dirty="0">
                <a:solidFill>
                  <a:srgbClr val="292934"/>
                </a:solidFill>
                <a:latin typeface="Arial MT"/>
                <a:cs typeface="Arial MT"/>
              </a:rPr>
              <a:t>diagnosis,</a:t>
            </a:r>
            <a:r>
              <a:rPr sz="2000" spc="260" dirty="0">
                <a:solidFill>
                  <a:srgbClr val="292934"/>
                </a:solidFill>
                <a:latin typeface="Arial MT"/>
                <a:cs typeface="Arial MT"/>
              </a:rPr>
              <a:t> </a:t>
            </a:r>
            <a:r>
              <a:rPr sz="2000" spc="-25" dirty="0">
                <a:solidFill>
                  <a:srgbClr val="292934"/>
                </a:solidFill>
                <a:latin typeface="Arial MT"/>
                <a:cs typeface="Arial MT"/>
              </a:rPr>
              <a:t>and </a:t>
            </a:r>
            <a:r>
              <a:rPr sz="2000" dirty="0">
                <a:solidFill>
                  <a:srgbClr val="292934"/>
                </a:solidFill>
                <a:latin typeface="Arial MT"/>
                <a:cs typeface="Arial MT"/>
              </a:rPr>
              <a:t>treatment</a:t>
            </a:r>
            <a:r>
              <a:rPr sz="2000" spc="130" dirty="0">
                <a:solidFill>
                  <a:srgbClr val="292934"/>
                </a:solidFill>
                <a:latin typeface="Arial MT"/>
                <a:cs typeface="Arial MT"/>
              </a:rPr>
              <a:t> </a:t>
            </a:r>
            <a:r>
              <a:rPr sz="2000" dirty="0">
                <a:solidFill>
                  <a:srgbClr val="292934"/>
                </a:solidFill>
                <a:latin typeface="Arial MT"/>
                <a:cs typeface="Arial MT"/>
              </a:rPr>
              <a:t>planning.</a:t>
            </a:r>
            <a:r>
              <a:rPr sz="2000" spc="130" dirty="0">
                <a:solidFill>
                  <a:srgbClr val="292934"/>
                </a:solidFill>
                <a:latin typeface="Arial MT"/>
                <a:cs typeface="Arial MT"/>
              </a:rPr>
              <a:t> </a:t>
            </a:r>
            <a:r>
              <a:rPr sz="2000" dirty="0">
                <a:solidFill>
                  <a:srgbClr val="292934"/>
                </a:solidFill>
                <a:latin typeface="Arial MT"/>
                <a:cs typeface="Arial MT"/>
              </a:rPr>
              <a:t>By</a:t>
            </a:r>
            <a:r>
              <a:rPr sz="2000" spc="125" dirty="0">
                <a:solidFill>
                  <a:srgbClr val="292934"/>
                </a:solidFill>
                <a:latin typeface="Arial MT"/>
                <a:cs typeface="Arial MT"/>
              </a:rPr>
              <a:t> </a:t>
            </a:r>
            <a:r>
              <a:rPr sz="2000" dirty="0">
                <a:solidFill>
                  <a:srgbClr val="292934"/>
                </a:solidFill>
                <a:latin typeface="Arial MT"/>
                <a:cs typeface="Arial MT"/>
              </a:rPr>
              <a:t>leveraging</a:t>
            </a:r>
            <a:r>
              <a:rPr sz="2000" spc="125" dirty="0">
                <a:solidFill>
                  <a:srgbClr val="292934"/>
                </a:solidFill>
                <a:latin typeface="Arial MT"/>
                <a:cs typeface="Arial MT"/>
              </a:rPr>
              <a:t> </a:t>
            </a:r>
            <a:r>
              <a:rPr sz="2000" spc="-10" dirty="0">
                <a:solidFill>
                  <a:srgbClr val="292934"/>
                </a:solidFill>
                <a:latin typeface="Arial MT"/>
                <a:cs typeface="Arial MT"/>
              </a:rPr>
              <a:t>data-</a:t>
            </a:r>
            <a:r>
              <a:rPr sz="2000" dirty="0">
                <a:solidFill>
                  <a:srgbClr val="292934"/>
                </a:solidFill>
                <a:latin typeface="Arial MT"/>
                <a:cs typeface="Arial MT"/>
              </a:rPr>
              <a:t>driven</a:t>
            </a:r>
            <a:r>
              <a:rPr sz="2000" spc="135" dirty="0">
                <a:solidFill>
                  <a:srgbClr val="292934"/>
                </a:solidFill>
                <a:latin typeface="Arial MT"/>
                <a:cs typeface="Arial MT"/>
              </a:rPr>
              <a:t> </a:t>
            </a:r>
            <a:r>
              <a:rPr sz="2000" dirty="0">
                <a:solidFill>
                  <a:srgbClr val="292934"/>
                </a:solidFill>
                <a:latin typeface="Arial MT"/>
                <a:cs typeface="Arial MT"/>
              </a:rPr>
              <a:t>insights,</a:t>
            </a:r>
            <a:r>
              <a:rPr sz="2000" spc="135" dirty="0">
                <a:solidFill>
                  <a:srgbClr val="292934"/>
                </a:solidFill>
                <a:latin typeface="Arial MT"/>
                <a:cs typeface="Arial MT"/>
              </a:rPr>
              <a:t> </a:t>
            </a:r>
            <a:r>
              <a:rPr sz="2000" dirty="0">
                <a:solidFill>
                  <a:srgbClr val="292934"/>
                </a:solidFill>
                <a:latin typeface="Arial MT"/>
                <a:cs typeface="Arial MT"/>
              </a:rPr>
              <a:t>healthcare</a:t>
            </a:r>
            <a:r>
              <a:rPr sz="2000" spc="120" dirty="0">
                <a:solidFill>
                  <a:srgbClr val="292934"/>
                </a:solidFill>
                <a:latin typeface="Arial MT"/>
                <a:cs typeface="Arial MT"/>
              </a:rPr>
              <a:t> </a:t>
            </a:r>
            <a:r>
              <a:rPr sz="2000" dirty="0">
                <a:solidFill>
                  <a:srgbClr val="292934"/>
                </a:solidFill>
                <a:latin typeface="Arial MT"/>
                <a:cs typeface="Arial MT"/>
              </a:rPr>
              <a:t>professionals</a:t>
            </a:r>
            <a:r>
              <a:rPr sz="2000" spc="140" dirty="0">
                <a:solidFill>
                  <a:srgbClr val="292934"/>
                </a:solidFill>
                <a:latin typeface="Arial MT"/>
                <a:cs typeface="Arial MT"/>
              </a:rPr>
              <a:t> </a:t>
            </a:r>
            <a:r>
              <a:rPr sz="2000" spc="-25" dirty="0">
                <a:solidFill>
                  <a:srgbClr val="292934"/>
                </a:solidFill>
                <a:latin typeface="Arial MT"/>
                <a:cs typeface="Arial MT"/>
              </a:rPr>
              <a:t>can </a:t>
            </a:r>
            <a:r>
              <a:rPr sz="2000" dirty="0">
                <a:solidFill>
                  <a:srgbClr val="292934"/>
                </a:solidFill>
                <a:latin typeface="Arial MT"/>
                <a:cs typeface="Arial MT"/>
              </a:rPr>
              <a:t>improve</a:t>
            </a:r>
            <a:r>
              <a:rPr sz="2000" spc="375" dirty="0">
                <a:solidFill>
                  <a:srgbClr val="292934"/>
                </a:solidFill>
                <a:latin typeface="Arial MT"/>
                <a:cs typeface="Arial MT"/>
              </a:rPr>
              <a:t> </a:t>
            </a:r>
            <a:r>
              <a:rPr sz="2000" dirty="0">
                <a:solidFill>
                  <a:srgbClr val="292934"/>
                </a:solidFill>
                <a:latin typeface="Arial MT"/>
                <a:cs typeface="Arial MT"/>
              </a:rPr>
              <a:t>patient</a:t>
            </a:r>
            <a:r>
              <a:rPr sz="2000" spc="380" dirty="0">
                <a:solidFill>
                  <a:srgbClr val="292934"/>
                </a:solidFill>
                <a:latin typeface="Arial MT"/>
                <a:cs typeface="Arial MT"/>
              </a:rPr>
              <a:t> </a:t>
            </a:r>
            <a:r>
              <a:rPr sz="2000" dirty="0">
                <a:solidFill>
                  <a:srgbClr val="292934"/>
                </a:solidFill>
                <a:latin typeface="Arial MT"/>
                <a:cs typeface="Arial MT"/>
              </a:rPr>
              <a:t>outcomes</a:t>
            </a:r>
            <a:r>
              <a:rPr sz="2000" spc="390" dirty="0">
                <a:solidFill>
                  <a:srgbClr val="292934"/>
                </a:solidFill>
                <a:latin typeface="Arial MT"/>
                <a:cs typeface="Arial MT"/>
              </a:rPr>
              <a:t> </a:t>
            </a:r>
            <a:r>
              <a:rPr sz="2000" dirty="0">
                <a:solidFill>
                  <a:srgbClr val="292934"/>
                </a:solidFill>
                <a:latin typeface="Arial MT"/>
                <a:cs typeface="Arial MT"/>
              </a:rPr>
              <a:t>through</a:t>
            </a:r>
            <a:r>
              <a:rPr sz="2000" spc="390" dirty="0">
                <a:solidFill>
                  <a:srgbClr val="292934"/>
                </a:solidFill>
                <a:latin typeface="Arial MT"/>
                <a:cs typeface="Arial MT"/>
              </a:rPr>
              <a:t> </a:t>
            </a:r>
            <a:r>
              <a:rPr sz="2000" dirty="0">
                <a:solidFill>
                  <a:srgbClr val="292934"/>
                </a:solidFill>
                <a:latin typeface="Arial MT"/>
                <a:cs typeface="Arial MT"/>
              </a:rPr>
              <a:t>accurate</a:t>
            </a:r>
            <a:r>
              <a:rPr sz="2000" spc="385" dirty="0">
                <a:solidFill>
                  <a:srgbClr val="292934"/>
                </a:solidFill>
                <a:latin typeface="Arial MT"/>
                <a:cs typeface="Arial MT"/>
              </a:rPr>
              <a:t> </a:t>
            </a:r>
            <a:r>
              <a:rPr sz="2000" dirty="0">
                <a:solidFill>
                  <a:srgbClr val="292934"/>
                </a:solidFill>
                <a:latin typeface="Arial MT"/>
                <a:cs typeface="Arial MT"/>
              </a:rPr>
              <a:t>risk</a:t>
            </a:r>
            <a:r>
              <a:rPr sz="2000" spc="385" dirty="0">
                <a:solidFill>
                  <a:srgbClr val="292934"/>
                </a:solidFill>
                <a:latin typeface="Arial MT"/>
                <a:cs typeface="Arial MT"/>
              </a:rPr>
              <a:t> </a:t>
            </a:r>
            <a:r>
              <a:rPr sz="2000" dirty="0">
                <a:solidFill>
                  <a:srgbClr val="292934"/>
                </a:solidFill>
                <a:latin typeface="Arial MT"/>
                <a:cs typeface="Arial MT"/>
              </a:rPr>
              <a:t>assessment,</a:t>
            </a:r>
            <a:r>
              <a:rPr sz="2000" spc="375" dirty="0">
                <a:solidFill>
                  <a:srgbClr val="292934"/>
                </a:solidFill>
                <a:latin typeface="Arial MT"/>
                <a:cs typeface="Arial MT"/>
              </a:rPr>
              <a:t> </a:t>
            </a:r>
            <a:r>
              <a:rPr sz="2000" dirty="0">
                <a:solidFill>
                  <a:srgbClr val="292934"/>
                </a:solidFill>
                <a:latin typeface="Arial MT"/>
                <a:cs typeface="Arial MT"/>
              </a:rPr>
              <a:t>predictive</a:t>
            </a:r>
            <a:r>
              <a:rPr sz="2000" spc="395" dirty="0">
                <a:solidFill>
                  <a:srgbClr val="292934"/>
                </a:solidFill>
                <a:latin typeface="Arial MT"/>
                <a:cs typeface="Arial MT"/>
              </a:rPr>
              <a:t> </a:t>
            </a:r>
            <a:r>
              <a:rPr sz="2000" spc="-10" dirty="0">
                <a:solidFill>
                  <a:srgbClr val="292934"/>
                </a:solidFill>
                <a:latin typeface="Arial MT"/>
                <a:cs typeface="Arial MT"/>
              </a:rPr>
              <a:t>modeling, </a:t>
            </a:r>
            <a:r>
              <a:rPr sz="2000" dirty="0">
                <a:solidFill>
                  <a:srgbClr val="292934"/>
                </a:solidFill>
                <a:latin typeface="Arial MT"/>
                <a:cs typeface="Arial MT"/>
              </a:rPr>
              <a:t>and</a:t>
            </a:r>
            <a:r>
              <a:rPr sz="2000" spc="-30" dirty="0">
                <a:solidFill>
                  <a:srgbClr val="292934"/>
                </a:solidFill>
                <a:latin typeface="Arial MT"/>
                <a:cs typeface="Arial MT"/>
              </a:rPr>
              <a:t> </a:t>
            </a:r>
            <a:r>
              <a:rPr sz="2000" dirty="0">
                <a:solidFill>
                  <a:srgbClr val="292934"/>
                </a:solidFill>
                <a:latin typeface="Arial MT"/>
                <a:cs typeface="Arial MT"/>
              </a:rPr>
              <a:t>personalized</a:t>
            </a:r>
            <a:r>
              <a:rPr sz="2000" spc="-45" dirty="0">
                <a:solidFill>
                  <a:srgbClr val="292934"/>
                </a:solidFill>
                <a:latin typeface="Arial MT"/>
                <a:cs typeface="Arial MT"/>
              </a:rPr>
              <a:t> </a:t>
            </a:r>
            <a:r>
              <a:rPr sz="2000" dirty="0">
                <a:solidFill>
                  <a:srgbClr val="292934"/>
                </a:solidFill>
                <a:latin typeface="Arial MT"/>
                <a:cs typeface="Arial MT"/>
              </a:rPr>
              <a:t>treatment</a:t>
            </a:r>
            <a:r>
              <a:rPr sz="2000" spc="-60" dirty="0">
                <a:solidFill>
                  <a:srgbClr val="292934"/>
                </a:solidFill>
                <a:latin typeface="Arial MT"/>
                <a:cs typeface="Arial MT"/>
              </a:rPr>
              <a:t> </a:t>
            </a:r>
            <a:r>
              <a:rPr sz="2000" spc="-10" dirty="0">
                <a:solidFill>
                  <a:srgbClr val="292934"/>
                </a:solidFill>
                <a:latin typeface="Arial MT"/>
                <a:cs typeface="Arial MT"/>
              </a:rPr>
              <a:t>strategies.</a:t>
            </a:r>
            <a:endParaRPr sz="2000">
              <a:latin typeface="Arial MT"/>
              <a:cs typeface="Arial MT"/>
            </a:endParaRPr>
          </a:p>
          <a:p>
            <a:pPr marL="12700" marR="6350" algn="just">
              <a:lnSpc>
                <a:spcPct val="150000"/>
              </a:lnSpc>
            </a:pPr>
            <a:r>
              <a:rPr sz="2000" dirty="0">
                <a:solidFill>
                  <a:srgbClr val="292934"/>
                </a:solidFill>
                <a:latin typeface="Arial MT"/>
                <a:cs typeface="Arial MT"/>
              </a:rPr>
              <a:t>This</a:t>
            </a:r>
            <a:r>
              <a:rPr sz="2000" spc="65" dirty="0">
                <a:solidFill>
                  <a:srgbClr val="292934"/>
                </a:solidFill>
                <a:latin typeface="Arial MT"/>
                <a:cs typeface="Arial MT"/>
              </a:rPr>
              <a:t> </a:t>
            </a:r>
            <a:r>
              <a:rPr sz="2000" dirty="0">
                <a:solidFill>
                  <a:srgbClr val="292934"/>
                </a:solidFill>
                <a:latin typeface="Arial MT"/>
                <a:cs typeface="Arial MT"/>
              </a:rPr>
              <a:t>project</a:t>
            </a:r>
            <a:r>
              <a:rPr sz="2000" spc="50" dirty="0">
                <a:solidFill>
                  <a:srgbClr val="292934"/>
                </a:solidFill>
                <a:latin typeface="Arial MT"/>
                <a:cs typeface="Arial MT"/>
              </a:rPr>
              <a:t> </a:t>
            </a:r>
            <a:r>
              <a:rPr sz="2000" dirty="0">
                <a:solidFill>
                  <a:srgbClr val="292934"/>
                </a:solidFill>
                <a:latin typeface="Arial MT"/>
                <a:cs typeface="Arial MT"/>
              </a:rPr>
              <a:t>has</a:t>
            </a:r>
            <a:r>
              <a:rPr sz="2000" spc="50" dirty="0">
                <a:solidFill>
                  <a:srgbClr val="292934"/>
                </a:solidFill>
                <a:latin typeface="Arial MT"/>
                <a:cs typeface="Arial MT"/>
              </a:rPr>
              <a:t> </a:t>
            </a:r>
            <a:r>
              <a:rPr sz="2000" dirty="0">
                <a:solidFill>
                  <a:srgbClr val="292934"/>
                </a:solidFill>
                <a:latin typeface="Arial MT"/>
                <a:cs typeface="Arial MT"/>
              </a:rPr>
              <a:t>demonstrated</a:t>
            </a:r>
            <a:r>
              <a:rPr sz="2000" spc="65" dirty="0">
                <a:solidFill>
                  <a:srgbClr val="292934"/>
                </a:solidFill>
                <a:latin typeface="Arial MT"/>
                <a:cs typeface="Arial MT"/>
              </a:rPr>
              <a:t> </a:t>
            </a:r>
            <a:r>
              <a:rPr sz="2000" dirty="0">
                <a:solidFill>
                  <a:srgbClr val="292934"/>
                </a:solidFill>
                <a:latin typeface="Arial MT"/>
                <a:cs typeface="Arial MT"/>
              </a:rPr>
              <a:t>the</a:t>
            </a:r>
            <a:r>
              <a:rPr sz="2000" spc="50" dirty="0">
                <a:solidFill>
                  <a:srgbClr val="292934"/>
                </a:solidFill>
                <a:latin typeface="Arial MT"/>
                <a:cs typeface="Arial MT"/>
              </a:rPr>
              <a:t> </a:t>
            </a:r>
            <a:r>
              <a:rPr sz="2000" dirty="0">
                <a:solidFill>
                  <a:srgbClr val="292934"/>
                </a:solidFill>
                <a:latin typeface="Arial MT"/>
                <a:cs typeface="Arial MT"/>
              </a:rPr>
              <a:t>power</a:t>
            </a:r>
            <a:r>
              <a:rPr sz="2000" spc="50" dirty="0">
                <a:solidFill>
                  <a:srgbClr val="292934"/>
                </a:solidFill>
                <a:latin typeface="Arial MT"/>
                <a:cs typeface="Arial MT"/>
              </a:rPr>
              <a:t> </a:t>
            </a:r>
            <a:r>
              <a:rPr sz="2000" dirty="0">
                <a:solidFill>
                  <a:srgbClr val="292934"/>
                </a:solidFill>
                <a:latin typeface="Arial MT"/>
                <a:cs typeface="Arial MT"/>
              </a:rPr>
              <a:t>of</a:t>
            </a:r>
            <a:r>
              <a:rPr sz="2000" spc="40" dirty="0">
                <a:solidFill>
                  <a:srgbClr val="292934"/>
                </a:solidFill>
                <a:latin typeface="Arial MT"/>
                <a:cs typeface="Arial MT"/>
              </a:rPr>
              <a:t> </a:t>
            </a:r>
            <a:r>
              <a:rPr sz="2000" dirty="0">
                <a:solidFill>
                  <a:srgbClr val="292934"/>
                </a:solidFill>
                <a:latin typeface="Arial MT"/>
                <a:cs typeface="Arial MT"/>
              </a:rPr>
              <a:t>machine</a:t>
            </a:r>
            <a:r>
              <a:rPr sz="2000" spc="55" dirty="0">
                <a:solidFill>
                  <a:srgbClr val="292934"/>
                </a:solidFill>
                <a:latin typeface="Arial MT"/>
                <a:cs typeface="Arial MT"/>
              </a:rPr>
              <a:t> </a:t>
            </a:r>
            <a:r>
              <a:rPr sz="2000" dirty="0">
                <a:solidFill>
                  <a:srgbClr val="292934"/>
                </a:solidFill>
                <a:latin typeface="Arial MT"/>
                <a:cs typeface="Arial MT"/>
              </a:rPr>
              <a:t>learning</a:t>
            </a:r>
            <a:r>
              <a:rPr sz="2000" spc="55" dirty="0">
                <a:solidFill>
                  <a:srgbClr val="292934"/>
                </a:solidFill>
                <a:latin typeface="Arial MT"/>
                <a:cs typeface="Arial MT"/>
              </a:rPr>
              <a:t> </a:t>
            </a:r>
            <a:r>
              <a:rPr sz="2000" dirty="0">
                <a:solidFill>
                  <a:srgbClr val="292934"/>
                </a:solidFill>
                <a:latin typeface="Arial MT"/>
                <a:cs typeface="Arial MT"/>
              </a:rPr>
              <a:t>and</a:t>
            </a:r>
            <a:r>
              <a:rPr sz="2000" spc="55" dirty="0">
                <a:solidFill>
                  <a:srgbClr val="292934"/>
                </a:solidFill>
                <a:latin typeface="Arial MT"/>
                <a:cs typeface="Arial MT"/>
              </a:rPr>
              <a:t> </a:t>
            </a:r>
            <a:r>
              <a:rPr sz="2000" dirty="0">
                <a:solidFill>
                  <a:srgbClr val="292934"/>
                </a:solidFill>
                <a:latin typeface="Arial MT"/>
                <a:cs typeface="Arial MT"/>
              </a:rPr>
              <a:t>statistical</a:t>
            </a:r>
            <a:r>
              <a:rPr sz="2000" spc="60" dirty="0">
                <a:solidFill>
                  <a:srgbClr val="292934"/>
                </a:solidFill>
                <a:latin typeface="Arial MT"/>
                <a:cs typeface="Arial MT"/>
              </a:rPr>
              <a:t> </a:t>
            </a:r>
            <a:r>
              <a:rPr sz="2000" spc="-10" dirty="0">
                <a:solidFill>
                  <a:srgbClr val="292934"/>
                </a:solidFill>
                <a:latin typeface="Arial MT"/>
                <a:cs typeface="Arial MT"/>
              </a:rPr>
              <a:t>analysis </a:t>
            </a:r>
            <a:r>
              <a:rPr sz="2000" dirty="0">
                <a:solidFill>
                  <a:srgbClr val="292934"/>
                </a:solidFill>
                <a:latin typeface="Arial MT"/>
                <a:cs typeface="Arial MT"/>
              </a:rPr>
              <a:t>in</a:t>
            </a:r>
            <a:r>
              <a:rPr sz="2000" spc="-15" dirty="0">
                <a:solidFill>
                  <a:srgbClr val="292934"/>
                </a:solidFill>
                <a:latin typeface="Arial MT"/>
                <a:cs typeface="Arial MT"/>
              </a:rPr>
              <a:t> </a:t>
            </a:r>
            <a:r>
              <a:rPr sz="2000" dirty="0">
                <a:solidFill>
                  <a:srgbClr val="292934"/>
                </a:solidFill>
                <a:latin typeface="Arial MT"/>
                <a:cs typeface="Arial MT"/>
              </a:rPr>
              <a:t>identifying</a:t>
            </a:r>
            <a:r>
              <a:rPr sz="2000" spc="-20" dirty="0">
                <a:solidFill>
                  <a:srgbClr val="292934"/>
                </a:solidFill>
                <a:latin typeface="Arial MT"/>
                <a:cs typeface="Arial MT"/>
              </a:rPr>
              <a:t> </a:t>
            </a:r>
            <a:r>
              <a:rPr sz="2000" dirty="0">
                <a:solidFill>
                  <a:srgbClr val="292934"/>
                </a:solidFill>
                <a:latin typeface="Arial MT"/>
                <a:cs typeface="Arial MT"/>
              </a:rPr>
              <a:t>key</a:t>
            </a:r>
            <a:r>
              <a:rPr sz="2000" spc="-15" dirty="0">
                <a:solidFill>
                  <a:srgbClr val="292934"/>
                </a:solidFill>
                <a:latin typeface="Arial MT"/>
                <a:cs typeface="Arial MT"/>
              </a:rPr>
              <a:t> </a:t>
            </a:r>
            <a:r>
              <a:rPr sz="2000" dirty="0">
                <a:solidFill>
                  <a:srgbClr val="292934"/>
                </a:solidFill>
                <a:latin typeface="Arial MT"/>
                <a:cs typeface="Arial MT"/>
              </a:rPr>
              <a:t>patterns</a:t>
            </a:r>
            <a:r>
              <a:rPr sz="2000" spc="-25" dirty="0">
                <a:solidFill>
                  <a:srgbClr val="292934"/>
                </a:solidFill>
                <a:latin typeface="Arial MT"/>
                <a:cs typeface="Arial MT"/>
              </a:rPr>
              <a:t> </a:t>
            </a:r>
            <a:r>
              <a:rPr sz="2000" dirty="0">
                <a:solidFill>
                  <a:srgbClr val="292934"/>
                </a:solidFill>
                <a:latin typeface="Arial MT"/>
                <a:cs typeface="Arial MT"/>
              </a:rPr>
              <a:t>and</a:t>
            </a:r>
            <a:r>
              <a:rPr sz="2000" spc="-25" dirty="0">
                <a:solidFill>
                  <a:srgbClr val="292934"/>
                </a:solidFill>
                <a:latin typeface="Arial MT"/>
                <a:cs typeface="Arial MT"/>
              </a:rPr>
              <a:t> </a:t>
            </a:r>
            <a:r>
              <a:rPr sz="2000" dirty="0">
                <a:solidFill>
                  <a:srgbClr val="292934"/>
                </a:solidFill>
                <a:latin typeface="Arial MT"/>
                <a:cs typeface="Arial MT"/>
              </a:rPr>
              <a:t>risk</a:t>
            </a:r>
            <a:r>
              <a:rPr sz="2000" spc="-10" dirty="0">
                <a:solidFill>
                  <a:srgbClr val="292934"/>
                </a:solidFill>
                <a:latin typeface="Arial MT"/>
                <a:cs typeface="Arial MT"/>
              </a:rPr>
              <a:t> </a:t>
            </a:r>
            <a:r>
              <a:rPr sz="2000" dirty="0">
                <a:solidFill>
                  <a:srgbClr val="292934"/>
                </a:solidFill>
                <a:latin typeface="Arial MT"/>
                <a:cs typeface="Arial MT"/>
              </a:rPr>
              <a:t>factors</a:t>
            </a:r>
            <a:r>
              <a:rPr sz="2000" spc="-10" dirty="0">
                <a:solidFill>
                  <a:srgbClr val="292934"/>
                </a:solidFill>
                <a:latin typeface="Arial MT"/>
                <a:cs typeface="Arial MT"/>
              </a:rPr>
              <a:t> </a:t>
            </a:r>
            <a:r>
              <a:rPr sz="2000" dirty="0">
                <a:solidFill>
                  <a:srgbClr val="292934"/>
                </a:solidFill>
                <a:latin typeface="Arial MT"/>
                <a:cs typeface="Arial MT"/>
              </a:rPr>
              <a:t>associated</a:t>
            </a:r>
            <a:r>
              <a:rPr sz="2000" spc="-25" dirty="0">
                <a:solidFill>
                  <a:srgbClr val="292934"/>
                </a:solidFill>
                <a:latin typeface="Arial MT"/>
                <a:cs typeface="Arial MT"/>
              </a:rPr>
              <a:t> </a:t>
            </a:r>
            <a:r>
              <a:rPr sz="2000" dirty="0">
                <a:solidFill>
                  <a:srgbClr val="292934"/>
                </a:solidFill>
                <a:latin typeface="Arial MT"/>
                <a:cs typeface="Arial MT"/>
              </a:rPr>
              <a:t>with</a:t>
            </a:r>
            <a:r>
              <a:rPr sz="2000" spc="-10" dirty="0">
                <a:solidFill>
                  <a:srgbClr val="292934"/>
                </a:solidFill>
                <a:latin typeface="Arial MT"/>
                <a:cs typeface="Arial MT"/>
              </a:rPr>
              <a:t> </a:t>
            </a:r>
            <a:r>
              <a:rPr sz="2000" dirty="0">
                <a:solidFill>
                  <a:srgbClr val="292934"/>
                </a:solidFill>
                <a:latin typeface="Arial MT"/>
                <a:cs typeface="Arial MT"/>
              </a:rPr>
              <a:t>breast</a:t>
            </a:r>
            <a:r>
              <a:rPr sz="2000" spc="-20" dirty="0">
                <a:solidFill>
                  <a:srgbClr val="292934"/>
                </a:solidFill>
                <a:latin typeface="Arial MT"/>
                <a:cs typeface="Arial MT"/>
              </a:rPr>
              <a:t> </a:t>
            </a:r>
            <a:r>
              <a:rPr sz="2000" dirty="0">
                <a:solidFill>
                  <a:srgbClr val="292934"/>
                </a:solidFill>
                <a:latin typeface="Arial MT"/>
                <a:cs typeface="Arial MT"/>
              </a:rPr>
              <a:t>cancer.</a:t>
            </a:r>
            <a:r>
              <a:rPr sz="2000" spc="-15" dirty="0">
                <a:solidFill>
                  <a:srgbClr val="292934"/>
                </a:solidFill>
                <a:latin typeface="Arial MT"/>
                <a:cs typeface="Arial MT"/>
              </a:rPr>
              <a:t> </a:t>
            </a:r>
            <a:r>
              <a:rPr sz="2000" dirty="0">
                <a:solidFill>
                  <a:srgbClr val="292934"/>
                </a:solidFill>
                <a:latin typeface="Arial MT"/>
                <a:cs typeface="Arial MT"/>
              </a:rPr>
              <a:t>The</a:t>
            </a:r>
            <a:r>
              <a:rPr sz="2000" spc="-25" dirty="0">
                <a:solidFill>
                  <a:srgbClr val="292934"/>
                </a:solidFill>
                <a:latin typeface="Arial MT"/>
                <a:cs typeface="Arial MT"/>
              </a:rPr>
              <a:t> </a:t>
            </a:r>
            <a:r>
              <a:rPr sz="2000" spc="-10" dirty="0">
                <a:solidFill>
                  <a:srgbClr val="292934"/>
                </a:solidFill>
                <a:latin typeface="Arial MT"/>
                <a:cs typeface="Arial MT"/>
              </a:rPr>
              <a:t>findings </a:t>
            </a:r>
            <a:r>
              <a:rPr sz="2000" dirty="0">
                <a:solidFill>
                  <a:srgbClr val="292934"/>
                </a:solidFill>
                <a:latin typeface="Arial MT"/>
                <a:cs typeface="Arial MT"/>
              </a:rPr>
              <a:t>highlight</a:t>
            </a:r>
            <a:r>
              <a:rPr sz="2000" spc="30" dirty="0">
                <a:solidFill>
                  <a:srgbClr val="292934"/>
                </a:solidFill>
                <a:latin typeface="Arial MT"/>
                <a:cs typeface="Arial MT"/>
              </a:rPr>
              <a:t> </a:t>
            </a:r>
            <a:r>
              <a:rPr sz="2000" dirty="0">
                <a:solidFill>
                  <a:srgbClr val="292934"/>
                </a:solidFill>
                <a:latin typeface="Arial MT"/>
                <a:cs typeface="Arial MT"/>
              </a:rPr>
              <a:t>the</a:t>
            </a:r>
            <a:r>
              <a:rPr sz="2000" spc="30" dirty="0">
                <a:solidFill>
                  <a:srgbClr val="292934"/>
                </a:solidFill>
                <a:latin typeface="Arial MT"/>
                <a:cs typeface="Arial MT"/>
              </a:rPr>
              <a:t> </a:t>
            </a:r>
            <a:r>
              <a:rPr sz="2000" dirty="0">
                <a:solidFill>
                  <a:srgbClr val="292934"/>
                </a:solidFill>
                <a:latin typeface="Arial MT"/>
                <a:cs typeface="Arial MT"/>
              </a:rPr>
              <a:t>importance</a:t>
            </a:r>
            <a:r>
              <a:rPr sz="2000" spc="30" dirty="0">
                <a:solidFill>
                  <a:srgbClr val="292934"/>
                </a:solidFill>
                <a:latin typeface="Arial MT"/>
                <a:cs typeface="Arial MT"/>
              </a:rPr>
              <a:t> </a:t>
            </a:r>
            <a:r>
              <a:rPr sz="2000" dirty="0">
                <a:solidFill>
                  <a:srgbClr val="292934"/>
                </a:solidFill>
                <a:latin typeface="Arial MT"/>
                <a:cs typeface="Arial MT"/>
              </a:rPr>
              <a:t>of</a:t>
            </a:r>
            <a:r>
              <a:rPr sz="2000" spc="25" dirty="0">
                <a:solidFill>
                  <a:srgbClr val="292934"/>
                </a:solidFill>
                <a:latin typeface="Arial MT"/>
                <a:cs typeface="Arial MT"/>
              </a:rPr>
              <a:t> </a:t>
            </a:r>
            <a:r>
              <a:rPr sz="2000" dirty="0">
                <a:solidFill>
                  <a:srgbClr val="292934"/>
                </a:solidFill>
                <a:latin typeface="Arial MT"/>
                <a:cs typeface="Arial MT"/>
              </a:rPr>
              <a:t>early</a:t>
            </a:r>
            <a:r>
              <a:rPr sz="2000" spc="35" dirty="0">
                <a:solidFill>
                  <a:srgbClr val="292934"/>
                </a:solidFill>
                <a:latin typeface="Arial MT"/>
                <a:cs typeface="Arial MT"/>
              </a:rPr>
              <a:t> </a:t>
            </a:r>
            <a:r>
              <a:rPr sz="2000" dirty="0">
                <a:solidFill>
                  <a:srgbClr val="292934"/>
                </a:solidFill>
                <a:latin typeface="Arial MT"/>
                <a:cs typeface="Arial MT"/>
              </a:rPr>
              <a:t>screening,</a:t>
            </a:r>
            <a:r>
              <a:rPr sz="2000" spc="35" dirty="0">
                <a:solidFill>
                  <a:srgbClr val="292934"/>
                </a:solidFill>
                <a:latin typeface="Arial MT"/>
                <a:cs typeface="Arial MT"/>
              </a:rPr>
              <a:t> </a:t>
            </a:r>
            <a:r>
              <a:rPr sz="2000" dirty="0">
                <a:solidFill>
                  <a:srgbClr val="292934"/>
                </a:solidFill>
                <a:latin typeface="Arial MT"/>
                <a:cs typeface="Arial MT"/>
              </a:rPr>
              <a:t>feature</a:t>
            </a:r>
            <a:r>
              <a:rPr sz="2000" spc="30" dirty="0">
                <a:solidFill>
                  <a:srgbClr val="292934"/>
                </a:solidFill>
                <a:latin typeface="Arial MT"/>
                <a:cs typeface="Arial MT"/>
              </a:rPr>
              <a:t> </a:t>
            </a:r>
            <a:r>
              <a:rPr sz="2000" dirty="0">
                <a:solidFill>
                  <a:srgbClr val="292934"/>
                </a:solidFill>
                <a:latin typeface="Arial MT"/>
                <a:cs typeface="Arial MT"/>
              </a:rPr>
              <a:t>selection,</a:t>
            </a:r>
            <a:r>
              <a:rPr sz="2000" spc="20" dirty="0">
                <a:solidFill>
                  <a:srgbClr val="292934"/>
                </a:solidFill>
                <a:latin typeface="Arial MT"/>
                <a:cs typeface="Arial MT"/>
              </a:rPr>
              <a:t> </a:t>
            </a:r>
            <a:r>
              <a:rPr sz="2000" dirty="0">
                <a:solidFill>
                  <a:srgbClr val="292934"/>
                </a:solidFill>
                <a:latin typeface="Arial MT"/>
                <a:cs typeface="Arial MT"/>
              </a:rPr>
              <a:t>and</a:t>
            </a:r>
            <a:r>
              <a:rPr sz="2000" spc="15" dirty="0">
                <a:solidFill>
                  <a:srgbClr val="292934"/>
                </a:solidFill>
                <a:latin typeface="Arial MT"/>
                <a:cs typeface="Arial MT"/>
              </a:rPr>
              <a:t> </a:t>
            </a:r>
            <a:r>
              <a:rPr sz="2000" dirty="0">
                <a:solidFill>
                  <a:srgbClr val="292934"/>
                </a:solidFill>
                <a:latin typeface="Arial MT"/>
                <a:cs typeface="Arial MT"/>
              </a:rPr>
              <a:t>model</a:t>
            </a:r>
            <a:r>
              <a:rPr sz="2000" spc="35" dirty="0">
                <a:solidFill>
                  <a:srgbClr val="292934"/>
                </a:solidFill>
                <a:latin typeface="Arial MT"/>
                <a:cs typeface="Arial MT"/>
              </a:rPr>
              <a:t> </a:t>
            </a:r>
            <a:r>
              <a:rPr sz="2000" spc="-10" dirty="0">
                <a:solidFill>
                  <a:srgbClr val="292934"/>
                </a:solidFill>
                <a:latin typeface="Arial MT"/>
                <a:cs typeface="Arial MT"/>
              </a:rPr>
              <a:t>optimization </a:t>
            </a:r>
            <a:r>
              <a:rPr sz="2000" dirty="0">
                <a:solidFill>
                  <a:srgbClr val="292934"/>
                </a:solidFill>
                <a:latin typeface="Arial MT"/>
                <a:cs typeface="Arial MT"/>
              </a:rPr>
              <a:t>to</a:t>
            </a:r>
            <a:r>
              <a:rPr sz="2000" spc="-20" dirty="0">
                <a:solidFill>
                  <a:srgbClr val="292934"/>
                </a:solidFill>
                <a:latin typeface="Arial MT"/>
                <a:cs typeface="Arial MT"/>
              </a:rPr>
              <a:t> </a:t>
            </a:r>
            <a:r>
              <a:rPr sz="2000" dirty="0">
                <a:solidFill>
                  <a:srgbClr val="292934"/>
                </a:solidFill>
                <a:latin typeface="Arial MT"/>
                <a:cs typeface="Arial MT"/>
              </a:rPr>
              <a:t>enhance</a:t>
            </a:r>
            <a:r>
              <a:rPr sz="2000" spc="-40" dirty="0">
                <a:solidFill>
                  <a:srgbClr val="292934"/>
                </a:solidFill>
                <a:latin typeface="Arial MT"/>
                <a:cs typeface="Arial MT"/>
              </a:rPr>
              <a:t> </a:t>
            </a:r>
            <a:r>
              <a:rPr sz="2000" dirty="0">
                <a:solidFill>
                  <a:srgbClr val="292934"/>
                </a:solidFill>
                <a:latin typeface="Arial MT"/>
                <a:cs typeface="Arial MT"/>
              </a:rPr>
              <a:t>predictive</a:t>
            </a:r>
            <a:r>
              <a:rPr sz="2000" spc="-25" dirty="0">
                <a:solidFill>
                  <a:srgbClr val="292934"/>
                </a:solidFill>
                <a:latin typeface="Arial MT"/>
                <a:cs typeface="Arial MT"/>
              </a:rPr>
              <a:t> </a:t>
            </a:r>
            <a:r>
              <a:rPr sz="2000" spc="-10" dirty="0">
                <a:solidFill>
                  <a:srgbClr val="292934"/>
                </a:solidFill>
                <a:latin typeface="Arial MT"/>
                <a:cs typeface="Arial MT"/>
              </a:rPr>
              <a:t>accuracy.</a:t>
            </a:r>
            <a:endParaRPr sz="20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90" dirty="0"/>
              <a:t>REFERENCES</a:t>
            </a:r>
          </a:p>
        </p:txBody>
      </p:sp>
      <p:sp>
        <p:nvSpPr>
          <p:cNvPr id="3" name="object 3"/>
          <p:cNvSpPr txBox="1"/>
          <p:nvPr/>
        </p:nvSpPr>
        <p:spPr>
          <a:xfrm>
            <a:off x="688340" y="1219200"/>
            <a:ext cx="10817860" cy="6168355"/>
          </a:xfrm>
          <a:prstGeom prst="rect">
            <a:avLst/>
          </a:prstGeom>
        </p:spPr>
        <p:txBody>
          <a:bodyPr vert="horz" wrap="square" lIns="0" tIns="165100" rIns="0" bIns="0" rtlCol="0">
            <a:spAutoFit/>
          </a:bodyPr>
          <a:lstStyle/>
          <a:p>
            <a:pPr marL="12700" lvl="1">
              <a:spcBef>
                <a:spcPts val="1300"/>
              </a:spcBef>
            </a:pPr>
            <a:r>
              <a:rPr sz="2000" b="1" spc="-10" dirty="0">
                <a:solidFill>
                  <a:srgbClr val="292934"/>
                </a:solidFill>
                <a:latin typeface="Arial"/>
                <a:cs typeface="Arial"/>
              </a:rPr>
              <a:t>Datasets</a:t>
            </a:r>
            <a:endParaRPr sz="2000" dirty="0">
              <a:latin typeface="Arial"/>
              <a:cs typeface="Arial"/>
            </a:endParaRPr>
          </a:p>
          <a:p>
            <a:pPr marL="354965" lvl="1" indent="-342265">
              <a:spcBef>
                <a:spcPts val="1200"/>
              </a:spcBef>
              <a:buChar char="•"/>
              <a:tabLst>
                <a:tab pos="354965" algn="l"/>
              </a:tabLst>
            </a:pPr>
            <a:r>
              <a:rPr sz="2000" dirty="0">
                <a:solidFill>
                  <a:srgbClr val="292934"/>
                </a:solidFill>
                <a:latin typeface="Arial MT"/>
                <a:cs typeface="Arial MT"/>
              </a:rPr>
              <a:t>Wisconsin</a:t>
            </a:r>
            <a:r>
              <a:rPr sz="2000" spc="-45" dirty="0">
                <a:solidFill>
                  <a:srgbClr val="292934"/>
                </a:solidFill>
                <a:latin typeface="Arial MT"/>
                <a:cs typeface="Arial MT"/>
              </a:rPr>
              <a:t> </a:t>
            </a:r>
            <a:r>
              <a:rPr sz="2000" dirty="0">
                <a:solidFill>
                  <a:srgbClr val="292934"/>
                </a:solidFill>
                <a:latin typeface="Arial MT"/>
                <a:cs typeface="Arial MT"/>
              </a:rPr>
              <a:t>Breast</a:t>
            </a:r>
            <a:r>
              <a:rPr sz="2000" spc="-40" dirty="0">
                <a:solidFill>
                  <a:srgbClr val="292934"/>
                </a:solidFill>
                <a:latin typeface="Arial MT"/>
                <a:cs typeface="Arial MT"/>
              </a:rPr>
              <a:t> </a:t>
            </a:r>
            <a:r>
              <a:rPr sz="2000" dirty="0">
                <a:solidFill>
                  <a:srgbClr val="292934"/>
                </a:solidFill>
                <a:latin typeface="Arial MT"/>
                <a:cs typeface="Arial MT"/>
              </a:rPr>
              <a:t>Cancer</a:t>
            </a:r>
            <a:r>
              <a:rPr sz="2000" spc="-25" dirty="0">
                <a:solidFill>
                  <a:srgbClr val="292934"/>
                </a:solidFill>
                <a:latin typeface="Arial MT"/>
                <a:cs typeface="Arial MT"/>
              </a:rPr>
              <a:t> </a:t>
            </a:r>
            <a:r>
              <a:rPr sz="2000" dirty="0">
                <a:solidFill>
                  <a:srgbClr val="292934"/>
                </a:solidFill>
                <a:latin typeface="Arial MT"/>
                <a:cs typeface="Arial MT"/>
              </a:rPr>
              <a:t>Dataset</a:t>
            </a:r>
            <a:r>
              <a:rPr sz="2000" spc="-45" dirty="0">
                <a:solidFill>
                  <a:srgbClr val="292934"/>
                </a:solidFill>
                <a:latin typeface="Arial MT"/>
                <a:cs typeface="Arial MT"/>
              </a:rPr>
              <a:t> </a:t>
            </a:r>
            <a:r>
              <a:rPr sz="2000" spc="-10" dirty="0">
                <a:solidFill>
                  <a:srgbClr val="292934"/>
                </a:solidFill>
                <a:latin typeface="Arial MT"/>
                <a:cs typeface="Arial MT"/>
              </a:rPr>
              <a:t>(WBCD)</a:t>
            </a:r>
            <a:endParaRPr lang="en-IN" sz="2000" spc="-10" dirty="0">
              <a:solidFill>
                <a:srgbClr val="292934"/>
              </a:solidFill>
              <a:latin typeface="Arial MT"/>
              <a:cs typeface="Arial MT"/>
            </a:endParaRPr>
          </a:p>
          <a:p>
            <a:pPr marL="12700" lvl="1">
              <a:spcBef>
                <a:spcPts val="1200"/>
              </a:spcBef>
              <a:tabLst>
                <a:tab pos="354965" algn="l"/>
              </a:tabLst>
            </a:pPr>
            <a:r>
              <a:rPr lang="en-IN" sz="2000" spc="-10" dirty="0">
                <a:solidFill>
                  <a:srgbClr val="292934"/>
                </a:solidFill>
                <a:latin typeface="Arial MT"/>
                <a:cs typeface="Arial MT"/>
              </a:rPr>
              <a:t>	</a:t>
            </a:r>
            <a:r>
              <a:rPr lang="en-IN" sz="2000" spc="-10" dirty="0">
                <a:solidFill>
                  <a:srgbClr val="292934"/>
                </a:solidFill>
                <a:latin typeface="Arial MT"/>
                <a:cs typeface="Arial MT"/>
                <a:hlinkClick r:id="rId2"/>
              </a:rPr>
              <a:t>https://archive.ics.uci.edu/dataset/17/breast+cancer+wisconsin+diagnostic</a:t>
            </a:r>
            <a:endParaRPr lang="en-IN" sz="2000" spc="-10" dirty="0">
              <a:solidFill>
                <a:srgbClr val="292934"/>
              </a:solidFill>
              <a:latin typeface="Arial MT"/>
              <a:cs typeface="Arial MT"/>
            </a:endParaRPr>
          </a:p>
          <a:p>
            <a:pPr marL="12700" lvl="1">
              <a:spcBef>
                <a:spcPts val="1200"/>
              </a:spcBef>
              <a:tabLst>
                <a:tab pos="354965" algn="l"/>
              </a:tabLst>
            </a:pPr>
            <a:endParaRPr sz="2000" dirty="0">
              <a:latin typeface="Arial MT"/>
              <a:cs typeface="Arial MT"/>
            </a:endParaRPr>
          </a:p>
          <a:p>
            <a:pPr marL="354965" lvl="1" indent="-342265">
              <a:spcBef>
                <a:spcPts val="1200"/>
              </a:spcBef>
              <a:buChar char="•"/>
              <a:tabLst>
                <a:tab pos="354965" algn="l"/>
              </a:tabLst>
            </a:pPr>
            <a:r>
              <a:rPr sz="2000" dirty="0">
                <a:solidFill>
                  <a:srgbClr val="292934"/>
                </a:solidFill>
                <a:latin typeface="Arial MT"/>
                <a:cs typeface="Arial MT"/>
              </a:rPr>
              <a:t>Breast</a:t>
            </a:r>
            <a:r>
              <a:rPr sz="2000" spc="-60" dirty="0">
                <a:solidFill>
                  <a:srgbClr val="292934"/>
                </a:solidFill>
                <a:latin typeface="Arial MT"/>
                <a:cs typeface="Arial MT"/>
              </a:rPr>
              <a:t> </a:t>
            </a:r>
            <a:r>
              <a:rPr sz="2000" dirty="0">
                <a:solidFill>
                  <a:srgbClr val="292934"/>
                </a:solidFill>
                <a:latin typeface="Arial MT"/>
                <a:cs typeface="Arial MT"/>
              </a:rPr>
              <a:t>Cancer</a:t>
            </a:r>
            <a:r>
              <a:rPr sz="2000" spc="-60" dirty="0">
                <a:solidFill>
                  <a:srgbClr val="292934"/>
                </a:solidFill>
                <a:latin typeface="Arial MT"/>
                <a:cs typeface="Arial MT"/>
              </a:rPr>
              <a:t> </a:t>
            </a:r>
            <a:r>
              <a:rPr sz="2000" dirty="0">
                <a:solidFill>
                  <a:srgbClr val="292934"/>
                </a:solidFill>
                <a:latin typeface="Arial MT"/>
                <a:cs typeface="Arial MT"/>
              </a:rPr>
              <a:t>Histopathological</a:t>
            </a:r>
            <a:r>
              <a:rPr sz="2000" spc="-50" dirty="0">
                <a:solidFill>
                  <a:srgbClr val="292934"/>
                </a:solidFill>
                <a:latin typeface="Arial MT"/>
                <a:cs typeface="Arial MT"/>
              </a:rPr>
              <a:t> </a:t>
            </a:r>
            <a:r>
              <a:rPr sz="2000" dirty="0">
                <a:solidFill>
                  <a:srgbClr val="292934"/>
                </a:solidFill>
                <a:latin typeface="Arial MT"/>
                <a:cs typeface="Arial MT"/>
              </a:rPr>
              <a:t>Image</a:t>
            </a:r>
            <a:r>
              <a:rPr sz="2000" spc="-50" dirty="0">
                <a:solidFill>
                  <a:srgbClr val="292934"/>
                </a:solidFill>
                <a:latin typeface="Arial MT"/>
                <a:cs typeface="Arial MT"/>
              </a:rPr>
              <a:t> </a:t>
            </a:r>
            <a:r>
              <a:rPr sz="2000" spc="-10" dirty="0">
                <a:solidFill>
                  <a:srgbClr val="292934"/>
                </a:solidFill>
                <a:latin typeface="Arial MT"/>
                <a:cs typeface="Arial MT"/>
              </a:rPr>
              <a:t>Dataset</a:t>
            </a:r>
            <a:endParaRPr lang="en-IN" sz="2000" spc="-10" dirty="0">
              <a:solidFill>
                <a:srgbClr val="292934"/>
              </a:solidFill>
              <a:latin typeface="Arial MT"/>
              <a:cs typeface="Arial MT"/>
            </a:endParaRPr>
          </a:p>
          <a:p>
            <a:pPr marL="12700" lvl="1">
              <a:spcBef>
                <a:spcPts val="1200"/>
              </a:spcBef>
              <a:tabLst>
                <a:tab pos="354965" algn="l"/>
              </a:tabLst>
            </a:pPr>
            <a:r>
              <a:rPr lang="en-IN" sz="2000" spc="-10" dirty="0">
                <a:solidFill>
                  <a:srgbClr val="292934"/>
                </a:solidFill>
                <a:latin typeface="Arial MT"/>
                <a:cs typeface="Arial MT"/>
              </a:rPr>
              <a:t>	</a:t>
            </a:r>
            <a:r>
              <a:rPr lang="en-IN" sz="2000" spc="-10" dirty="0">
                <a:solidFill>
                  <a:srgbClr val="292934"/>
                </a:solidFill>
                <a:latin typeface="Arial MT"/>
                <a:cs typeface="Arial MT"/>
                <a:hlinkClick r:id="rId3"/>
              </a:rPr>
              <a:t>https://www.kaggle.com/datasets/paultimothymooney/breast-histopathology-images</a:t>
            </a:r>
            <a:endParaRPr lang="en-IN" sz="2000" spc="-10" dirty="0">
              <a:solidFill>
                <a:srgbClr val="292934"/>
              </a:solidFill>
              <a:latin typeface="Arial MT"/>
              <a:cs typeface="Arial MT"/>
            </a:endParaRPr>
          </a:p>
          <a:p>
            <a:pPr marL="12700" lvl="1">
              <a:spcBef>
                <a:spcPts val="1200"/>
              </a:spcBef>
            </a:pPr>
            <a:r>
              <a:rPr sz="2000" b="1" dirty="0">
                <a:solidFill>
                  <a:srgbClr val="292934"/>
                </a:solidFill>
                <a:latin typeface="Arial"/>
                <a:cs typeface="Arial"/>
              </a:rPr>
              <a:t>Research</a:t>
            </a:r>
            <a:r>
              <a:rPr sz="2000" b="1" spc="-40" dirty="0">
                <a:solidFill>
                  <a:srgbClr val="292934"/>
                </a:solidFill>
                <a:latin typeface="Arial"/>
                <a:cs typeface="Arial"/>
              </a:rPr>
              <a:t> </a:t>
            </a:r>
            <a:r>
              <a:rPr sz="2000" b="1" dirty="0">
                <a:solidFill>
                  <a:srgbClr val="292934"/>
                </a:solidFill>
                <a:latin typeface="Arial"/>
                <a:cs typeface="Arial"/>
              </a:rPr>
              <a:t>Papers</a:t>
            </a:r>
            <a:r>
              <a:rPr sz="2000" b="1" spc="-35" dirty="0">
                <a:solidFill>
                  <a:srgbClr val="292934"/>
                </a:solidFill>
                <a:latin typeface="Arial"/>
                <a:cs typeface="Arial"/>
              </a:rPr>
              <a:t> </a:t>
            </a:r>
            <a:r>
              <a:rPr sz="2000" b="1" dirty="0">
                <a:solidFill>
                  <a:srgbClr val="292934"/>
                </a:solidFill>
                <a:latin typeface="Arial"/>
                <a:cs typeface="Arial"/>
              </a:rPr>
              <a:t>&amp;</a:t>
            </a:r>
            <a:r>
              <a:rPr sz="2000" b="1" spc="-15" dirty="0">
                <a:solidFill>
                  <a:srgbClr val="292934"/>
                </a:solidFill>
                <a:latin typeface="Arial"/>
                <a:cs typeface="Arial"/>
              </a:rPr>
              <a:t> </a:t>
            </a:r>
            <a:r>
              <a:rPr sz="2000" b="1" spc="-10" dirty="0">
                <a:solidFill>
                  <a:srgbClr val="292934"/>
                </a:solidFill>
                <a:latin typeface="Arial"/>
                <a:cs typeface="Arial"/>
              </a:rPr>
              <a:t>Studies</a:t>
            </a:r>
            <a:endParaRPr sz="2000" dirty="0">
              <a:latin typeface="Arial"/>
              <a:cs typeface="Arial"/>
            </a:endParaRPr>
          </a:p>
          <a:p>
            <a:pPr marL="355600" lvl="1" indent="-342900">
              <a:spcBef>
                <a:spcPts val="1205"/>
              </a:spcBef>
              <a:buFont typeface="Arial" panose="020B0604020202020204" pitchFamily="34" charset="0"/>
              <a:buChar char="•"/>
              <a:tabLst>
                <a:tab pos="354965" algn="l"/>
              </a:tabLst>
            </a:pPr>
            <a:r>
              <a:rPr sz="2000" dirty="0">
                <a:solidFill>
                  <a:srgbClr val="292934"/>
                </a:solidFill>
                <a:latin typeface="Arial MT"/>
                <a:cs typeface="Arial MT"/>
              </a:rPr>
              <a:t>Breast</a:t>
            </a:r>
            <a:r>
              <a:rPr sz="2000" spc="-55" dirty="0">
                <a:solidFill>
                  <a:srgbClr val="292934"/>
                </a:solidFill>
                <a:latin typeface="Arial MT"/>
                <a:cs typeface="Arial MT"/>
              </a:rPr>
              <a:t> </a:t>
            </a:r>
            <a:r>
              <a:rPr sz="2000" dirty="0">
                <a:solidFill>
                  <a:srgbClr val="292934"/>
                </a:solidFill>
                <a:latin typeface="Arial MT"/>
                <a:cs typeface="Arial MT"/>
              </a:rPr>
              <a:t>Cancer</a:t>
            </a:r>
            <a:r>
              <a:rPr sz="2000" spc="-55" dirty="0">
                <a:solidFill>
                  <a:srgbClr val="292934"/>
                </a:solidFill>
                <a:latin typeface="Arial MT"/>
                <a:cs typeface="Arial MT"/>
              </a:rPr>
              <a:t> </a:t>
            </a:r>
            <a:r>
              <a:rPr sz="2000" dirty="0">
                <a:solidFill>
                  <a:srgbClr val="292934"/>
                </a:solidFill>
                <a:latin typeface="Arial MT"/>
                <a:cs typeface="Arial MT"/>
              </a:rPr>
              <a:t>Prediction</a:t>
            </a:r>
            <a:r>
              <a:rPr sz="2000" spc="-35" dirty="0">
                <a:solidFill>
                  <a:srgbClr val="292934"/>
                </a:solidFill>
                <a:latin typeface="Arial MT"/>
                <a:cs typeface="Arial MT"/>
              </a:rPr>
              <a:t> </a:t>
            </a:r>
            <a:r>
              <a:rPr sz="2000" dirty="0">
                <a:solidFill>
                  <a:srgbClr val="292934"/>
                </a:solidFill>
                <a:latin typeface="Arial MT"/>
                <a:cs typeface="Arial MT"/>
              </a:rPr>
              <a:t>Using</a:t>
            </a:r>
            <a:r>
              <a:rPr lang="en-IN" sz="2000" spc="-30" dirty="0">
                <a:solidFill>
                  <a:srgbClr val="292934"/>
                </a:solidFill>
                <a:latin typeface="Arial MT"/>
                <a:cs typeface="Arial MT"/>
              </a:rPr>
              <a:t> Fine Needle </a:t>
            </a:r>
            <a:r>
              <a:rPr lang="en-IN" sz="2000" spc="-30" dirty="0" err="1">
                <a:solidFill>
                  <a:srgbClr val="292934"/>
                </a:solidFill>
                <a:latin typeface="Arial MT"/>
                <a:cs typeface="Arial MT"/>
              </a:rPr>
              <a:t>Aspration</a:t>
            </a:r>
            <a:endParaRPr lang="en-IN" sz="2000" spc="-10" dirty="0">
              <a:solidFill>
                <a:srgbClr val="292934"/>
              </a:solidFill>
              <a:latin typeface="Arial MT"/>
              <a:cs typeface="Arial MT"/>
            </a:endParaRPr>
          </a:p>
          <a:p>
            <a:pPr marL="12700" lvl="1">
              <a:spcBef>
                <a:spcPts val="1205"/>
              </a:spcBef>
              <a:tabLst>
                <a:tab pos="354965" algn="l"/>
              </a:tabLst>
            </a:pPr>
            <a:r>
              <a:rPr lang="en-IN" sz="2000" dirty="0">
                <a:latin typeface="Arial MT"/>
                <a:cs typeface="Arial MT"/>
              </a:rPr>
              <a:t>	</a:t>
            </a:r>
            <a:r>
              <a:rPr lang="en-IN" sz="2000" dirty="0">
                <a:latin typeface="Arial MT"/>
                <a:cs typeface="Arial MT"/>
                <a:hlinkClick r:id="rId4"/>
              </a:rPr>
              <a:t>https://pmc.ncbi.nlm.nih.gov/articles/PMC9913345/</a:t>
            </a:r>
            <a:endParaRPr lang="en-IN" sz="2000" dirty="0">
              <a:latin typeface="Arial MT"/>
              <a:cs typeface="Arial MT"/>
            </a:endParaRPr>
          </a:p>
          <a:p>
            <a:pPr marL="354965" lvl="1" indent="-342265">
              <a:spcBef>
                <a:spcPts val="1200"/>
              </a:spcBef>
              <a:buChar char="•"/>
              <a:tabLst>
                <a:tab pos="354965" algn="l"/>
              </a:tabLst>
            </a:pPr>
            <a:r>
              <a:rPr sz="2000" spc="-10" dirty="0">
                <a:solidFill>
                  <a:srgbClr val="292934"/>
                </a:solidFill>
                <a:latin typeface="Arial MT"/>
                <a:cs typeface="Arial MT"/>
              </a:rPr>
              <a:t>Explainable</a:t>
            </a:r>
            <a:r>
              <a:rPr sz="2000" spc="-100" dirty="0">
                <a:solidFill>
                  <a:srgbClr val="292934"/>
                </a:solidFill>
                <a:latin typeface="Arial MT"/>
                <a:cs typeface="Arial MT"/>
              </a:rPr>
              <a:t> </a:t>
            </a:r>
            <a:r>
              <a:rPr sz="2000" dirty="0">
                <a:solidFill>
                  <a:srgbClr val="292934"/>
                </a:solidFill>
                <a:latin typeface="Arial MT"/>
                <a:cs typeface="Arial MT"/>
              </a:rPr>
              <a:t>AI</a:t>
            </a:r>
            <a:r>
              <a:rPr sz="2000" spc="5" dirty="0">
                <a:solidFill>
                  <a:srgbClr val="292934"/>
                </a:solidFill>
                <a:latin typeface="Arial MT"/>
                <a:cs typeface="Arial MT"/>
              </a:rPr>
              <a:t> </a:t>
            </a:r>
            <a:r>
              <a:rPr sz="2000" dirty="0">
                <a:solidFill>
                  <a:srgbClr val="292934"/>
                </a:solidFill>
                <a:latin typeface="Arial MT"/>
                <a:cs typeface="Arial MT"/>
              </a:rPr>
              <a:t>in</a:t>
            </a:r>
            <a:r>
              <a:rPr sz="2000" spc="10" dirty="0">
                <a:solidFill>
                  <a:srgbClr val="292934"/>
                </a:solidFill>
                <a:latin typeface="Arial MT"/>
                <a:cs typeface="Arial MT"/>
              </a:rPr>
              <a:t> </a:t>
            </a:r>
            <a:r>
              <a:rPr sz="2000" dirty="0">
                <a:solidFill>
                  <a:srgbClr val="292934"/>
                </a:solidFill>
                <a:latin typeface="Arial MT"/>
                <a:cs typeface="Arial MT"/>
              </a:rPr>
              <a:t>Breast</a:t>
            </a:r>
            <a:r>
              <a:rPr sz="2000" spc="-20" dirty="0">
                <a:solidFill>
                  <a:srgbClr val="292934"/>
                </a:solidFill>
                <a:latin typeface="Arial MT"/>
                <a:cs typeface="Arial MT"/>
              </a:rPr>
              <a:t> </a:t>
            </a:r>
            <a:r>
              <a:rPr sz="2000" dirty="0">
                <a:solidFill>
                  <a:srgbClr val="292934"/>
                </a:solidFill>
                <a:latin typeface="Arial MT"/>
                <a:cs typeface="Arial MT"/>
              </a:rPr>
              <a:t>Cancer</a:t>
            </a:r>
            <a:r>
              <a:rPr sz="2000" spc="-5" dirty="0">
                <a:solidFill>
                  <a:srgbClr val="292934"/>
                </a:solidFill>
                <a:latin typeface="Arial MT"/>
                <a:cs typeface="Arial MT"/>
              </a:rPr>
              <a:t> </a:t>
            </a:r>
            <a:r>
              <a:rPr sz="2000" spc="-10" dirty="0">
                <a:solidFill>
                  <a:srgbClr val="292934"/>
                </a:solidFill>
                <a:latin typeface="Arial MT"/>
                <a:cs typeface="Arial MT"/>
              </a:rPr>
              <a:t>Diagnosis</a:t>
            </a:r>
            <a:endParaRPr lang="en-IN" sz="2000" spc="-10" dirty="0">
              <a:solidFill>
                <a:srgbClr val="292934"/>
              </a:solidFill>
              <a:latin typeface="Arial MT"/>
              <a:cs typeface="Arial MT"/>
            </a:endParaRPr>
          </a:p>
          <a:p>
            <a:pPr marL="12700" lvl="1">
              <a:spcBef>
                <a:spcPts val="1200"/>
              </a:spcBef>
              <a:tabLst>
                <a:tab pos="354965" algn="l"/>
              </a:tabLst>
            </a:pPr>
            <a:r>
              <a:rPr lang="en-IN" sz="2000" dirty="0">
                <a:latin typeface="Arial MT"/>
                <a:cs typeface="Arial MT"/>
                <a:hlinkClick r:id="rId5"/>
              </a:rPr>
              <a:t> https://pmc.ncbi.nlm.nih.gov/articles/PMC10840064/#:~:text=Recently%2C%20explainable%20artificial%20intelligence%20(XAI,and%20ultrasound</a:t>
            </a:r>
            <a:endParaRPr lang="en-IN" sz="2000" dirty="0">
              <a:latin typeface="Arial MT"/>
              <a:cs typeface="Arial MT"/>
            </a:endParaRPr>
          </a:p>
          <a:p>
            <a:pPr marL="12700" lvl="1">
              <a:spcBef>
                <a:spcPts val="1200"/>
              </a:spcBef>
              <a:tabLst>
                <a:tab pos="354965" algn="l"/>
              </a:tabLst>
            </a:pPr>
            <a:r>
              <a:rPr lang="en-IN" sz="2000" dirty="0">
                <a:latin typeface="Arial MT"/>
                <a:cs typeface="Arial MT"/>
              </a:rPr>
              <a:t>%20(US)%20images.</a:t>
            </a:r>
            <a:endParaRPr sz="2000"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5133" y="3180410"/>
            <a:ext cx="1696085" cy="452120"/>
          </a:xfrm>
          <a:prstGeom prst="rect">
            <a:avLst/>
          </a:prstGeom>
        </p:spPr>
        <p:txBody>
          <a:bodyPr vert="horz" wrap="square" lIns="0" tIns="12065" rIns="0" bIns="0" rtlCol="0">
            <a:spAutoFit/>
          </a:bodyPr>
          <a:lstStyle/>
          <a:p>
            <a:pPr marL="12700">
              <a:lnSpc>
                <a:spcPct val="100000"/>
              </a:lnSpc>
              <a:spcBef>
                <a:spcPts val="95"/>
              </a:spcBef>
            </a:pPr>
            <a:r>
              <a:rPr sz="2800" spc="-105" dirty="0">
                <a:solidFill>
                  <a:srgbClr val="292934"/>
                </a:solidFill>
                <a:latin typeface="Calibri"/>
                <a:cs typeface="Calibri"/>
              </a:rPr>
              <a:t>THANK</a:t>
            </a:r>
            <a:r>
              <a:rPr sz="2800" spc="-130" dirty="0">
                <a:solidFill>
                  <a:srgbClr val="292934"/>
                </a:solidFill>
                <a:latin typeface="Calibri"/>
                <a:cs typeface="Calibri"/>
              </a:rPr>
              <a:t> </a:t>
            </a:r>
            <a:r>
              <a:rPr sz="2800" spc="-65" dirty="0">
                <a:solidFill>
                  <a:srgbClr val="292934"/>
                </a:solidFill>
                <a:latin typeface="Calibri"/>
                <a:cs typeface="Calibri"/>
              </a:rPr>
              <a:t>YOU</a:t>
            </a:r>
            <a:endParaRPr sz="2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TotalTime>
  <Words>871</Words>
  <Application>Microsoft Office PowerPoint</Application>
  <PresentationFormat>Widescreen</PresentationFormat>
  <Paragraphs>88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MT</vt:lpstr>
      <vt:lpstr>Calibri</vt:lpstr>
      <vt:lpstr>Helvetica</vt:lpstr>
      <vt:lpstr>Times New Roman</vt:lpstr>
      <vt:lpstr>Wingdings</vt:lpstr>
      <vt:lpstr>Office Theme</vt:lpstr>
      <vt:lpstr>PowerPoint Presentation</vt:lpstr>
      <vt:lpstr>Table of Contents</vt:lpstr>
      <vt:lpstr>INTRODUCTION</vt:lpstr>
      <vt:lpstr>LITERATURE SURVEY</vt:lpstr>
      <vt:lpstr>LIMITATIONS OF EXISTING ALGORITHMS</vt:lpstr>
      <vt:lpstr>ABSTRACT</vt:lpstr>
      <vt:lpstr>PROPOSED METHODOLOGY</vt:lpstr>
      <vt:lpstr>HARDWARE REQUIREMENTS</vt:lpstr>
      <vt:lpstr>SOFTWARE REQUIREMENTS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Penakalapati Charan Sai</cp:lastModifiedBy>
  <cp:revision>4</cp:revision>
  <dcterms:created xsi:type="dcterms:W3CDTF">2025-02-01T05:25:13Z</dcterms:created>
  <dcterms:modified xsi:type="dcterms:W3CDTF">2025-02-01T08:28:32Z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2025-01-31T00:00:00Z</vt:filetime>
  </property>
  <property fmtid="{D5CDD505-2E9C-101B-9397-08002B2CF9AE}" pid="3" name="Creator">
    <vt:lpwstr>Microsoft® PowerPoint® LTSC</vt:lpwstr>
  </property>
  <property fmtid="{D5CDD505-2E9C-101B-9397-08002B2CF9AE}" pid="4" name="LastSaved">
    <vt:filetime>2025-02-01T00:00:00Z</vt:filetime>
  </property>
  <property fmtid="{D5CDD505-2E9C-101B-9397-08002B2CF9AE}" pid="5" name="Producer">
    <vt:lpwstr>Microsoft® PowerPoint® LTSC</vt:lpwstr>
  </property>
</Properties>
</file>